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0058400" cy="7772400"/>
  <p:notesSz cx="7772400" cy="100584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theme" Target="theme/theme1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420886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Name: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Date: __________ Class/Period: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2845594" y="571351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Leader and Event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2845594" y="866626"/>
            <a:ext cx="4213735" cy="18821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Grade Band: 6-8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7169051" y="853678"/>
            <a:ext cx="2505039" cy="201162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Topic / Event: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Important Leader"/>
          <p:cNvSpPr/>
          <p:nvPr/>
        </p:nvSpPr>
        <p:spPr>
          <a:xfrm>
            <a:off x="420886" y="1133921"/>
            <a:ext cx="3415010" cy="1776859"/>
          </a:xfrm>
          <a:prstGeom prst="roundRect">
            <a:avLst>
              <a:gd name="adj" fmla="val 6000"/>
            </a:avLst>
          </a:prstGeom>
          <a:noFill/>
          <a:ln w="28575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ctr"/>
            <a:r>
              <a:rPr lang="en-US" sz="900" b="1" dirty="0">
                <a:solidFill>
                  <a:srgbClr val="111111"/>
                </a:solidFill>
                <a:latin typeface="Arial"/>
                <a:cs typeface="Arial"/>
              </a:rPr>
              <a:t>Important Leader</a:t>
            </a:r>
          </a:p>
          <a:p>
            <a:pPr algn="ctr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________________</a:t>
            </a:r>
          </a:p>
        </p:txBody>
      </p:sp>
      <p:sp>
        <p:nvSpPr>
          <p:cNvPr id="8" name="Impact"/>
          <p:cNvSpPr/>
          <p:nvPr/>
        </p:nvSpPr>
        <p:spPr>
          <a:xfrm>
            <a:off x="420886" y="2983855"/>
            <a:ext cx="3415010" cy="1909762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Impact</a:t>
            </a:r>
          </a:p>
          <a:p>
            <a:pPr algn="l"/>
            <a:endParaRPr lang="en-US"/>
          </a:p>
        </p:txBody>
      </p:sp>
      <p:sp>
        <p:nvSpPr>
          <p:cNvPr id="9" name="Evidence"/>
          <p:cNvSpPr/>
          <p:nvPr/>
        </p:nvSpPr>
        <p:spPr>
          <a:xfrm>
            <a:off x="420886" y="4966692"/>
            <a:ext cx="3415010" cy="18908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Evidence</a:t>
            </a:r>
          </a:p>
          <a:p>
            <a:pPr algn="l"/>
            <a:endParaRPr lang="en-US"/>
          </a:p>
        </p:txBody>
      </p:sp>
      <p:sp>
        <p:nvSpPr>
          <p:cNvPr id="10" name="The Event"/>
          <p:cNvSpPr/>
          <p:nvPr/>
        </p:nvSpPr>
        <p:spPr>
          <a:xfrm>
            <a:off x="3945582" y="1133921"/>
            <a:ext cx="5691783" cy="1776859"/>
          </a:xfrm>
          <a:prstGeom prst="roundRect">
            <a:avLst>
              <a:gd name="adj" fmla="val 6000"/>
            </a:avLst>
          </a:prstGeom>
          <a:noFill/>
          <a:ln w="28575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ctr"/>
            <a:r>
              <a:rPr lang="en-US" sz="900" b="1" dirty="0">
                <a:solidFill>
                  <a:srgbClr val="111111"/>
                </a:solidFill>
                <a:latin typeface="Arial"/>
                <a:cs typeface="Arial"/>
              </a:rPr>
              <a:t>The Event</a:t>
            </a:r>
          </a:p>
          <a:p>
            <a:pPr algn="ctr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________________</a:t>
            </a:r>
          </a:p>
        </p:txBody>
      </p:sp>
      <p:sp>
        <p:nvSpPr>
          <p:cNvPr id="11" name="Leader's Goals"/>
          <p:cNvSpPr/>
          <p:nvPr/>
        </p:nvSpPr>
        <p:spPr>
          <a:xfrm>
            <a:off x="3945582" y="2983855"/>
            <a:ext cx="2800201" cy="1909762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Leader's Goals</a:t>
            </a:r>
          </a:p>
          <a:p>
            <a:pPr algn="l"/>
            <a:endParaRPr lang="en-US"/>
          </a:p>
        </p:txBody>
      </p:sp>
      <p:sp>
        <p:nvSpPr>
          <p:cNvPr id="12" name="Key Decisions"/>
          <p:cNvSpPr/>
          <p:nvPr/>
        </p:nvSpPr>
        <p:spPr>
          <a:xfrm>
            <a:off x="6837164" y="2983855"/>
            <a:ext cx="2800201" cy="1909762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Key Decisions</a:t>
            </a:r>
          </a:p>
          <a:p>
            <a:pPr algn="l"/>
            <a:endParaRPr lang="en-US"/>
          </a:p>
        </p:txBody>
      </p:sp>
      <p:sp>
        <p:nvSpPr>
          <p:cNvPr id="13" name="Allies / Supporters"/>
          <p:cNvSpPr/>
          <p:nvPr/>
        </p:nvSpPr>
        <p:spPr>
          <a:xfrm>
            <a:off x="3945582" y="4966692"/>
            <a:ext cx="2800201" cy="18908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Allies / Supporters</a:t>
            </a:r>
          </a:p>
          <a:p>
            <a:pPr algn="l"/>
            <a:endParaRPr lang="en-US"/>
          </a:p>
        </p:txBody>
      </p:sp>
      <p:sp>
        <p:nvSpPr>
          <p:cNvPr id="14" name="Opponents"/>
          <p:cNvSpPr/>
          <p:nvPr/>
        </p:nvSpPr>
        <p:spPr>
          <a:xfrm>
            <a:off x="6837164" y="4966692"/>
            <a:ext cx="2800201" cy="18908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Opponents</a:t>
            </a:r>
          </a:p>
          <a:p>
            <a:pPr algn="l"/>
            <a:endParaRPr lang="en-US"/>
          </a:p>
        </p:txBody>
      </p:sp>
      <p:cxnSp>
        <p:nvCxnSpPr>
          <p:cNvPr id="15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16" name="label"/>
          <p:cNvSpPr txBox="1"/>
          <p:nvPr/>
        </p:nvSpPr>
        <p:spPr>
          <a:xfrm>
            <a:off x="420886" y="7024688"/>
            <a:ext cx="2204704" cy="3977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Sources Used: 1.________________ 2.________________ 3.________________</a:t>
            </a:r>
          </a:p>
        </p:txBody>
      </p:sp>
      <p:sp>
        <p:nvSpPr>
          <p:cNvPr id="17" name="label"/>
          <p:cNvSpPr txBox="1"/>
          <p:nvPr/>
        </p:nvSpPr>
        <p:spPr>
          <a:xfrm>
            <a:off x="2680395" y="7074247"/>
            <a:ext cx="4282494" cy="29864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TEKS Skill Focus: Grades 6-8: research, chronology, cause/effect, comparison, historical context, perspective, source evaluation, visual communication.</a:t>
            </a:r>
          </a:p>
        </p:txBody>
      </p:sp>
      <p:sp>
        <p:nvSpPr>
          <p:cNvPr id="18" name="label"/>
          <p:cNvSpPr txBox="1"/>
          <p:nvPr/>
        </p:nvSpPr>
        <p:spPr>
          <a:xfrm>
            <a:off x="7017693" y="7144345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CC-BY-NC TCEA.org by Miguel Guhlin (mguhlin.org)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420886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Nombre: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Fecha: __________ Clase/Período: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2845594" y="571351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Líder y evento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2845594" y="866626"/>
            <a:ext cx="4213735" cy="18821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Grados: 6-8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7169051" y="853678"/>
            <a:ext cx="2505039" cy="201162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Tema / Evento: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Líder importante"/>
          <p:cNvSpPr/>
          <p:nvPr/>
        </p:nvSpPr>
        <p:spPr>
          <a:xfrm>
            <a:off x="420886" y="1133921"/>
            <a:ext cx="3415010" cy="1776859"/>
          </a:xfrm>
          <a:prstGeom prst="roundRect">
            <a:avLst>
              <a:gd name="adj" fmla="val 6000"/>
            </a:avLst>
          </a:prstGeom>
          <a:noFill/>
          <a:ln w="28575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ctr"/>
            <a:r>
              <a:rPr lang="en-US" sz="900" b="1" dirty="0">
                <a:solidFill>
                  <a:srgbClr val="111111"/>
                </a:solidFill>
                <a:latin typeface="Arial"/>
                <a:cs typeface="Arial"/>
              </a:rPr>
              <a:t>Líder importante</a:t>
            </a:r>
          </a:p>
          <a:p>
            <a:pPr algn="ctr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________________</a:t>
            </a:r>
          </a:p>
        </p:txBody>
      </p:sp>
      <p:sp>
        <p:nvSpPr>
          <p:cNvPr id="8" name="Impacto"/>
          <p:cNvSpPr/>
          <p:nvPr/>
        </p:nvSpPr>
        <p:spPr>
          <a:xfrm>
            <a:off x="420886" y="2983855"/>
            <a:ext cx="3415010" cy="1909762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Impacto</a:t>
            </a:r>
          </a:p>
          <a:p>
            <a:pPr algn="l"/>
            <a:endParaRPr lang="en-US"/>
          </a:p>
        </p:txBody>
      </p:sp>
      <p:sp>
        <p:nvSpPr>
          <p:cNvPr id="9" name="Evidencia"/>
          <p:cNvSpPr/>
          <p:nvPr/>
        </p:nvSpPr>
        <p:spPr>
          <a:xfrm>
            <a:off x="420886" y="4966692"/>
            <a:ext cx="3415010" cy="18908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Evidencia</a:t>
            </a:r>
          </a:p>
          <a:p>
            <a:pPr algn="l"/>
            <a:endParaRPr lang="en-US"/>
          </a:p>
        </p:txBody>
      </p:sp>
      <p:sp>
        <p:nvSpPr>
          <p:cNvPr id="10" name="El evento"/>
          <p:cNvSpPr/>
          <p:nvPr/>
        </p:nvSpPr>
        <p:spPr>
          <a:xfrm>
            <a:off x="3945582" y="1133921"/>
            <a:ext cx="5691783" cy="1776859"/>
          </a:xfrm>
          <a:prstGeom prst="roundRect">
            <a:avLst>
              <a:gd name="adj" fmla="val 6000"/>
            </a:avLst>
          </a:prstGeom>
          <a:noFill/>
          <a:ln w="28575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ctr"/>
            <a:r>
              <a:rPr lang="en-US" sz="900" b="1" dirty="0">
                <a:solidFill>
                  <a:srgbClr val="111111"/>
                </a:solidFill>
                <a:latin typeface="Arial"/>
                <a:cs typeface="Arial"/>
              </a:rPr>
              <a:t>El evento</a:t>
            </a:r>
          </a:p>
          <a:p>
            <a:pPr algn="ctr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________________</a:t>
            </a:r>
          </a:p>
        </p:txBody>
      </p:sp>
      <p:sp>
        <p:nvSpPr>
          <p:cNvPr id="11" name="Metas del líder"/>
          <p:cNvSpPr/>
          <p:nvPr/>
        </p:nvSpPr>
        <p:spPr>
          <a:xfrm>
            <a:off x="3945582" y="2983855"/>
            <a:ext cx="2800201" cy="1909762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Metas del líder</a:t>
            </a:r>
          </a:p>
          <a:p>
            <a:pPr algn="l"/>
            <a:endParaRPr lang="en-US"/>
          </a:p>
        </p:txBody>
      </p:sp>
      <p:sp>
        <p:nvSpPr>
          <p:cNvPr id="12" name="Decisiones clave"/>
          <p:cNvSpPr/>
          <p:nvPr/>
        </p:nvSpPr>
        <p:spPr>
          <a:xfrm>
            <a:off x="6837164" y="2983855"/>
            <a:ext cx="2800201" cy="1909762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Decisiones clave</a:t>
            </a:r>
          </a:p>
          <a:p>
            <a:pPr algn="l"/>
            <a:endParaRPr lang="en-US"/>
          </a:p>
        </p:txBody>
      </p:sp>
      <p:sp>
        <p:nvSpPr>
          <p:cNvPr id="13" name="Aliados / partidarios"/>
          <p:cNvSpPr/>
          <p:nvPr/>
        </p:nvSpPr>
        <p:spPr>
          <a:xfrm>
            <a:off x="3945582" y="4966692"/>
            <a:ext cx="2800201" cy="18908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Aliados / partidarios</a:t>
            </a:r>
          </a:p>
          <a:p>
            <a:pPr algn="l"/>
            <a:endParaRPr lang="en-US"/>
          </a:p>
        </p:txBody>
      </p:sp>
      <p:sp>
        <p:nvSpPr>
          <p:cNvPr id="14" name="Oponentes"/>
          <p:cNvSpPr/>
          <p:nvPr/>
        </p:nvSpPr>
        <p:spPr>
          <a:xfrm>
            <a:off x="6837164" y="4966692"/>
            <a:ext cx="2800201" cy="18908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Oponentes</a:t>
            </a:r>
          </a:p>
          <a:p>
            <a:pPr algn="l"/>
            <a:endParaRPr lang="en-US"/>
          </a:p>
        </p:txBody>
      </p:sp>
      <p:cxnSp>
        <p:nvCxnSpPr>
          <p:cNvPr id="15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16" name="label"/>
          <p:cNvSpPr txBox="1"/>
          <p:nvPr/>
        </p:nvSpPr>
        <p:spPr>
          <a:xfrm>
            <a:off x="420886" y="7024688"/>
            <a:ext cx="2204704" cy="3977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Fuentes usadas: 1.________________ 2.________________ 3.________________</a:t>
            </a:r>
          </a:p>
        </p:txBody>
      </p:sp>
      <p:sp>
        <p:nvSpPr>
          <p:cNvPr id="17" name="label"/>
          <p:cNvSpPr txBox="1"/>
          <p:nvPr/>
        </p:nvSpPr>
        <p:spPr>
          <a:xfrm>
            <a:off x="2680395" y="7074247"/>
            <a:ext cx="4282494" cy="29864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Enfoque de habilidades TEKS: Grados 6–8: investigación, cronología, causa y efecto, comparación, contexto histórico, perspectiva, evaluación de fuentes y comunicación visual.</a:t>
            </a:r>
          </a:p>
        </p:txBody>
      </p:sp>
      <p:sp>
        <p:nvSpPr>
          <p:cNvPr id="18" name="label"/>
          <p:cNvSpPr txBox="1"/>
          <p:nvPr/>
        </p:nvSpPr>
        <p:spPr>
          <a:xfrm>
            <a:off x="7017693" y="7144345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CC-BY-NC TCEA.org by Miguel Guhlin (mguhlin.org)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420886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Họ tên: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Ngày: __________ Lớp/Tiết: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2845594" y="571351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Lãnh đạo và sự kiện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2845594" y="866626"/>
            <a:ext cx="4213735" cy="18821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Khối lớp: 6-8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7169051" y="710803"/>
            <a:ext cx="2505039" cy="344037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Chủ đề / Sự kiện: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Lãnh đạo quan trọng"/>
          <p:cNvSpPr/>
          <p:nvPr/>
        </p:nvSpPr>
        <p:spPr>
          <a:xfrm>
            <a:off x="420886" y="1133921"/>
            <a:ext cx="3415010" cy="1776859"/>
          </a:xfrm>
          <a:prstGeom prst="roundRect">
            <a:avLst>
              <a:gd name="adj" fmla="val 6000"/>
            </a:avLst>
          </a:prstGeom>
          <a:noFill/>
          <a:ln w="28575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ctr"/>
            <a:r>
              <a:rPr lang="en-US" sz="900" b="1" dirty="0">
                <a:solidFill>
                  <a:srgbClr val="111111"/>
                </a:solidFill>
                <a:latin typeface="Arial"/>
                <a:cs typeface="Arial"/>
              </a:rPr>
              <a:t>Lãnh đạo quan trọng</a:t>
            </a:r>
          </a:p>
          <a:p>
            <a:pPr algn="ctr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________________</a:t>
            </a:r>
          </a:p>
        </p:txBody>
      </p:sp>
      <p:sp>
        <p:nvSpPr>
          <p:cNvPr id="8" name="Tác động"/>
          <p:cNvSpPr/>
          <p:nvPr/>
        </p:nvSpPr>
        <p:spPr>
          <a:xfrm>
            <a:off x="420886" y="2983855"/>
            <a:ext cx="3415010" cy="1909762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Tác động</a:t>
            </a:r>
          </a:p>
          <a:p>
            <a:pPr algn="l"/>
            <a:endParaRPr lang="en-US"/>
          </a:p>
        </p:txBody>
      </p:sp>
      <p:sp>
        <p:nvSpPr>
          <p:cNvPr id="9" name="Bằng chứng"/>
          <p:cNvSpPr/>
          <p:nvPr/>
        </p:nvSpPr>
        <p:spPr>
          <a:xfrm>
            <a:off x="420886" y="4966692"/>
            <a:ext cx="3415010" cy="18908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Bằng chứng</a:t>
            </a:r>
          </a:p>
          <a:p>
            <a:pPr algn="l"/>
            <a:endParaRPr lang="en-US"/>
          </a:p>
        </p:txBody>
      </p:sp>
      <p:sp>
        <p:nvSpPr>
          <p:cNvPr id="10" name="Sự kiện"/>
          <p:cNvSpPr/>
          <p:nvPr/>
        </p:nvSpPr>
        <p:spPr>
          <a:xfrm>
            <a:off x="3945582" y="1133921"/>
            <a:ext cx="5691783" cy="1776859"/>
          </a:xfrm>
          <a:prstGeom prst="roundRect">
            <a:avLst>
              <a:gd name="adj" fmla="val 6000"/>
            </a:avLst>
          </a:prstGeom>
          <a:noFill/>
          <a:ln w="28575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ctr"/>
            <a:r>
              <a:rPr lang="en-US" sz="900" b="1" dirty="0">
                <a:solidFill>
                  <a:srgbClr val="111111"/>
                </a:solidFill>
                <a:latin typeface="Arial"/>
                <a:cs typeface="Arial"/>
              </a:rPr>
              <a:t>Sự kiện</a:t>
            </a:r>
          </a:p>
          <a:p>
            <a:pPr algn="ctr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________________</a:t>
            </a:r>
          </a:p>
        </p:txBody>
      </p:sp>
      <p:sp>
        <p:nvSpPr>
          <p:cNvPr id="11" name="Mục tiêu của lãnh đạo"/>
          <p:cNvSpPr/>
          <p:nvPr/>
        </p:nvSpPr>
        <p:spPr>
          <a:xfrm>
            <a:off x="3945582" y="2983855"/>
            <a:ext cx="2800201" cy="1909762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Mục tiêu của lãnh đạo</a:t>
            </a:r>
          </a:p>
          <a:p>
            <a:pPr algn="l"/>
            <a:endParaRPr lang="en-US"/>
          </a:p>
        </p:txBody>
      </p:sp>
      <p:sp>
        <p:nvSpPr>
          <p:cNvPr id="12" name="Quyết định chính"/>
          <p:cNvSpPr/>
          <p:nvPr/>
        </p:nvSpPr>
        <p:spPr>
          <a:xfrm>
            <a:off x="6837164" y="2983855"/>
            <a:ext cx="2800201" cy="1909762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Quyết định chính</a:t>
            </a:r>
          </a:p>
          <a:p>
            <a:pPr algn="l"/>
            <a:endParaRPr lang="en-US"/>
          </a:p>
        </p:txBody>
      </p:sp>
      <p:sp>
        <p:nvSpPr>
          <p:cNvPr id="13" name="Đồng minh / người ủng hộ"/>
          <p:cNvSpPr/>
          <p:nvPr/>
        </p:nvSpPr>
        <p:spPr>
          <a:xfrm>
            <a:off x="3945582" y="4966692"/>
            <a:ext cx="2800201" cy="18908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Đồng minh / người ủng hộ</a:t>
            </a:r>
          </a:p>
          <a:p>
            <a:pPr algn="l"/>
            <a:endParaRPr lang="en-US"/>
          </a:p>
        </p:txBody>
      </p:sp>
      <p:sp>
        <p:nvSpPr>
          <p:cNvPr id="14" name="Đối thủ"/>
          <p:cNvSpPr/>
          <p:nvPr/>
        </p:nvSpPr>
        <p:spPr>
          <a:xfrm>
            <a:off x="6837164" y="4966692"/>
            <a:ext cx="2800201" cy="18908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Đối thủ</a:t>
            </a:r>
          </a:p>
          <a:p>
            <a:pPr algn="l"/>
            <a:endParaRPr lang="en-US"/>
          </a:p>
        </p:txBody>
      </p:sp>
      <p:cxnSp>
        <p:nvCxnSpPr>
          <p:cNvPr id="15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16" name="label"/>
          <p:cNvSpPr txBox="1"/>
          <p:nvPr/>
        </p:nvSpPr>
        <p:spPr>
          <a:xfrm>
            <a:off x="420886" y="7024688"/>
            <a:ext cx="2204704" cy="3977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Nguồn đã dùng: 1.________________ 2.________________ 3.________________</a:t>
            </a:r>
          </a:p>
        </p:txBody>
      </p:sp>
      <p:sp>
        <p:nvSpPr>
          <p:cNvPr id="17" name="label"/>
          <p:cNvSpPr txBox="1"/>
          <p:nvPr/>
        </p:nvSpPr>
        <p:spPr>
          <a:xfrm>
            <a:off x="2680395" y="7074247"/>
            <a:ext cx="4282494" cy="29864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Trọng tâm kỹ năng TEKS: Khối 6–8: nghiên cứu, trình tự thời gian, nguyên nhân/kết quả, so sánh, bối cảnh lịch sử, góc nhìn, đánh giá nguồn tư liệu và trình bày trực quan.</a:t>
            </a:r>
          </a:p>
        </p:txBody>
      </p:sp>
      <p:sp>
        <p:nvSpPr>
          <p:cNvPr id="18" name="label"/>
          <p:cNvSpPr txBox="1"/>
          <p:nvPr/>
        </p:nvSpPr>
        <p:spPr>
          <a:xfrm>
            <a:off x="7017693" y="7144345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CC-BY-NC TCEA.org by Miguel Guhlin (mguhlin.org)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420886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姓名: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日期: __________ 班级/课时: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2845594" y="571351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领导者与事件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2845594" y="866626"/>
            <a:ext cx="4213735" cy="18821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年级段: 6-8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7169051" y="853678"/>
            <a:ext cx="2505039" cy="201162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主题 / 事件: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重要领导者"/>
          <p:cNvSpPr/>
          <p:nvPr/>
        </p:nvSpPr>
        <p:spPr>
          <a:xfrm>
            <a:off x="420886" y="1133921"/>
            <a:ext cx="3415010" cy="1776859"/>
          </a:xfrm>
          <a:prstGeom prst="roundRect">
            <a:avLst>
              <a:gd name="adj" fmla="val 6000"/>
            </a:avLst>
          </a:prstGeom>
          <a:noFill/>
          <a:ln w="28575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ctr"/>
            <a:r>
              <a:rPr lang="en-US" sz="900" b="1" dirty="0">
                <a:solidFill>
                  <a:srgbClr val="111111"/>
                </a:solidFill>
                <a:latin typeface="Arial"/>
                <a:cs typeface="Arial"/>
              </a:rPr>
              <a:t>重要领导者</a:t>
            </a:r>
          </a:p>
          <a:p>
            <a:pPr algn="ctr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________________</a:t>
            </a:r>
          </a:p>
        </p:txBody>
      </p:sp>
      <p:sp>
        <p:nvSpPr>
          <p:cNvPr id="8" name="影响"/>
          <p:cNvSpPr/>
          <p:nvPr/>
        </p:nvSpPr>
        <p:spPr>
          <a:xfrm>
            <a:off x="420886" y="2983855"/>
            <a:ext cx="3415010" cy="1909762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影响</a:t>
            </a:r>
          </a:p>
          <a:p>
            <a:pPr algn="l"/>
            <a:endParaRPr lang="en-US"/>
          </a:p>
        </p:txBody>
      </p:sp>
      <p:sp>
        <p:nvSpPr>
          <p:cNvPr id="9" name="证据"/>
          <p:cNvSpPr/>
          <p:nvPr/>
        </p:nvSpPr>
        <p:spPr>
          <a:xfrm>
            <a:off x="420886" y="4966692"/>
            <a:ext cx="3415010" cy="18908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证据</a:t>
            </a:r>
          </a:p>
          <a:p>
            <a:pPr algn="l"/>
            <a:endParaRPr lang="en-US"/>
          </a:p>
        </p:txBody>
      </p:sp>
      <p:sp>
        <p:nvSpPr>
          <p:cNvPr id="10" name="事件"/>
          <p:cNvSpPr/>
          <p:nvPr/>
        </p:nvSpPr>
        <p:spPr>
          <a:xfrm>
            <a:off x="3945582" y="1133921"/>
            <a:ext cx="5691783" cy="1776859"/>
          </a:xfrm>
          <a:prstGeom prst="roundRect">
            <a:avLst>
              <a:gd name="adj" fmla="val 6000"/>
            </a:avLst>
          </a:prstGeom>
          <a:noFill/>
          <a:ln w="28575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ctr"/>
            <a:r>
              <a:rPr lang="en-US" sz="900" b="1" dirty="0">
                <a:solidFill>
                  <a:srgbClr val="111111"/>
                </a:solidFill>
                <a:latin typeface="Arial"/>
                <a:cs typeface="Arial"/>
              </a:rPr>
              <a:t>事件</a:t>
            </a:r>
          </a:p>
          <a:p>
            <a:pPr algn="ctr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________________</a:t>
            </a:r>
          </a:p>
        </p:txBody>
      </p:sp>
      <p:sp>
        <p:nvSpPr>
          <p:cNvPr id="11" name="领导者目标"/>
          <p:cNvSpPr/>
          <p:nvPr/>
        </p:nvSpPr>
        <p:spPr>
          <a:xfrm>
            <a:off x="3945582" y="2983855"/>
            <a:ext cx="2800201" cy="1909762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领导者目标</a:t>
            </a:r>
          </a:p>
          <a:p>
            <a:pPr algn="l"/>
            <a:endParaRPr lang="en-US"/>
          </a:p>
        </p:txBody>
      </p:sp>
      <p:sp>
        <p:nvSpPr>
          <p:cNvPr id="12" name="关键决策"/>
          <p:cNvSpPr/>
          <p:nvPr/>
        </p:nvSpPr>
        <p:spPr>
          <a:xfrm>
            <a:off x="6837164" y="2983855"/>
            <a:ext cx="2800201" cy="1909762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关键决策</a:t>
            </a:r>
          </a:p>
          <a:p>
            <a:pPr algn="l"/>
            <a:endParaRPr lang="en-US"/>
          </a:p>
        </p:txBody>
      </p:sp>
      <p:sp>
        <p:nvSpPr>
          <p:cNvPr id="13" name="盟友 / 支持者"/>
          <p:cNvSpPr/>
          <p:nvPr/>
        </p:nvSpPr>
        <p:spPr>
          <a:xfrm>
            <a:off x="3945582" y="4966692"/>
            <a:ext cx="2800201" cy="18908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盟友 / 支持者</a:t>
            </a:r>
          </a:p>
          <a:p>
            <a:pPr algn="l"/>
            <a:endParaRPr lang="en-US"/>
          </a:p>
        </p:txBody>
      </p:sp>
      <p:sp>
        <p:nvSpPr>
          <p:cNvPr id="14" name="反对者"/>
          <p:cNvSpPr/>
          <p:nvPr/>
        </p:nvSpPr>
        <p:spPr>
          <a:xfrm>
            <a:off x="6837164" y="4966692"/>
            <a:ext cx="2800201" cy="18908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反对者</a:t>
            </a:r>
          </a:p>
          <a:p>
            <a:pPr algn="l"/>
            <a:endParaRPr lang="en-US"/>
          </a:p>
        </p:txBody>
      </p:sp>
      <p:cxnSp>
        <p:nvCxnSpPr>
          <p:cNvPr id="15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16" name="label"/>
          <p:cNvSpPr txBox="1"/>
          <p:nvPr/>
        </p:nvSpPr>
        <p:spPr>
          <a:xfrm>
            <a:off x="420886" y="7019925"/>
            <a:ext cx="2204704" cy="40728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使用的资料: 1.________________ 2.________________ 3.________________</a:t>
            </a:r>
          </a:p>
        </p:txBody>
      </p:sp>
      <p:sp>
        <p:nvSpPr>
          <p:cNvPr id="17" name="label"/>
          <p:cNvSpPr txBox="1"/>
          <p:nvPr/>
        </p:nvSpPr>
        <p:spPr>
          <a:xfrm>
            <a:off x="2680395" y="7074247"/>
            <a:ext cx="4282494" cy="29864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TEKS 技能重点: 6–8年级：研究、时间顺序、因果关系、比较、历史背景、观点、资料来源评估、视觉表达。</a:t>
            </a:r>
          </a:p>
        </p:txBody>
      </p:sp>
      <p:sp>
        <p:nvSpPr>
          <p:cNvPr id="18" name="label"/>
          <p:cNvSpPr txBox="1"/>
          <p:nvPr/>
        </p:nvSpPr>
        <p:spPr>
          <a:xfrm>
            <a:off x="7017693" y="7144345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CC-BY-NC TCEA.org by Miguel Guhlin (mguhlin.org)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420886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नाम: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तारीख: __________ कक्षा/पीरियड: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2845594" y="552301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नेता और घटना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2845594" y="847576"/>
            <a:ext cx="4213735" cy="2072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ग्रेड स्तर: 6-8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7169051" y="838051"/>
            <a:ext cx="2505039" cy="21678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विषय / घटना: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महत्वपूर्ण नेता"/>
          <p:cNvSpPr/>
          <p:nvPr/>
        </p:nvSpPr>
        <p:spPr>
          <a:xfrm>
            <a:off x="420886" y="1133921"/>
            <a:ext cx="3415010" cy="1776859"/>
          </a:xfrm>
          <a:prstGeom prst="roundRect">
            <a:avLst>
              <a:gd name="adj" fmla="val 6000"/>
            </a:avLst>
          </a:prstGeom>
          <a:noFill/>
          <a:ln w="28575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ctr"/>
            <a:r>
              <a:rPr lang="en-US" sz="900" b="1" dirty="0">
                <a:solidFill>
                  <a:srgbClr val="111111"/>
                </a:solidFill>
                <a:latin typeface="Arial"/>
                <a:cs typeface="Arial"/>
              </a:rPr>
              <a:t>महत्वपूर्ण नेता</a:t>
            </a:r>
          </a:p>
          <a:p>
            <a:pPr algn="ctr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________________</a:t>
            </a:r>
          </a:p>
        </p:txBody>
      </p:sp>
      <p:sp>
        <p:nvSpPr>
          <p:cNvPr id="8" name="प्रभाव"/>
          <p:cNvSpPr/>
          <p:nvPr/>
        </p:nvSpPr>
        <p:spPr>
          <a:xfrm>
            <a:off x="420886" y="2983855"/>
            <a:ext cx="3415010" cy="1909762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प्रभाव</a:t>
            </a:r>
          </a:p>
          <a:p>
            <a:pPr algn="l"/>
            <a:endParaRPr lang="en-US"/>
          </a:p>
        </p:txBody>
      </p:sp>
      <p:sp>
        <p:nvSpPr>
          <p:cNvPr id="9" name="प्रमाण"/>
          <p:cNvSpPr/>
          <p:nvPr/>
        </p:nvSpPr>
        <p:spPr>
          <a:xfrm>
            <a:off x="420886" y="4966692"/>
            <a:ext cx="3415010" cy="18908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प्रमाण</a:t>
            </a:r>
          </a:p>
          <a:p>
            <a:pPr algn="l"/>
            <a:endParaRPr lang="en-US"/>
          </a:p>
        </p:txBody>
      </p:sp>
      <p:sp>
        <p:nvSpPr>
          <p:cNvPr id="10" name="घटना"/>
          <p:cNvSpPr/>
          <p:nvPr/>
        </p:nvSpPr>
        <p:spPr>
          <a:xfrm>
            <a:off x="3945582" y="1133921"/>
            <a:ext cx="5691783" cy="1776859"/>
          </a:xfrm>
          <a:prstGeom prst="roundRect">
            <a:avLst>
              <a:gd name="adj" fmla="val 6000"/>
            </a:avLst>
          </a:prstGeom>
          <a:noFill/>
          <a:ln w="28575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ctr"/>
            <a:r>
              <a:rPr lang="en-US" sz="900" b="1" dirty="0">
                <a:solidFill>
                  <a:srgbClr val="111111"/>
                </a:solidFill>
                <a:latin typeface="Arial"/>
                <a:cs typeface="Arial"/>
              </a:rPr>
              <a:t>घटना</a:t>
            </a:r>
          </a:p>
          <a:p>
            <a:pPr algn="ctr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________________</a:t>
            </a:r>
          </a:p>
        </p:txBody>
      </p:sp>
      <p:sp>
        <p:nvSpPr>
          <p:cNvPr id="11" name="नेता के लक्ष्य"/>
          <p:cNvSpPr/>
          <p:nvPr/>
        </p:nvSpPr>
        <p:spPr>
          <a:xfrm>
            <a:off x="3945582" y="2983855"/>
            <a:ext cx="2800201" cy="1909762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नेता के लक्ष्य</a:t>
            </a:r>
          </a:p>
          <a:p>
            <a:pPr algn="l"/>
            <a:endParaRPr lang="en-US"/>
          </a:p>
        </p:txBody>
      </p:sp>
      <p:sp>
        <p:nvSpPr>
          <p:cNvPr id="12" name="मुख्य निर्णय"/>
          <p:cNvSpPr/>
          <p:nvPr/>
        </p:nvSpPr>
        <p:spPr>
          <a:xfrm>
            <a:off x="6837164" y="2983855"/>
            <a:ext cx="2800201" cy="1909762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मुख्य निर्णय</a:t>
            </a:r>
          </a:p>
          <a:p>
            <a:pPr algn="l"/>
            <a:endParaRPr lang="en-US"/>
          </a:p>
        </p:txBody>
      </p:sp>
      <p:sp>
        <p:nvSpPr>
          <p:cNvPr id="13" name="सहयोगी / समर्थक"/>
          <p:cNvSpPr/>
          <p:nvPr/>
        </p:nvSpPr>
        <p:spPr>
          <a:xfrm>
            <a:off x="3945582" y="4966692"/>
            <a:ext cx="2800201" cy="18908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सहयोगी / समर्थक</a:t>
            </a:r>
          </a:p>
          <a:p>
            <a:pPr algn="l"/>
            <a:endParaRPr lang="en-US"/>
          </a:p>
        </p:txBody>
      </p:sp>
      <p:sp>
        <p:nvSpPr>
          <p:cNvPr id="14" name="विरोधी"/>
          <p:cNvSpPr/>
          <p:nvPr/>
        </p:nvSpPr>
        <p:spPr>
          <a:xfrm>
            <a:off x="6837164" y="4966692"/>
            <a:ext cx="2800201" cy="18908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विरोधी</a:t>
            </a:r>
          </a:p>
          <a:p>
            <a:pPr algn="l"/>
            <a:endParaRPr lang="en-US"/>
          </a:p>
        </p:txBody>
      </p:sp>
      <p:cxnSp>
        <p:nvCxnSpPr>
          <p:cNvPr id="15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16" name="label"/>
          <p:cNvSpPr txBox="1"/>
          <p:nvPr/>
        </p:nvSpPr>
        <p:spPr>
          <a:xfrm>
            <a:off x="420886" y="7015162"/>
            <a:ext cx="2204704" cy="41681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उपयोग किए गए स्रोत: 1.________________ 2.________________ 3.________________</a:t>
            </a:r>
          </a:p>
        </p:txBody>
      </p:sp>
      <p:sp>
        <p:nvSpPr>
          <p:cNvPr id="17" name="label"/>
          <p:cNvSpPr txBox="1"/>
          <p:nvPr/>
        </p:nvSpPr>
        <p:spPr>
          <a:xfrm>
            <a:off x="2680395" y="7074247"/>
            <a:ext cx="4282494" cy="29864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TEKS कौशल फोकस: कक्षा 6–8: शोध, कालक्रम, कारण/प्रभाव, तुलना, ऐतिहासिक संदर्भ, दृष्टिकोण, स्रोत मूल्यांकन और दृश्य संचार।</a:t>
            </a:r>
          </a:p>
        </p:txBody>
      </p:sp>
      <p:sp>
        <p:nvSpPr>
          <p:cNvPr id="18" name="label"/>
          <p:cNvSpPr txBox="1"/>
          <p:nvPr/>
        </p:nvSpPr>
        <p:spPr>
          <a:xfrm>
            <a:off x="7017693" y="7144345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CC-BY-NC TCEA.org by Miguel Guhlin (mguhlin.org)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7359104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الاسم: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التاريخ: __________ الصف/الحصة: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3035647" y="466576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 rtl="1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القائد والحدث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3035647" y="761851"/>
            <a:ext cx="4213735" cy="29298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 rtl="1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المرحلة: 6-8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420886" y="733276"/>
            <a:ext cx="2505039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الموضوع / الحدث: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قائد مهم"/>
          <p:cNvSpPr/>
          <p:nvPr/>
        </p:nvSpPr>
        <p:spPr>
          <a:xfrm>
            <a:off x="6222504" y="1133921"/>
            <a:ext cx="3415010" cy="1776859"/>
          </a:xfrm>
          <a:prstGeom prst="roundRect">
            <a:avLst>
              <a:gd name="adj" fmla="val 6000"/>
            </a:avLst>
          </a:prstGeom>
          <a:noFill/>
          <a:ln w="28575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ctr" rtl="1"/>
            <a:r>
              <a:rPr lang="en-US" sz="900" b="1" dirty="0">
                <a:solidFill>
                  <a:srgbClr val="111111"/>
                </a:solidFill>
                <a:latin typeface="Arial"/>
                <a:cs typeface="Arial"/>
              </a:rPr>
              <a:t>قائد مهم</a:t>
            </a:r>
          </a:p>
          <a:p>
            <a:pPr algn="ctr" rtl="1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________________</a:t>
            </a:r>
          </a:p>
        </p:txBody>
      </p:sp>
      <p:sp>
        <p:nvSpPr>
          <p:cNvPr id="8" name="الأثر"/>
          <p:cNvSpPr/>
          <p:nvPr/>
        </p:nvSpPr>
        <p:spPr>
          <a:xfrm>
            <a:off x="6222504" y="2983855"/>
            <a:ext cx="3415010" cy="1909762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الأثر</a:t>
            </a:r>
          </a:p>
          <a:p>
            <a:pPr algn="l" rtl="1"/>
            <a:endParaRPr lang="en-US"/>
          </a:p>
        </p:txBody>
      </p:sp>
      <p:sp>
        <p:nvSpPr>
          <p:cNvPr id="9" name="الدليل"/>
          <p:cNvSpPr/>
          <p:nvPr/>
        </p:nvSpPr>
        <p:spPr>
          <a:xfrm>
            <a:off x="6222504" y="4966692"/>
            <a:ext cx="3415010" cy="18908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الدليل</a:t>
            </a:r>
          </a:p>
          <a:p>
            <a:pPr algn="l" rtl="1"/>
            <a:endParaRPr lang="en-US"/>
          </a:p>
        </p:txBody>
      </p:sp>
      <p:sp>
        <p:nvSpPr>
          <p:cNvPr id="10" name="الحدث"/>
          <p:cNvSpPr/>
          <p:nvPr/>
        </p:nvSpPr>
        <p:spPr>
          <a:xfrm>
            <a:off x="421035" y="1133921"/>
            <a:ext cx="5691783" cy="1776859"/>
          </a:xfrm>
          <a:prstGeom prst="roundRect">
            <a:avLst>
              <a:gd name="adj" fmla="val 6000"/>
            </a:avLst>
          </a:prstGeom>
          <a:noFill/>
          <a:ln w="28575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ctr" rtl="1"/>
            <a:r>
              <a:rPr lang="en-US" sz="900" b="1" dirty="0">
                <a:solidFill>
                  <a:srgbClr val="111111"/>
                </a:solidFill>
                <a:latin typeface="Arial"/>
                <a:cs typeface="Arial"/>
              </a:rPr>
              <a:t>الحدث</a:t>
            </a:r>
          </a:p>
          <a:p>
            <a:pPr algn="ctr" rtl="1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________________</a:t>
            </a:r>
          </a:p>
        </p:txBody>
      </p:sp>
      <p:sp>
        <p:nvSpPr>
          <p:cNvPr id="11" name="أهداف القائد"/>
          <p:cNvSpPr/>
          <p:nvPr/>
        </p:nvSpPr>
        <p:spPr>
          <a:xfrm>
            <a:off x="3312616" y="2983855"/>
            <a:ext cx="2800201" cy="1909762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أهداف القائد</a:t>
            </a:r>
          </a:p>
          <a:p>
            <a:pPr algn="l" rtl="1"/>
            <a:endParaRPr lang="en-US"/>
          </a:p>
        </p:txBody>
      </p:sp>
      <p:sp>
        <p:nvSpPr>
          <p:cNvPr id="12" name="قرارات رئيسية"/>
          <p:cNvSpPr/>
          <p:nvPr/>
        </p:nvSpPr>
        <p:spPr>
          <a:xfrm>
            <a:off x="421035" y="2983855"/>
            <a:ext cx="2800201" cy="1909762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قرارات رئيسية</a:t>
            </a:r>
          </a:p>
          <a:p>
            <a:pPr algn="l" rtl="1"/>
            <a:endParaRPr lang="en-US"/>
          </a:p>
        </p:txBody>
      </p:sp>
      <p:sp>
        <p:nvSpPr>
          <p:cNvPr id="13" name="حلفاء / مؤيدون"/>
          <p:cNvSpPr/>
          <p:nvPr/>
        </p:nvSpPr>
        <p:spPr>
          <a:xfrm>
            <a:off x="3312616" y="4966692"/>
            <a:ext cx="2800201" cy="18908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حلفاء / مؤيدون</a:t>
            </a:r>
          </a:p>
          <a:p>
            <a:pPr algn="l" rtl="1"/>
            <a:endParaRPr lang="en-US"/>
          </a:p>
        </p:txBody>
      </p:sp>
      <p:sp>
        <p:nvSpPr>
          <p:cNvPr id="14" name="معارضون"/>
          <p:cNvSpPr/>
          <p:nvPr/>
        </p:nvSpPr>
        <p:spPr>
          <a:xfrm>
            <a:off x="421035" y="4966692"/>
            <a:ext cx="2800201" cy="18908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معارضون</a:t>
            </a:r>
          </a:p>
          <a:p>
            <a:pPr algn="l" rtl="1"/>
            <a:endParaRPr lang="en-US"/>
          </a:p>
        </p:txBody>
      </p:sp>
      <p:cxnSp>
        <p:nvCxnSpPr>
          <p:cNvPr id="15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16" name="label"/>
          <p:cNvSpPr txBox="1"/>
          <p:nvPr/>
        </p:nvSpPr>
        <p:spPr>
          <a:xfrm>
            <a:off x="7469386" y="7004298"/>
            <a:ext cx="2204704" cy="61683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 rtl="1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المصادر المستخدمة: 1.________________ 2.________________ 3.________________</a:t>
            </a:r>
          </a:p>
        </p:txBody>
      </p:sp>
      <p:sp>
        <p:nvSpPr>
          <p:cNvPr id="17" name="label"/>
          <p:cNvSpPr txBox="1"/>
          <p:nvPr/>
        </p:nvSpPr>
        <p:spPr>
          <a:xfrm>
            <a:off x="3132088" y="7163395"/>
            <a:ext cx="4282494" cy="29864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تركيز مهارات TEKS: الصفوف 6–8: البحث، التسلسل الزمني، السبب والنتيجة، المقارنة، السياق التاريخي، المنظور، تقييم المصادر، والتواصل البصري.</a:t>
            </a:r>
          </a:p>
        </p:txBody>
      </p:sp>
      <p:sp>
        <p:nvSpPr>
          <p:cNvPr id="18" name="label"/>
          <p:cNvSpPr txBox="1"/>
          <p:nvPr/>
        </p:nvSpPr>
        <p:spPr>
          <a:xfrm>
            <a:off x="420886" y="7233493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CC-BY-NC TCEA.org by Miguel Guhlin (mguhlin.org)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7359104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نام: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تاریخ: __________ کلاس/پیریڈ: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3035647" y="466576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 rtl="1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رہنما اور واقعہ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3035647" y="761851"/>
            <a:ext cx="4213735" cy="29298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 rtl="1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جماعتی سطح: 6-8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420886" y="733276"/>
            <a:ext cx="2505039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موضوع / واقعہ: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اہم رہنما"/>
          <p:cNvSpPr/>
          <p:nvPr/>
        </p:nvSpPr>
        <p:spPr>
          <a:xfrm>
            <a:off x="6222504" y="1133921"/>
            <a:ext cx="3415010" cy="1776859"/>
          </a:xfrm>
          <a:prstGeom prst="roundRect">
            <a:avLst>
              <a:gd name="adj" fmla="val 6000"/>
            </a:avLst>
          </a:prstGeom>
          <a:noFill/>
          <a:ln w="28575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ctr" rtl="1"/>
            <a:r>
              <a:rPr lang="en-US" sz="900" b="1" dirty="0">
                <a:solidFill>
                  <a:srgbClr val="111111"/>
                </a:solidFill>
                <a:latin typeface="Arial"/>
                <a:cs typeface="Arial"/>
              </a:rPr>
              <a:t>اہم رہنما</a:t>
            </a:r>
          </a:p>
          <a:p>
            <a:pPr algn="ctr" rtl="1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________________</a:t>
            </a:r>
          </a:p>
        </p:txBody>
      </p:sp>
      <p:sp>
        <p:nvSpPr>
          <p:cNvPr id="8" name="اثر"/>
          <p:cNvSpPr/>
          <p:nvPr/>
        </p:nvSpPr>
        <p:spPr>
          <a:xfrm>
            <a:off x="6222504" y="2983855"/>
            <a:ext cx="3415010" cy="1909762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اثر</a:t>
            </a:r>
          </a:p>
          <a:p>
            <a:pPr algn="l" rtl="1"/>
            <a:endParaRPr lang="en-US"/>
          </a:p>
        </p:txBody>
      </p:sp>
      <p:sp>
        <p:nvSpPr>
          <p:cNvPr id="9" name="ثبوت"/>
          <p:cNvSpPr/>
          <p:nvPr/>
        </p:nvSpPr>
        <p:spPr>
          <a:xfrm>
            <a:off x="6222504" y="4966692"/>
            <a:ext cx="3415010" cy="18908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ثبوت</a:t>
            </a:r>
          </a:p>
          <a:p>
            <a:pPr algn="l" rtl="1"/>
            <a:endParaRPr lang="en-US"/>
          </a:p>
        </p:txBody>
      </p:sp>
      <p:sp>
        <p:nvSpPr>
          <p:cNvPr id="10" name="واقعہ"/>
          <p:cNvSpPr/>
          <p:nvPr/>
        </p:nvSpPr>
        <p:spPr>
          <a:xfrm>
            <a:off x="421035" y="1133921"/>
            <a:ext cx="5691783" cy="1776859"/>
          </a:xfrm>
          <a:prstGeom prst="roundRect">
            <a:avLst>
              <a:gd name="adj" fmla="val 6000"/>
            </a:avLst>
          </a:prstGeom>
          <a:noFill/>
          <a:ln w="28575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ctr" rtl="1"/>
            <a:r>
              <a:rPr lang="en-US" sz="900" b="1" dirty="0">
                <a:solidFill>
                  <a:srgbClr val="111111"/>
                </a:solidFill>
                <a:latin typeface="Arial"/>
                <a:cs typeface="Arial"/>
              </a:rPr>
              <a:t>واقعہ</a:t>
            </a:r>
          </a:p>
          <a:p>
            <a:pPr algn="ctr" rtl="1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________________</a:t>
            </a:r>
          </a:p>
        </p:txBody>
      </p:sp>
      <p:sp>
        <p:nvSpPr>
          <p:cNvPr id="11" name="رہنما کے مقاصد"/>
          <p:cNvSpPr/>
          <p:nvPr/>
        </p:nvSpPr>
        <p:spPr>
          <a:xfrm>
            <a:off x="3312616" y="2983855"/>
            <a:ext cx="2800201" cy="1909762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رہنما کے مقاصد</a:t>
            </a:r>
          </a:p>
          <a:p>
            <a:pPr algn="l" rtl="1"/>
            <a:endParaRPr lang="en-US"/>
          </a:p>
        </p:txBody>
      </p:sp>
      <p:sp>
        <p:nvSpPr>
          <p:cNvPr id="12" name="اہم فیصلے"/>
          <p:cNvSpPr/>
          <p:nvPr/>
        </p:nvSpPr>
        <p:spPr>
          <a:xfrm>
            <a:off x="421035" y="2983855"/>
            <a:ext cx="2800201" cy="1909762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اہم فیصلے</a:t>
            </a:r>
          </a:p>
          <a:p>
            <a:pPr algn="l" rtl="1"/>
            <a:endParaRPr lang="en-US"/>
          </a:p>
        </p:txBody>
      </p:sp>
      <p:sp>
        <p:nvSpPr>
          <p:cNvPr id="13" name="اتحادی / حمایتی"/>
          <p:cNvSpPr/>
          <p:nvPr/>
        </p:nvSpPr>
        <p:spPr>
          <a:xfrm>
            <a:off x="3312616" y="4966692"/>
            <a:ext cx="2800201" cy="18908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اتحادی / حمایتی</a:t>
            </a:r>
          </a:p>
          <a:p>
            <a:pPr algn="l" rtl="1"/>
            <a:endParaRPr lang="en-US"/>
          </a:p>
        </p:txBody>
      </p:sp>
      <p:sp>
        <p:nvSpPr>
          <p:cNvPr id="14" name="مخالفین"/>
          <p:cNvSpPr/>
          <p:nvPr/>
        </p:nvSpPr>
        <p:spPr>
          <a:xfrm>
            <a:off x="421035" y="4966692"/>
            <a:ext cx="2800201" cy="18908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مخالفین</a:t>
            </a:r>
          </a:p>
          <a:p>
            <a:pPr algn="l" rtl="1"/>
            <a:endParaRPr lang="en-US"/>
          </a:p>
        </p:txBody>
      </p:sp>
      <p:cxnSp>
        <p:nvCxnSpPr>
          <p:cNvPr id="15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16" name="label"/>
          <p:cNvSpPr txBox="1"/>
          <p:nvPr/>
        </p:nvSpPr>
        <p:spPr>
          <a:xfrm>
            <a:off x="7469386" y="7004298"/>
            <a:ext cx="2204704" cy="50253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 rtl="1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استعمال شدہ ذرائع: 1.________________ 2.________________ 3.________________</a:t>
            </a:r>
          </a:p>
        </p:txBody>
      </p:sp>
      <p:sp>
        <p:nvSpPr>
          <p:cNvPr id="17" name="label"/>
          <p:cNvSpPr txBox="1"/>
          <p:nvPr/>
        </p:nvSpPr>
        <p:spPr>
          <a:xfrm>
            <a:off x="3132088" y="7106245"/>
            <a:ext cx="4282494" cy="29864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TEKS مہارت کا مرکز: جماعت 6–8: تحقیق، زمانی ترتیب، سبب و اثر، موازنہ، تاریخی پس منظر، نقطۂ نظر، ذرائع کا جائزہ اور بصری ابلاغ۔</a:t>
            </a:r>
          </a:p>
        </p:txBody>
      </p:sp>
      <p:sp>
        <p:nvSpPr>
          <p:cNvPr id="18" name="label"/>
          <p:cNvSpPr txBox="1"/>
          <p:nvPr/>
        </p:nvSpPr>
        <p:spPr>
          <a:xfrm>
            <a:off x="420886" y="7176343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CC-BY-NC TCEA.org by Miguel Guhlin (mguhlin.org)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23266"/>
      </a:dk2>
      <a:lt2>
        <a:srgbClr val="F4F8FC"/>
      </a:lt2>
      <a:accent1>
        <a:srgbClr val="054C8C"/>
      </a:accent1>
      <a:accent2>
        <a:srgbClr val="FBD239"/>
      </a:accent2>
      <a:accent3>
        <a:srgbClr val="238A8D"/>
      </a:accent3>
      <a:accent4>
        <a:srgbClr val="6D5AA8"/>
      </a:accent4>
      <a:accent5>
        <a:srgbClr val="D97A28"/>
      </a:accent5>
      <a:accent6>
        <a:srgbClr val="5A8F52"/>
      </a:accent6>
      <a:hlink>
        <a:srgbClr val="054C8C"/>
      </a:hlink>
      <a:folHlink>
        <a:srgbClr val="6D5AA8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History Event Maps</Application>
  <Slides>7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Leader and Event — 7 languages</dc:title>
  <dc:creator>TCEA / Miguel Guhlin</dc:creator>
  <cp:lastModifiedBy>TCEA</cp:lastModifiedBy>
</cp:coreProperties>
</file>