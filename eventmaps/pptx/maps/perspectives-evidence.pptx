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Perspectives and Evidence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erspective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Perspective 1</a:t>
            </a:r>
          </a:p>
          <a:p>
            <a:pPr algn="l"/>
            <a:endParaRPr lang="en-US"/>
          </a:p>
        </p:txBody>
      </p:sp>
      <p:sp>
        <p:nvSpPr>
          <p:cNvPr id="8" name="The Event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</p:txBody>
      </p:sp>
      <p:sp>
        <p:nvSpPr>
          <p:cNvPr id="9" name="Perspective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Perspective 2</a:t>
            </a:r>
          </a:p>
          <a:p>
            <a:pPr algn="l"/>
            <a:endParaRPr lang="en-US"/>
          </a:p>
        </p:txBody>
      </p:sp>
      <p:sp>
        <p:nvSpPr>
          <p:cNvPr id="10" name="Perspective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Perspective 3</a:t>
            </a:r>
          </a:p>
          <a:p>
            <a:pPr algn="l"/>
            <a:endParaRPr lang="en-US"/>
          </a:p>
        </p:txBody>
      </p:sp>
      <p:sp>
        <p:nvSpPr>
          <p:cNvPr id="11" name="Perspective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Perspective 4</a:t>
            </a:r>
          </a:p>
          <a:p>
            <a:pPr algn="l"/>
            <a:endParaRPr lang="en-US"/>
          </a:p>
        </p:txBody>
      </p:sp>
      <p:sp>
        <p:nvSpPr>
          <p:cNvPr id="12" name="Evidence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Evidence</a:t>
            </a:r>
          </a:p>
          <a:p>
            <a:pPr algn="l"/>
            <a:endParaRPr lang="en-US"/>
          </a:p>
        </p:txBody>
      </p:sp>
      <p:sp>
        <p:nvSpPr>
          <p:cNvPr id="13" name="Where did they agree?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they agree?</a:t>
            </a:r>
          </a:p>
          <a:p>
            <a:pPr algn="l"/>
            <a:endParaRPr lang="en-US"/>
          </a:p>
        </p:txBody>
      </p:sp>
      <p:sp>
        <p:nvSpPr>
          <p:cNvPr id="14" name="Where did they conflict?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they conflict?</a:t>
            </a:r>
          </a:p>
          <a:p>
            <a:pPr algn="l"/>
            <a:endParaRPr lang="en-US"/>
          </a:p>
        </p:txBody>
      </p:sp>
      <p:sp>
        <p:nvSpPr>
          <p:cNvPr id="15" name="Whose voice is missing?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Whose voice is missing?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9-12: historical inquiry, chronology, causation, perspective, source evaluation, claims/evidence, geographic interpretation, visual communication.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Perspectivas y evidencia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Perspectiva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Perspectiva 1</a:t>
            </a:r>
          </a:p>
          <a:p>
            <a:pPr algn="l"/>
            <a:endParaRPr lang="en-US"/>
          </a:p>
        </p:txBody>
      </p:sp>
      <p:sp>
        <p:nvSpPr>
          <p:cNvPr id="8" name="El evento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</p:txBody>
      </p:sp>
      <p:sp>
        <p:nvSpPr>
          <p:cNvPr id="9" name="Perspectiva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Perspectiva 2</a:t>
            </a:r>
          </a:p>
          <a:p>
            <a:pPr algn="l"/>
            <a:endParaRPr lang="en-US"/>
          </a:p>
        </p:txBody>
      </p:sp>
      <p:sp>
        <p:nvSpPr>
          <p:cNvPr id="10" name="Perspectiva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Perspectiva 3</a:t>
            </a:r>
          </a:p>
          <a:p>
            <a:pPr algn="l"/>
            <a:endParaRPr lang="en-US"/>
          </a:p>
        </p:txBody>
      </p:sp>
      <p:sp>
        <p:nvSpPr>
          <p:cNvPr id="11" name="Perspectiva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Perspectiva 4</a:t>
            </a:r>
          </a:p>
          <a:p>
            <a:pPr algn="l"/>
            <a:endParaRPr lang="en-US"/>
          </a:p>
        </p:txBody>
      </p:sp>
      <p:sp>
        <p:nvSpPr>
          <p:cNvPr id="12" name="Evidencia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sp>
        <p:nvSpPr>
          <p:cNvPr id="13" name="¿En qué coincidieron?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¿En qué coincidieron?</a:t>
            </a:r>
          </a:p>
          <a:p>
            <a:pPr algn="l"/>
            <a:endParaRPr lang="en-US"/>
          </a:p>
        </p:txBody>
      </p:sp>
      <p:sp>
        <p:nvSpPr>
          <p:cNvPr id="14" name="¿En qué discreparon?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¿En qué discreparon?</a:t>
            </a:r>
          </a:p>
          <a:p>
            <a:pPr algn="l"/>
            <a:endParaRPr lang="en-US"/>
          </a:p>
        </p:txBody>
      </p:sp>
      <p:sp>
        <p:nvSpPr>
          <p:cNvPr id="15" name="¿Qué voz falta?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¿Qué voz falta?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9–12: investigación histórica, cronología, causalidad, perspectiva, evaluación de fuentes, afirmaciones y evidencia, interpretación geográfica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Góc nhìn và bằng chứng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Góc nhìn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Góc nhìn 1</a:t>
            </a:r>
          </a:p>
          <a:p>
            <a:pPr algn="l"/>
            <a:endParaRPr lang="en-US"/>
          </a:p>
        </p:txBody>
      </p:sp>
      <p:sp>
        <p:nvSpPr>
          <p:cNvPr id="8" name="Sự kiện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</p:txBody>
      </p:sp>
      <p:sp>
        <p:nvSpPr>
          <p:cNvPr id="9" name="Góc nhìn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Góc nhìn 2</a:t>
            </a:r>
          </a:p>
          <a:p>
            <a:pPr algn="l"/>
            <a:endParaRPr lang="en-US"/>
          </a:p>
        </p:txBody>
      </p:sp>
      <p:sp>
        <p:nvSpPr>
          <p:cNvPr id="10" name="Góc nhìn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Góc nhìn 3</a:t>
            </a:r>
          </a:p>
          <a:p>
            <a:pPr algn="l"/>
            <a:endParaRPr lang="en-US"/>
          </a:p>
        </p:txBody>
      </p:sp>
      <p:sp>
        <p:nvSpPr>
          <p:cNvPr id="11" name="Góc nhìn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Góc nhìn 4</a:t>
            </a:r>
          </a:p>
          <a:p>
            <a:pPr algn="l"/>
            <a:endParaRPr lang="en-US"/>
          </a:p>
        </p:txBody>
      </p:sp>
      <p:sp>
        <p:nvSpPr>
          <p:cNvPr id="12" name="Bằng chứng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sp>
        <p:nvSpPr>
          <p:cNvPr id="13" name="Họ đồng ý ở điểm nào?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Họ đồng ý ở điểm nào?</a:t>
            </a:r>
          </a:p>
          <a:p>
            <a:pPr algn="l"/>
            <a:endParaRPr lang="en-US"/>
          </a:p>
        </p:txBody>
      </p:sp>
      <p:sp>
        <p:nvSpPr>
          <p:cNvPr id="14" name="Họ bất đồng ở điểm nào?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Họ bất đồng ở điểm nào?</a:t>
            </a:r>
          </a:p>
          <a:p>
            <a:pPr algn="l"/>
            <a:endParaRPr lang="en-US"/>
          </a:p>
        </p:txBody>
      </p:sp>
      <p:sp>
        <p:nvSpPr>
          <p:cNvPr id="15" name="Tiếng nói nào còn thiếu?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Tiếng nói nào còn thiếu?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13228"/>
            <a:ext cx="4282494" cy="420535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9–12: điều tra lịch sử, trình tự thời gian, quan hệ nhân quả, góc nhìn, đánh giá nguồn tư liệu, nhận định/bằng chứng, diễn giải địa lý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视角与证据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观点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观点 1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观点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观点 2</a:t>
            </a:r>
          </a:p>
          <a:p>
            <a:pPr algn="l"/>
            <a:endParaRPr lang="en-US"/>
          </a:p>
        </p:txBody>
      </p:sp>
      <p:sp>
        <p:nvSpPr>
          <p:cNvPr id="10" name="观点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观点 3</a:t>
            </a:r>
          </a:p>
          <a:p>
            <a:pPr algn="l"/>
            <a:endParaRPr lang="en-US"/>
          </a:p>
        </p:txBody>
      </p:sp>
      <p:sp>
        <p:nvSpPr>
          <p:cNvPr id="11" name="观点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观点 4</a:t>
            </a:r>
          </a:p>
          <a:p>
            <a:pPr algn="l"/>
            <a:endParaRPr lang="en-US"/>
          </a:p>
        </p:txBody>
      </p:sp>
      <p:sp>
        <p:nvSpPr>
          <p:cNvPr id="12" name="证据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sp>
        <p:nvSpPr>
          <p:cNvPr id="13" name="他们在哪些方面一致？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他们在哪些方面一致？</a:t>
            </a:r>
          </a:p>
          <a:p>
            <a:pPr algn="l"/>
            <a:endParaRPr lang="en-US"/>
          </a:p>
        </p:txBody>
      </p:sp>
      <p:sp>
        <p:nvSpPr>
          <p:cNvPr id="14" name="他们在哪些方面冲突？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他们在哪些方面冲突？</a:t>
            </a:r>
          </a:p>
          <a:p>
            <a:pPr algn="l"/>
            <a:endParaRPr lang="en-US"/>
          </a:p>
        </p:txBody>
      </p:sp>
      <p:sp>
        <p:nvSpPr>
          <p:cNvPr id="15" name="缺少谁的声音？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缺少谁的声音？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और प्रमाण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दृष्टिकोण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1</a:t>
            </a:r>
          </a:p>
          <a:p>
            <a:pPr algn="l"/>
            <a:endParaRPr lang="en-US"/>
          </a:p>
        </p:txBody>
      </p:sp>
      <p:sp>
        <p:nvSpPr>
          <p:cNvPr id="8" name="घटना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</p:txBody>
      </p:sp>
      <p:sp>
        <p:nvSpPr>
          <p:cNvPr id="9" name="दृष्टिकोण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2</a:t>
            </a:r>
          </a:p>
          <a:p>
            <a:pPr algn="l"/>
            <a:endParaRPr lang="en-US"/>
          </a:p>
        </p:txBody>
      </p:sp>
      <p:sp>
        <p:nvSpPr>
          <p:cNvPr id="10" name="दृष्टिकोण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3</a:t>
            </a:r>
          </a:p>
          <a:p>
            <a:pPr algn="l"/>
            <a:endParaRPr lang="en-US"/>
          </a:p>
        </p:txBody>
      </p:sp>
      <p:sp>
        <p:nvSpPr>
          <p:cNvPr id="11" name="दृष्टिकोण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दृष्टिकोण 4</a:t>
            </a:r>
          </a:p>
          <a:p>
            <a:pPr algn="l"/>
            <a:endParaRPr lang="en-US"/>
          </a:p>
        </p:txBody>
      </p:sp>
      <p:sp>
        <p:nvSpPr>
          <p:cNvPr id="12" name="प्रमाण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sp>
        <p:nvSpPr>
          <p:cNvPr id="13" name="वे कहाँ सहमत थे?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वे कहाँ सहमत थे?</a:t>
            </a:r>
          </a:p>
          <a:p>
            <a:pPr algn="l"/>
            <a:endParaRPr lang="en-US"/>
          </a:p>
        </p:txBody>
      </p:sp>
      <p:sp>
        <p:nvSpPr>
          <p:cNvPr id="14" name="वे कहाँ असहमत थे?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वे कहाँ असहमत थे?</a:t>
            </a:r>
          </a:p>
          <a:p>
            <a:pPr algn="l"/>
            <a:endParaRPr lang="en-US"/>
          </a:p>
        </p:txBody>
      </p:sp>
      <p:sp>
        <p:nvSpPr>
          <p:cNvPr id="15" name="किसकी आवाज़ गायब है?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किसकी आवाज़ गायब है?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9–12: ऐतिहासिक अन्वेषण, कालक्रम, कारण-कार्य संबंध, दृष्टिकोण, स्रोत मूल्यांकन, दावे/प्रमाण, भौगोलिक व्याख्या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وجهات النظر والأدلة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منظور 1"/>
          <p:cNvSpPr/>
          <p:nvPr/>
        </p:nvSpPr>
        <p:spPr>
          <a:xfrm>
            <a:off x="6398121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المنظور 1</a:t>
            </a:r>
          </a:p>
          <a:p>
            <a:pPr algn="l" rtl="1"/>
            <a:endParaRPr lang="en-US"/>
          </a:p>
        </p:txBody>
      </p:sp>
      <p:sp>
        <p:nvSpPr>
          <p:cNvPr id="8" name="الحدث"/>
          <p:cNvSpPr/>
          <p:nvPr/>
        </p:nvSpPr>
        <p:spPr>
          <a:xfrm>
            <a:off x="3733502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</p:txBody>
      </p:sp>
      <p:sp>
        <p:nvSpPr>
          <p:cNvPr id="9" name="المنظور 2"/>
          <p:cNvSpPr/>
          <p:nvPr/>
        </p:nvSpPr>
        <p:spPr>
          <a:xfrm>
            <a:off x="420886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المنظور 2</a:t>
            </a:r>
          </a:p>
          <a:p>
            <a:pPr algn="l" rtl="1"/>
            <a:endParaRPr lang="en-US"/>
          </a:p>
        </p:txBody>
      </p:sp>
      <p:sp>
        <p:nvSpPr>
          <p:cNvPr id="10" name="المنظور 3"/>
          <p:cNvSpPr/>
          <p:nvPr/>
        </p:nvSpPr>
        <p:spPr>
          <a:xfrm>
            <a:off x="6398121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المنظور 3</a:t>
            </a:r>
          </a:p>
          <a:p>
            <a:pPr algn="l" rtl="1"/>
            <a:endParaRPr lang="en-US"/>
          </a:p>
        </p:txBody>
      </p:sp>
      <p:sp>
        <p:nvSpPr>
          <p:cNvPr id="11" name="المنظور 4"/>
          <p:cNvSpPr/>
          <p:nvPr/>
        </p:nvSpPr>
        <p:spPr>
          <a:xfrm>
            <a:off x="420886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المنظور 4</a:t>
            </a:r>
          </a:p>
          <a:p>
            <a:pPr algn="l" rtl="1"/>
            <a:endParaRPr lang="en-US"/>
          </a:p>
        </p:txBody>
      </p:sp>
      <p:sp>
        <p:nvSpPr>
          <p:cNvPr id="12" name="الدليل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sp>
        <p:nvSpPr>
          <p:cNvPr id="13" name="أين اتفقوا؟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اتفقوا؟</a:t>
            </a:r>
          </a:p>
          <a:p>
            <a:pPr algn="l" rtl="1"/>
            <a:endParaRPr lang="en-US"/>
          </a:p>
        </p:txBody>
      </p:sp>
      <p:sp>
        <p:nvSpPr>
          <p:cNvPr id="14" name="أين اختلفوا؟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اختلفوا؟</a:t>
            </a:r>
          </a:p>
          <a:p>
            <a:pPr algn="l" rtl="1"/>
            <a:endParaRPr lang="en-US"/>
          </a:p>
        </p:txBody>
      </p:sp>
      <p:sp>
        <p:nvSpPr>
          <p:cNvPr id="15" name="صوت من غائب؟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صوت من غائب؟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9–12: الاستقصاء التاريخي، التسلسل الزمني، السببية، المنظور، تقييم المصادر، الادعاءات والأدلة، التفسير الجغرافي،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نقطہ نظر اور ثبوت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نقطۂ نظر 1"/>
          <p:cNvSpPr/>
          <p:nvPr/>
        </p:nvSpPr>
        <p:spPr>
          <a:xfrm>
            <a:off x="6398121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نقطۂ نظر 1</a:t>
            </a:r>
          </a:p>
          <a:p>
            <a:pPr algn="l" rtl="1"/>
            <a:endParaRPr lang="en-US"/>
          </a:p>
        </p:txBody>
      </p:sp>
      <p:sp>
        <p:nvSpPr>
          <p:cNvPr id="8" name="واقعہ"/>
          <p:cNvSpPr/>
          <p:nvPr/>
        </p:nvSpPr>
        <p:spPr>
          <a:xfrm>
            <a:off x="3733502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</p:txBody>
      </p:sp>
      <p:sp>
        <p:nvSpPr>
          <p:cNvPr id="9" name="نقطۂ نظر 2"/>
          <p:cNvSpPr/>
          <p:nvPr/>
        </p:nvSpPr>
        <p:spPr>
          <a:xfrm>
            <a:off x="420886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نقطۂ نظر 2</a:t>
            </a:r>
          </a:p>
          <a:p>
            <a:pPr algn="l" rtl="1"/>
            <a:endParaRPr lang="en-US"/>
          </a:p>
        </p:txBody>
      </p:sp>
      <p:sp>
        <p:nvSpPr>
          <p:cNvPr id="10" name="نقطۂ نظر 3"/>
          <p:cNvSpPr/>
          <p:nvPr/>
        </p:nvSpPr>
        <p:spPr>
          <a:xfrm>
            <a:off x="6398121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نقطۂ نظر 3</a:t>
            </a:r>
          </a:p>
          <a:p>
            <a:pPr algn="l" rtl="1"/>
            <a:endParaRPr lang="en-US"/>
          </a:p>
        </p:txBody>
      </p:sp>
      <p:sp>
        <p:nvSpPr>
          <p:cNvPr id="11" name="نقطۂ نظر 4"/>
          <p:cNvSpPr/>
          <p:nvPr/>
        </p:nvSpPr>
        <p:spPr>
          <a:xfrm>
            <a:off x="420886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نقطۂ نظر 4</a:t>
            </a:r>
          </a:p>
          <a:p>
            <a:pPr algn="l" rtl="1"/>
            <a:endParaRPr lang="en-US"/>
          </a:p>
        </p:txBody>
      </p:sp>
      <p:sp>
        <p:nvSpPr>
          <p:cNvPr id="12" name="ثبوت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sp>
        <p:nvSpPr>
          <p:cNvPr id="13" name="وہ کہاں متفق تھے؟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وہ کہاں متفق تھے؟</a:t>
            </a:r>
          </a:p>
          <a:p>
            <a:pPr algn="l" rtl="1"/>
            <a:endParaRPr lang="en-US"/>
          </a:p>
        </p:txBody>
      </p:sp>
      <p:sp>
        <p:nvSpPr>
          <p:cNvPr id="14" name="وہ کہاں مختلف تھے؟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وہ کہاں مختلف تھے؟</a:t>
            </a:r>
          </a:p>
          <a:p>
            <a:pPr algn="l" rtl="1"/>
            <a:endParaRPr lang="en-US"/>
          </a:p>
        </p:txBody>
      </p:sp>
      <p:sp>
        <p:nvSpPr>
          <p:cNvPr id="15" name="کس کی آواز غائب ہے؟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کس کی آواز غائب ہے؟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9–12: تاریخی تحقیق، زمانی ترتیب، علّت، نقطۂ نظر، ذرائع کا جائزہ، دعوے/شواہد، جغرافیائی تشریح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Perspectives and Evidence — 7 languages</dc:title>
  <dc:creator>TCEA / Miguel Guhlin</dc:creator>
  <cp:lastModifiedBy>TCEA</cp:lastModifiedBy>
</cp:coreProperties>
</file>