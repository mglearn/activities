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0058400" cy="7772400"/>
  <p:notesSz cx="7772400" cy="100584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Name: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Date: __________ Class/Period: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Compare Two Events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Grade Band: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Topic / Event: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Event A"/>
          <p:cNvSpPr/>
          <p:nvPr/>
        </p:nvSpPr>
        <p:spPr>
          <a:xfrm>
            <a:off x="420886" y="1133921"/>
            <a:ext cx="3239393" cy="95503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Event A</a:t>
            </a:r>
          </a:p>
          <a:p>
            <a:pPr algn="l"/>
            <a:endParaRPr lang="en-US"/>
          </a:p>
        </p:txBody>
      </p:sp>
      <p:sp>
        <p:nvSpPr>
          <p:cNvPr id="8" name="Event B"/>
          <p:cNvSpPr/>
          <p:nvPr/>
        </p:nvSpPr>
        <p:spPr>
          <a:xfrm>
            <a:off x="6397972" y="1133921"/>
            <a:ext cx="3239542" cy="955030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Event B</a:t>
            </a:r>
          </a:p>
          <a:p>
            <a:pPr algn="l"/>
            <a:endParaRPr lang="en-US"/>
          </a:p>
        </p:txBody>
      </p:sp>
      <p:sp>
        <p:nvSpPr>
          <p:cNvPr id="9" name="What caused it?"/>
          <p:cNvSpPr/>
          <p:nvPr/>
        </p:nvSpPr>
        <p:spPr>
          <a:xfrm>
            <a:off x="420886" y="2162026"/>
            <a:ext cx="3239393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What caused it?</a:t>
            </a:r>
          </a:p>
          <a:p>
            <a:pPr algn="l"/>
            <a:endParaRPr lang="en-US"/>
          </a:p>
        </p:txBody>
      </p:sp>
      <p:sp>
        <p:nvSpPr>
          <p:cNvPr id="10" name="Key People / Groups"/>
          <p:cNvSpPr/>
          <p:nvPr/>
        </p:nvSpPr>
        <p:spPr>
          <a:xfrm>
            <a:off x="420886" y="3066752"/>
            <a:ext cx="3239393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Key People / Groups</a:t>
            </a:r>
          </a:p>
          <a:p>
            <a:pPr algn="l"/>
            <a:endParaRPr lang="en-US"/>
          </a:p>
        </p:txBody>
      </p:sp>
      <p:sp>
        <p:nvSpPr>
          <p:cNvPr id="11" name="Similarities"/>
          <p:cNvSpPr/>
          <p:nvPr/>
        </p:nvSpPr>
        <p:spPr>
          <a:xfrm>
            <a:off x="3733354" y="2162026"/>
            <a:ext cx="2591544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Similarities</a:t>
            </a:r>
          </a:p>
          <a:p>
            <a:pPr algn="l"/>
            <a:endParaRPr lang="en-US"/>
          </a:p>
        </p:txBody>
      </p:sp>
      <p:sp>
        <p:nvSpPr>
          <p:cNvPr id="12" name="Differences"/>
          <p:cNvSpPr/>
          <p:nvPr/>
        </p:nvSpPr>
        <p:spPr>
          <a:xfrm>
            <a:off x="3733354" y="3066752"/>
            <a:ext cx="2591544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Differences</a:t>
            </a:r>
          </a:p>
          <a:p>
            <a:pPr algn="l"/>
            <a:endParaRPr lang="en-US"/>
          </a:p>
        </p:txBody>
      </p:sp>
      <p:sp>
        <p:nvSpPr>
          <p:cNvPr id="13" name="What caused it?"/>
          <p:cNvSpPr/>
          <p:nvPr/>
        </p:nvSpPr>
        <p:spPr>
          <a:xfrm>
            <a:off x="6397972" y="2162026"/>
            <a:ext cx="3239542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What caused it?</a:t>
            </a:r>
          </a:p>
          <a:p>
            <a:pPr algn="l"/>
            <a:endParaRPr lang="en-US"/>
          </a:p>
        </p:txBody>
      </p:sp>
      <p:sp>
        <p:nvSpPr>
          <p:cNvPr id="14" name="Key People / Groups"/>
          <p:cNvSpPr/>
          <p:nvPr/>
        </p:nvSpPr>
        <p:spPr>
          <a:xfrm>
            <a:off x="6397972" y="3066752"/>
            <a:ext cx="3239542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Key People / Groups</a:t>
            </a:r>
          </a:p>
          <a:p>
            <a:pPr algn="l"/>
            <a:endParaRPr lang="en-US"/>
          </a:p>
        </p:txBody>
      </p:sp>
      <p:sp>
        <p:nvSpPr>
          <p:cNvPr id="15" name="Outcomes"/>
          <p:cNvSpPr/>
          <p:nvPr/>
        </p:nvSpPr>
        <p:spPr>
          <a:xfrm>
            <a:off x="420886" y="3971479"/>
            <a:ext cx="3239393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Outcomes</a:t>
            </a:r>
          </a:p>
          <a:p>
            <a:pPr algn="l"/>
            <a:endParaRPr lang="en-US"/>
          </a:p>
        </p:txBody>
      </p:sp>
      <p:sp>
        <p:nvSpPr>
          <p:cNvPr id="16" name="Historical Significance"/>
          <p:cNvSpPr/>
          <p:nvPr/>
        </p:nvSpPr>
        <p:spPr>
          <a:xfrm>
            <a:off x="420886" y="4876205"/>
            <a:ext cx="3239393" cy="83180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Historical Significance</a:t>
            </a:r>
          </a:p>
          <a:p>
            <a:pPr algn="l"/>
            <a:endParaRPr lang="en-US"/>
          </a:p>
        </p:txBody>
      </p:sp>
      <p:sp>
        <p:nvSpPr>
          <p:cNvPr id="17" name="Which comparison matters most?"/>
          <p:cNvSpPr/>
          <p:nvPr/>
        </p:nvSpPr>
        <p:spPr>
          <a:xfrm>
            <a:off x="3733354" y="3971479"/>
            <a:ext cx="2591544" cy="173652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Which comparison matters most?</a:t>
            </a:r>
          </a:p>
          <a:p>
            <a:pPr algn="l"/>
            <a:endParaRPr lang="en-US"/>
          </a:p>
        </p:txBody>
      </p:sp>
      <p:sp>
        <p:nvSpPr>
          <p:cNvPr id="18" name="Outcomes"/>
          <p:cNvSpPr/>
          <p:nvPr/>
        </p:nvSpPr>
        <p:spPr>
          <a:xfrm>
            <a:off x="6397972" y="3971479"/>
            <a:ext cx="3239542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Outcomes</a:t>
            </a:r>
          </a:p>
          <a:p>
            <a:pPr algn="l"/>
            <a:endParaRPr lang="en-US"/>
          </a:p>
        </p:txBody>
      </p:sp>
      <p:sp>
        <p:nvSpPr>
          <p:cNvPr id="19" name="Historical Significance"/>
          <p:cNvSpPr/>
          <p:nvPr/>
        </p:nvSpPr>
        <p:spPr>
          <a:xfrm>
            <a:off x="6397972" y="4876205"/>
            <a:ext cx="3239542" cy="83180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Historical Significance</a:t>
            </a:r>
          </a:p>
          <a:p>
            <a:pPr algn="l"/>
            <a:endParaRPr lang="en-US"/>
          </a:p>
        </p:txBody>
      </p:sp>
      <p:sp>
        <p:nvSpPr>
          <p:cNvPr id="20" name="Evidence"/>
          <p:cNvSpPr/>
          <p:nvPr/>
        </p:nvSpPr>
        <p:spPr>
          <a:xfrm>
            <a:off x="420886" y="5781080"/>
            <a:ext cx="9216628" cy="627608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Evidence</a:t>
            </a:r>
          </a:p>
          <a:p>
            <a:pPr algn="l"/>
            <a:endParaRPr lang="en-US"/>
          </a:p>
        </p:txBody>
      </p:sp>
      <p:cxnSp>
        <p:nvCxnSpPr>
          <p:cNvPr id="21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22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Sources Used: 1.________________ 2.________________ 3.________________</a:t>
            </a:r>
          </a:p>
        </p:txBody>
      </p:sp>
      <p:sp>
        <p:nvSpPr>
          <p:cNvPr id="23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Skill Focus: Grades 9-12: historical inquiry, chronology, causation, perspective, source evaluation, claims/evidence, geographic interpretation, visual communication.</a:t>
            </a:r>
          </a:p>
        </p:txBody>
      </p:sp>
      <p:sp>
        <p:nvSpPr>
          <p:cNvPr id="24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Nombre: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Fecha: __________ Clase/Período: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Comparar dos eventos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Grados: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Tema / Evento: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Evento A"/>
          <p:cNvSpPr/>
          <p:nvPr/>
        </p:nvSpPr>
        <p:spPr>
          <a:xfrm>
            <a:off x="420886" y="1133921"/>
            <a:ext cx="3239393" cy="95503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Evento A</a:t>
            </a:r>
          </a:p>
          <a:p>
            <a:pPr algn="l"/>
            <a:endParaRPr lang="en-US"/>
          </a:p>
        </p:txBody>
      </p:sp>
      <p:sp>
        <p:nvSpPr>
          <p:cNvPr id="8" name="Evento B"/>
          <p:cNvSpPr/>
          <p:nvPr/>
        </p:nvSpPr>
        <p:spPr>
          <a:xfrm>
            <a:off x="6397972" y="1133921"/>
            <a:ext cx="3239542" cy="955030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Evento B</a:t>
            </a:r>
          </a:p>
          <a:p>
            <a:pPr algn="l"/>
            <a:endParaRPr lang="en-US"/>
          </a:p>
        </p:txBody>
      </p:sp>
      <p:sp>
        <p:nvSpPr>
          <p:cNvPr id="9" name="¿Qué lo causó?"/>
          <p:cNvSpPr/>
          <p:nvPr/>
        </p:nvSpPr>
        <p:spPr>
          <a:xfrm>
            <a:off x="420886" y="2162026"/>
            <a:ext cx="3239393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¿Qué lo causó?</a:t>
            </a:r>
          </a:p>
          <a:p>
            <a:pPr algn="l"/>
            <a:endParaRPr lang="en-US"/>
          </a:p>
        </p:txBody>
      </p:sp>
      <p:sp>
        <p:nvSpPr>
          <p:cNvPr id="10" name="Personas / grupos clave"/>
          <p:cNvSpPr/>
          <p:nvPr/>
        </p:nvSpPr>
        <p:spPr>
          <a:xfrm>
            <a:off x="420886" y="3066752"/>
            <a:ext cx="3239393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Personas / grupos clave</a:t>
            </a:r>
          </a:p>
          <a:p>
            <a:pPr algn="l"/>
            <a:endParaRPr lang="en-US"/>
          </a:p>
        </p:txBody>
      </p:sp>
      <p:sp>
        <p:nvSpPr>
          <p:cNvPr id="11" name="Similitudes"/>
          <p:cNvSpPr/>
          <p:nvPr/>
        </p:nvSpPr>
        <p:spPr>
          <a:xfrm>
            <a:off x="3733354" y="2162026"/>
            <a:ext cx="2591544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Similitudes</a:t>
            </a:r>
          </a:p>
          <a:p>
            <a:pPr algn="l"/>
            <a:endParaRPr lang="en-US"/>
          </a:p>
        </p:txBody>
      </p:sp>
      <p:sp>
        <p:nvSpPr>
          <p:cNvPr id="12" name="Diferencias"/>
          <p:cNvSpPr/>
          <p:nvPr/>
        </p:nvSpPr>
        <p:spPr>
          <a:xfrm>
            <a:off x="3733354" y="3066752"/>
            <a:ext cx="2591544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Diferencias</a:t>
            </a:r>
          </a:p>
          <a:p>
            <a:pPr algn="l"/>
            <a:endParaRPr lang="en-US"/>
          </a:p>
        </p:txBody>
      </p:sp>
      <p:sp>
        <p:nvSpPr>
          <p:cNvPr id="13" name="¿Qué lo causó?"/>
          <p:cNvSpPr/>
          <p:nvPr/>
        </p:nvSpPr>
        <p:spPr>
          <a:xfrm>
            <a:off x="6397972" y="2162026"/>
            <a:ext cx="3239542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¿Qué lo causó?</a:t>
            </a:r>
          </a:p>
          <a:p>
            <a:pPr algn="l"/>
            <a:endParaRPr lang="en-US"/>
          </a:p>
        </p:txBody>
      </p:sp>
      <p:sp>
        <p:nvSpPr>
          <p:cNvPr id="14" name="Personas / grupos clave"/>
          <p:cNvSpPr/>
          <p:nvPr/>
        </p:nvSpPr>
        <p:spPr>
          <a:xfrm>
            <a:off x="6397972" y="3066752"/>
            <a:ext cx="3239542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Personas / grupos clave</a:t>
            </a:r>
          </a:p>
          <a:p>
            <a:pPr algn="l"/>
            <a:endParaRPr lang="en-US"/>
          </a:p>
        </p:txBody>
      </p:sp>
      <p:sp>
        <p:nvSpPr>
          <p:cNvPr id="15" name="Resultados"/>
          <p:cNvSpPr/>
          <p:nvPr/>
        </p:nvSpPr>
        <p:spPr>
          <a:xfrm>
            <a:off x="420886" y="3971479"/>
            <a:ext cx="3239393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Resultados</a:t>
            </a:r>
          </a:p>
          <a:p>
            <a:pPr algn="l"/>
            <a:endParaRPr lang="en-US"/>
          </a:p>
        </p:txBody>
      </p:sp>
      <p:sp>
        <p:nvSpPr>
          <p:cNvPr id="16" name="Importancia histórica"/>
          <p:cNvSpPr/>
          <p:nvPr/>
        </p:nvSpPr>
        <p:spPr>
          <a:xfrm>
            <a:off x="420886" y="4876205"/>
            <a:ext cx="3239393" cy="83180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Importancia histórica</a:t>
            </a:r>
          </a:p>
          <a:p>
            <a:pPr algn="l"/>
            <a:endParaRPr lang="en-US"/>
          </a:p>
        </p:txBody>
      </p:sp>
      <p:sp>
        <p:nvSpPr>
          <p:cNvPr id="17" name="¿Qué comparación importa más?"/>
          <p:cNvSpPr/>
          <p:nvPr/>
        </p:nvSpPr>
        <p:spPr>
          <a:xfrm>
            <a:off x="3733354" y="3971479"/>
            <a:ext cx="2591544" cy="173652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¿Qué comparación importa más?</a:t>
            </a:r>
          </a:p>
          <a:p>
            <a:pPr algn="l"/>
            <a:endParaRPr lang="en-US"/>
          </a:p>
        </p:txBody>
      </p:sp>
      <p:sp>
        <p:nvSpPr>
          <p:cNvPr id="18" name="Resultados"/>
          <p:cNvSpPr/>
          <p:nvPr/>
        </p:nvSpPr>
        <p:spPr>
          <a:xfrm>
            <a:off x="6397972" y="3971479"/>
            <a:ext cx="3239542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Resultados</a:t>
            </a:r>
          </a:p>
          <a:p>
            <a:pPr algn="l"/>
            <a:endParaRPr lang="en-US"/>
          </a:p>
        </p:txBody>
      </p:sp>
      <p:sp>
        <p:nvSpPr>
          <p:cNvPr id="19" name="Importancia histórica"/>
          <p:cNvSpPr/>
          <p:nvPr/>
        </p:nvSpPr>
        <p:spPr>
          <a:xfrm>
            <a:off x="6397972" y="4876205"/>
            <a:ext cx="3239542" cy="83180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Importancia histórica</a:t>
            </a:r>
          </a:p>
          <a:p>
            <a:pPr algn="l"/>
            <a:endParaRPr lang="en-US"/>
          </a:p>
        </p:txBody>
      </p:sp>
      <p:sp>
        <p:nvSpPr>
          <p:cNvPr id="20" name="Evidencia"/>
          <p:cNvSpPr/>
          <p:nvPr/>
        </p:nvSpPr>
        <p:spPr>
          <a:xfrm>
            <a:off x="420886" y="5781080"/>
            <a:ext cx="9216628" cy="627608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Evidencia</a:t>
            </a:r>
          </a:p>
          <a:p>
            <a:pPr algn="l"/>
            <a:endParaRPr lang="en-US"/>
          </a:p>
        </p:txBody>
      </p:sp>
      <p:cxnSp>
        <p:nvCxnSpPr>
          <p:cNvPr id="21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22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Fuentes usadas: 1.________________ 2.________________ 3.________________</a:t>
            </a:r>
          </a:p>
        </p:txBody>
      </p:sp>
      <p:sp>
        <p:nvSpPr>
          <p:cNvPr id="23" name="label"/>
          <p:cNvSpPr txBox="1"/>
          <p:nvPr/>
        </p:nvSpPr>
        <p:spPr>
          <a:xfrm>
            <a:off x="2680395" y="7013228"/>
            <a:ext cx="4282494" cy="420535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Enfoque de habilidades TEKS: Grados 9–12: investigación histórica, cronología, causalidad, perspectiva, evaluación de fuentes, afirmaciones y evidencia, interpretación geográfica y comunicación visual.</a:t>
            </a:r>
          </a:p>
        </p:txBody>
      </p:sp>
      <p:sp>
        <p:nvSpPr>
          <p:cNvPr id="24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Họ tên: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Ngày: __________ Lớp/Tiết: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So sánh hai sự kiện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Khối lớp: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710803"/>
            <a:ext cx="2505039" cy="344037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Chủ đề / Sự kiện: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Sự kiện A"/>
          <p:cNvSpPr/>
          <p:nvPr/>
        </p:nvSpPr>
        <p:spPr>
          <a:xfrm>
            <a:off x="420886" y="1133921"/>
            <a:ext cx="3239393" cy="95503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Sự kiện A</a:t>
            </a:r>
          </a:p>
          <a:p>
            <a:pPr algn="l"/>
            <a:endParaRPr lang="en-US"/>
          </a:p>
        </p:txBody>
      </p:sp>
      <p:sp>
        <p:nvSpPr>
          <p:cNvPr id="8" name="Sự kiện B"/>
          <p:cNvSpPr/>
          <p:nvPr/>
        </p:nvSpPr>
        <p:spPr>
          <a:xfrm>
            <a:off x="6397972" y="1133921"/>
            <a:ext cx="3239542" cy="955030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Sự kiện B</a:t>
            </a:r>
          </a:p>
          <a:p>
            <a:pPr algn="l"/>
            <a:endParaRPr lang="en-US"/>
          </a:p>
        </p:txBody>
      </p:sp>
      <p:sp>
        <p:nvSpPr>
          <p:cNvPr id="9" name="Điều gì gây ra?"/>
          <p:cNvSpPr/>
          <p:nvPr/>
        </p:nvSpPr>
        <p:spPr>
          <a:xfrm>
            <a:off x="420886" y="2162026"/>
            <a:ext cx="3239393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Điều gì gây ra?</a:t>
            </a:r>
          </a:p>
          <a:p>
            <a:pPr algn="l"/>
            <a:endParaRPr lang="en-US"/>
          </a:p>
        </p:txBody>
      </p:sp>
      <p:sp>
        <p:nvSpPr>
          <p:cNvPr id="10" name="Nhân vật / nhóm chính"/>
          <p:cNvSpPr/>
          <p:nvPr/>
        </p:nvSpPr>
        <p:spPr>
          <a:xfrm>
            <a:off x="420886" y="3066752"/>
            <a:ext cx="3239393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Nhân vật / nhóm chính</a:t>
            </a:r>
          </a:p>
          <a:p>
            <a:pPr algn="l"/>
            <a:endParaRPr lang="en-US"/>
          </a:p>
        </p:txBody>
      </p:sp>
      <p:sp>
        <p:nvSpPr>
          <p:cNvPr id="11" name="Điểm giống"/>
          <p:cNvSpPr/>
          <p:nvPr/>
        </p:nvSpPr>
        <p:spPr>
          <a:xfrm>
            <a:off x="3733354" y="2162026"/>
            <a:ext cx="2591544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Điểm giống</a:t>
            </a:r>
          </a:p>
          <a:p>
            <a:pPr algn="l"/>
            <a:endParaRPr lang="en-US"/>
          </a:p>
        </p:txBody>
      </p:sp>
      <p:sp>
        <p:nvSpPr>
          <p:cNvPr id="12" name="Điểm khác"/>
          <p:cNvSpPr/>
          <p:nvPr/>
        </p:nvSpPr>
        <p:spPr>
          <a:xfrm>
            <a:off x="3733354" y="3066752"/>
            <a:ext cx="2591544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Điểm khác</a:t>
            </a:r>
          </a:p>
          <a:p>
            <a:pPr algn="l"/>
            <a:endParaRPr lang="en-US"/>
          </a:p>
        </p:txBody>
      </p:sp>
      <p:sp>
        <p:nvSpPr>
          <p:cNvPr id="13" name="Điều gì gây ra?"/>
          <p:cNvSpPr/>
          <p:nvPr/>
        </p:nvSpPr>
        <p:spPr>
          <a:xfrm>
            <a:off x="6397972" y="2162026"/>
            <a:ext cx="3239542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Điều gì gây ra?</a:t>
            </a:r>
          </a:p>
          <a:p>
            <a:pPr algn="l"/>
            <a:endParaRPr lang="en-US"/>
          </a:p>
        </p:txBody>
      </p:sp>
      <p:sp>
        <p:nvSpPr>
          <p:cNvPr id="14" name="Nhân vật / nhóm chính"/>
          <p:cNvSpPr/>
          <p:nvPr/>
        </p:nvSpPr>
        <p:spPr>
          <a:xfrm>
            <a:off x="6397972" y="3066752"/>
            <a:ext cx="3239542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Nhân vật / nhóm chính</a:t>
            </a:r>
          </a:p>
          <a:p>
            <a:pPr algn="l"/>
            <a:endParaRPr lang="en-US"/>
          </a:p>
        </p:txBody>
      </p:sp>
      <p:sp>
        <p:nvSpPr>
          <p:cNvPr id="15" name="Kết quả"/>
          <p:cNvSpPr/>
          <p:nvPr/>
        </p:nvSpPr>
        <p:spPr>
          <a:xfrm>
            <a:off x="420886" y="3971479"/>
            <a:ext cx="3239393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Kết quả</a:t>
            </a:r>
          </a:p>
          <a:p>
            <a:pPr algn="l"/>
            <a:endParaRPr lang="en-US"/>
          </a:p>
        </p:txBody>
      </p:sp>
      <p:sp>
        <p:nvSpPr>
          <p:cNvPr id="16" name="Ý nghĩa lịch sử"/>
          <p:cNvSpPr/>
          <p:nvPr/>
        </p:nvSpPr>
        <p:spPr>
          <a:xfrm>
            <a:off x="420886" y="4876205"/>
            <a:ext cx="3239393" cy="83180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Ý nghĩa lịch sử</a:t>
            </a:r>
          </a:p>
          <a:p>
            <a:pPr algn="l"/>
            <a:endParaRPr lang="en-US"/>
          </a:p>
        </p:txBody>
      </p:sp>
      <p:sp>
        <p:nvSpPr>
          <p:cNvPr id="17" name="So sánh nào quan trọng nhất?"/>
          <p:cNvSpPr/>
          <p:nvPr/>
        </p:nvSpPr>
        <p:spPr>
          <a:xfrm>
            <a:off x="3733354" y="3971479"/>
            <a:ext cx="2591544" cy="173652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So sánh nào quan trọng nhất?</a:t>
            </a:r>
          </a:p>
          <a:p>
            <a:pPr algn="l"/>
            <a:endParaRPr lang="en-US"/>
          </a:p>
        </p:txBody>
      </p:sp>
      <p:sp>
        <p:nvSpPr>
          <p:cNvPr id="18" name="Kết quả"/>
          <p:cNvSpPr/>
          <p:nvPr/>
        </p:nvSpPr>
        <p:spPr>
          <a:xfrm>
            <a:off x="6397972" y="3971479"/>
            <a:ext cx="3239542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Kết quả</a:t>
            </a:r>
          </a:p>
          <a:p>
            <a:pPr algn="l"/>
            <a:endParaRPr lang="en-US"/>
          </a:p>
        </p:txBody>
      </p:sp>
      <p:sp>
        <p:nvSpPr>
          <p:cNvPr id="19" name="Ý nghĩa lịch sử"/>
          <p:cNvSpPr/>
          <p:nvPr/>
        </p:nvSpPr>
        <p:spPr>
          <a:xfrm>
            <a:off x="6397972" y="4876205"/>
            <a:ext cx="3239542" cy="83180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Ý nghĩa lịch sử</a:t>
            </a:r>
          </a:p>
          <a:p>
            <a:pPr algn="l"/>
            <a:endParaRPr lang="en-US"/>
          </a:p>
        </p:txBody>
      </p:sp>
      <p:sp>
        <p:nvSpPr>
          <p:cNvPr id="20" name="Bằng chứng"/>
          <p:cNvSpPr/>
          <p:nvPr/>
        </p:nvSpPr>
        <p:spPr>
          <a:xfrm>
            <a:off x="420886" y="5781080"/>
            <a:ext cx="9216628" cy="627608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Bằng chứng</a:t>
            </a:r>
          </a:p>
          <a:p>
            <a:pPr algn="l"/>
            <a:endParaRPr lang="en-US"/>
          </a:p>
        </p:txBody>
      </p:sp>
      <p:cxnSp>
        <p:nvCxnSpPr>
          <p:cNvPr id="21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22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Nguồn đã dùng: 1.________________ 2.________________ 3.________________</a:t>
            </a:r>
          </a:p>
        </p:txBody>
      </p:sp>
      <p:sp>
        <p:nvSpPr>
          <p:cNvPr id="23" name="label"/>
          <p:cNvSpPr txBox="1"/>
          <p:nvPr/>
        </p:nvSpPr>
        <p:spPr>
          <a:xfrm>
            <a:off x="2680395" y="7013228"/>
            <a:ext cx="4282494" cy="420535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Trọng tâm kỹ năng TEKS: Khối 9–12: điều tra lịch sử, trình tự thời gian, quan hệ nhân quả, góc nhìn, đánh giá nguồn tư liệu, nhận định/bằng chứng, diễn giải địa lý và trình bày trực quan.</a:t>
            </a:r>
          </a:p>
        </p:txBody>
      </p:sp>
      <p:sp>
        <p:nvSpPr>
          <p:cNvPr id="24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姓名: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日期: __________ 班级/课时: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比较两个事件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年级段: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主题 / 事件: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事件 A"/>
          <p:cNvSpPr/>
          <p:nvPr/>
        </p:nvSpPr>
        <p:spPr>
          <a:xfrm>
            <a:off x="420886" y="1133921"/>
            <a:ext cx="3239393" cy="95503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事件 A</a:t>
            </a:r>
          </a:p>
          <a:p>
            <a:pPr algn="l"/>
            <a:endParaRPr lang="en-US"/>
          </a:p>
        </p:txBody>
      </p:sp>
      <p:sp>
        <p:nvSpPr>
          <p:cNvPr id="8" name="事件 B"/>
          <p:cNvSpPr/>
          <p:nvPr/>
        </p:nvSpPr>
        <p:spPr>
          <a:xfrm>
            <a:off x="6397972" y="1133921"/>
            <a:ext cx="3239542" cy="955030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事件 B</a:t>
            </a:r>
          </a:p>
          <a:p>
            <a:pPr algn="l"/>
            <a:endParaRPr lang="en-US"/>
          </a:p>
        </p:txBody>
      </p:sp>
      <p:sp>
        <p:nvSpPr>
          <p:cNvPr id="9" name="是什么导致的？"/>
          <p:cNvSpPr/>
          <p:nvPr/>
        </p:nvSpPr>
        <p:spPr>
          <a:xfrm>
            <a:off x="420886" y="2162026"/>
            <a:ext cx="3239393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是什么导致的？</a:t>
            </a:r>
          </a:p>
          <a:p>
            <a:pPr algn="l"/>
            <a:endParaRPr lang="en-US"/>
          </a:p>
        </p:txBody>
      </p:sp>
      <p:sp>
        <p:nvSpPr>
          <p:cNvPr id="10" name="关键人物 / 群体"/>
          <p:cNvSpPr/>
          <p:nvPr/>
        </p:nvSpPr>
        <p:spPr>
          <a:xfrm>
            <a:off x="420886" y="3066752"/>
            <a:ext cx="3239393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关键人物 / 群体</a:t>
            </a:r>
          </a:p>
          <a:p>
            <a:pPr algn="l"/>
            <a:endParaRPr lang="en-US"/>
          </a:p>
        </p:txBody>
      </p:sp>
      <p:sp>
        <p:nvSpPr>
          <p:cNvPr id="11" name="相似点"/>
          <p:cNvSpPr/>
          <p:nvPr/>
        </p:nvSpPr>
        <p:spPr>
          <a:xfrm>
            <a:off x="3733354" y="2162026"/>
            <a:ext cx="2591544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相似点</a:t>
            </a:r>
          </a:p>
          <a:p>
            <a:pPr algn="l"/>
            <a:endParaRPr lang="en-US"/>
          </a:p>
        </p:txBody>
      </p:sp>
      <p:sp>
        <p:nvSpPr>
          <p:cNvPr id="12" name="不同点"/>
          <p:cNvSpPr/>
          <p:nvPr/>
        </p:nvSpPr>
        <p:spPr>
          <a:xfrm>
            <a:off x="3733354" y="3066752"/>
            <a:ext cx="2591544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不同点</a:t>
            </a:r>
          </a:p>
          <a:p>
            <a:pPr algn="l"/>
            <a:endParaRPr lang="en-US"/>
          </a:p>
        </p:txBody>
      </p:sp>
      <p:sp>
        <p:nvSpPr>
          <p:cNvPr id="13" name="是什么导致的？"/>
          <p:cNvSpPr/>
          <p:nvPr/>
        </p:nvSpPr>
        <p:spPr>
          <a:xfrm>
            <a:off x="6397972" y="2162026"/>
            <a:ext cx="3239542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是什么导致的？</a:t>
            </a:r>
          </a:p>
          <a:p>
            <a:pPr algn="l"/>
            <a:endParaRPr lang="en-US"/>
          </a:p>
        </p:txBody>
      </p:sp>
      <p:sp>
        <p:nvSpPr>
          <p:cNvPr id="14" name="关键人物 / 群体"/>
          <p:cNvSpPr/>
          <p:nvPr/>
        </p:nvSpPr>
        <p:spPr>
          <a:xfrm>
            <a:off x="6397972" y="3066752"/>
            <a:ext cx="3239542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关键人物 / 群体</a:t>
            </a:r>
          </a:p>
          <a:p>
            <a:pPr algn="l"/>
            <a:endParaRPr lang="en-US"/>
          </a:p>
        </p:txBody>
      </p:sp>
      <p:sp>
        <p:nvSpPr>
          <p:cNvPr id="15" name="结果"/>
          <p:cNvSpPr/>
          <p:nvPr/>
        </p:nvSpPr>
        <p:spPr>
          <a:xfrm>
            <a:off x="420886" y="3971479"/>
            <a:ext cx="3239393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结果</a:t>
            </a:r>
          </a:p>
          <a:p>
            <a:pPr algn="l"/>
            <a:endParaRPr lang="en-US"/>
          </a:p>
        </p:txBody>
      </p:sp>
      <p:sp>
        <p:nvSpPr>
          <p:cNvPr id="16" name="历史意义"/>
          <p:cNvSpPr/>
          <p:nvPr/>
        </p:nvSpPr>
        <p:spPr>
          <a:xfrm>
            <a:off x="420886" y="4876205"/>
            <a:ext cx="3239393" cy="83180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历史意义</a:t>
            </a:r>
          </a:p>
          <a:p>
            <a:pPr algn="l"/>
            <a:endParaRPr lang="en-US"/>
          </a:p>
        </p:txBody>
      </p:sp>
      <p:sp>
        <p:nvSpPr>
          <p:cNvPr id="17" name="哪项比较最重要？"/>
          <p:cNvSpPr/>
          <p:nvPr/>
        </p:nvSpPr>
        <p:spPr>
          <a:xfrm>
            <a:off x="3733354" y="3971479"/>
            <a:ext cx="2591544" cy="173652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哪项比较最重要？</a:t>
            </a:r>
          </a:p>
          <a:p>
            <a:pPr algn="l"/>
            <a:endParaRPr lang="en-US"/>
          </a:p>
        </p:txBody>
      </p:sp>
      <p:sp>
        <p:nvSpPr>
          <p:cNvPr id="18" name="结果"/>
          <p:cNvSpPr/>
          <p:nvPr/>
        </p:nvSpPr>
        <p:spPr>
          <a:xfrm>
            <a:off x="6397972" y="3971479"/>
            <a:ext cx="3239542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结果</a:t>
            </a:r>
          </a:p>
          <a:p>
            <a:pPr algn="l"/>
            <a:endParaRPr lang="en-US"/>
          </a:p>
        </p:txBody>
      </p:sp>
      <p:sp>
        <p:nvSpPr>
          <p:cNvPr id="19" name="历史意义"/>
          <p:cNvSpPr/>
          <p:nvPr/>
        </p:nvSpPr>
        <p:spPr>
          <a:xfrm>
            <a:off x="6397972" y="4876205"/>
            <a:ext cx="3239542" cy="83180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历史意义</a:t>
            </a:r>
          </a:p>
          <a:p>
            <a:pPr algn="l"/>
            <a:endParaRPr lang="en-US"/>
          </a:p>
        </p:txBody>
      </p:sp>
      <p:sp>
        <p:nvSpPr>
          <p:cNvPr id="20" name="证据"/>
          <p:cNvSpPr/>
          <p:nvPr/>
        </p:nvSpPr>
        <p:spPr>
          <a:xfrm>
            <a:off x="420886" y="5781080"/>
            <a:ext cx="9216628" cy="627608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证据</a:t>
            </a:r>
          </a:p>
          <a:p>
            <a:pPr algn="l"/>
            <a:endParaRPr lang="en-US"/>
          </a:p>
        </p:txBody>
      </p:sp>
      <p:cxnSp>
        <p:nvCxnSpPr>
          <p:cNvPr id="21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22" name="label"/>
          <p:cNvSpPr txBox="1"/>
          <p:nvPr/>
        </p:nvSpPr>
        <p:spPr>
          <a:xfrm>
            <a:off x="420886" y="7019925"/>
            <a:ext cx="2204704" cy="4072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使用的资料: 1.________________ 2.________________ 3.________________</a:t>
            </a:r>
          </a:p>
        </p:txBody>
      </p:sp>
      <p:sp>
        <p:nvSpPr>
          <p:cNvPr id="23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技能重点: 9–12年级：历史探究、时间顺序、因果关系、观点、资料来源评估、主张与证据、地理解读、视觉表达。</a:t>
            </a:r>
          </a:p>
        </p:txBody>
      </p:sp>
      <p:sp>
        <p:nvSpPr>
          <p:cNvPr id="24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नाम: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तारीख: __________ कक्षा/पीरियड: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5230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दो घटनाओं की तुलना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47576"/>
            <a:ext cx="4213735" cy="2072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ग्रेड स्तर: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38051"/>
            <a:ext cx="2505039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विषय / घटना: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घटना A"/>
          <p:cNvSpPr/>
          <p:nvPr/>
        </p:nvSpPr>
        <p:spPr>
          <a:xfrm>
            <a:off x="420886" y="1133921"/>
            <a:ext cx="3239393" cy="95503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घटना A</a:t>
            </a:r>
          </a:p>
          <a:p>
            <a:pPr algn="l"/>
            <a:endParaRPr lang="en-US"/>
          </a:p>
        </p:txBody>
      </p:sp>
      <p:sp>
        <p:nvSpPr>
          <p:cNvPr id="8" name="घटना B"/>
          <p:cNvSpPr/>
          <p:nvPr/>
        </p:nvSpPr>
        <p:spPr>
          <a:xfrm>
            <a:off x="6397972" y="1133921"/>
            <a:ext cx="3239542" cy="955030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घटना B</a:t>
            </a:r>
          </a:p>
          <a:p>
            <a:pPr algn="l"/>
            <a:endParaRPr lang="en-US"/>
          </a:p>
        </p:txBody>
      </p:sp>
      <p:sp>
        <p:nvSpPr>
          <p:cNvPr id="9" name="यह क्यों हुआ?"/>
          <p:cNvSpPr/>
          <p:nvPr/>
        </p:nvSpPr>
        <p:spPr>
          <a:xfrm>
            <a:off x="420886" y="2162026"/>
            <a:ext cx="3239393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यह क्यों हुआ?</a:t>
            </a:r>
          </a:p>
          <a:p>
            <a:pPr algn="l"/>
            <a:endParaRPr lang="en-US"/>
          </a:p>
        </p:txBody>
      </p:sp>
      <p:sp>
        <p:nvSpPr>
          <p:cNvPr id="10" name="मुख्य लोग / समूह"/>
          <p:cNvSpPr/>
          <p:nvPr/>
        </p:nvSpPr>
        <p:spPr>
          <a:xfrm>
            <a:off x="420886" y="3066752"/>
            <a:ext cx="3239393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मुख्य लोग / समूह</a:t>
            </a:r>
          </a:p>
          <a:p>
            <a:pPr algn="l"/>
            <a:endParaRPr lang="en-US"/>
          </a:p>
        </p:txBody>
      </p:sp>
      <p:sp>
        <p:nvSpPr>
          <p:cNvPr id="11" name="समानताएँ"/>
          <p:cNvSpPr/>
          <p:nvPr/>
        </p:nvSpPr>
        <p:spPr>
          <a:xfrm>
            <a:off x="3733354" y="2162026"/>
            <a:ext cx="2591544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समानताएँ</a:t>
            </a:r>
          </a:p>
          <a:p>
            <a:pPr algn="l"/>
            <a:endParaRPr lang="en-US"/>
          </a:p>
        </p:txBody>
      </p:sp>
      <p:sp>
        <p:nvSpPr>
          <p:cNvPr id="12" name="अंतर"/>
          <p:cNvSpPr/>
          <p:nvPr/>
        </p:nvSpPr>
        <p:spPr>
          <a:xfrm>
            <a:off x="3733354" y="3066752"/>
            <a:ext cx="2591544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अंतर</a:t>
            </a:r>
          </a:p>
          <a:p>
            <a:pPr algn="l"/>
            <a:endParaRPr lang="en-US"/>
          </a:p>
        </p:txBody>
      </p:sp>
      <p:sp>
        <p:nvSpPr>
          <p:cNvPr id="13" name="यह क्यों हुआ?"/>
          <p:cNvSpPr/>
          <p:nvPr/>
        </p:nvSpPr>
        <p:spPr>
          <a:xfrm>
            <a:off x="6397972" y="2162026"/>
            <a:ext cx="3239542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यह क्यों हुआ?</a:t>
            </a:r>
          </a:p>
          <a:p>
            <a:pPr algn="l"/>
            <a:endParaRPr lang="en-US"/>
          </a:p>
        </p:txBody>
      </p:sp>
      <p:sp>
        <p:nvSpPr>
          <p:cNvPr id="14" name="मुख्य लोग / समूह"/>
          <p:cNvSpPr/>
          <p:nvPr/>
        </p:nvSpPr>
        <p:spPr>
          <a:xfrm>
            <a:off x="6397972" y="3066752"/>
            <a:ext cx="3239542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मुख्य लोग / समूह</a:t>
            </a:r>
          </a:p>
          <a:p>
            <a:pPr algn="l"/>
            <a:endParaRPr lang="en-US"/>
          </a:p>
        </p:txBody>
      </p:sp>
      <p:sp>
        <p:nvSpPr>
          <p:cNvPr id="15" name="परिणाम"/>
          <p:cNvSpPr/>
          <p:nvPr/>
        </p:nvSpPr>
        <p:spPr>
          <a:xfrm>
            <a:off x="420886" y="3971479"/>
            <a:ext cx="3239393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परिणाम</a:t>
            </a:r>
          </a:p>
          <a:p>
            <a:pPr algn="l"/>
            <a:endParaRPr lang="en-US"/>
          </a:p>
        </p:txBody>
      </p:sp>
      <p:sp>
        <p:nvSpPr>
          <p:cNvPr id="16" name="ऐतिहासिक महत्व"/>
          <p:cNvSpPr/>
          <p:nvPr/>
        </p:nvSpPr>
        <p:spPr>
          <a:xfrm>
            <a:off x="420886" y="4876205"/>
            <a:ext cx="3239393" cy="83180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ऐतिहासिक महत्व</a:t>
            </a:r>
          </a:p>
          <a:p>
            <a:pPr algn="l"/>
            <a:endParaRPr lang="en-US"/>
          </a:p>
        </p:txBody>
      </p:sp>
      <p:sp>
        <p:nvSpPr>
          <p:cNvPr id="17" name="कौन-सी तुलना सबसे महत्वपूर्ण है?"/>
          <p:cNvSpPr/>
          <p:nvPr/>
        </p:nvSpPr>
        <p:spPr>
          <a:xfrm>
            <a:off x="3733354" y="3971479"/>
            <a:ext cx="2591544" cy="173652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कौन-सी तुलना सबसे महत्वपूर्ण है?</a:t>
            </a:r>
          </a:p>
          <a:p>
            <a:pPr algn="l"/>
            <a:endParaRPr lang="en-US"/>
          </a:p>
        </p:txBody>
      </p:sp>
      <p:sp>
        <p:nvSpPr>
          <p:cNvPr id="18" name="परिणाम"/>
          <p:cNvSpPr/>
          <p:nvPr/>
        </p:nvSpPr>
        <p:spPr>
          <a:xfrm>
            <a:off x="6397972" y="3971479"/>
            <a:ext cx="3239542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परिणाम</a:t>
            </a:r>
          </a:p>
          <a:p>
            <a:pPr algn="l"/>
            <a:endParaRPr lang="en-US"/>
          </a:p>
        </p:txBody>
      </p:sp>
      <p:sp>
        <p:nvSpPr>
          <p:cNvPr id="19" name="ऐतिहासिक महत्व"/>
          <p:cNvSpPr/>
          <p:nvPr/>
        </p:nvSpPr>
        <p:spPr>
          <a:xfrm>
            <a:off x="6397972" y="4876205"/>
            <a:ext cx="3239542" cy="83180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ऐतिहासिक महत्व</a:t>
            </a:r>
          </a:p>
          <a:p>
            <a:pPr algn="l"/>
            <a:endParaRPr lang="en-US"/>
          </a:p>
        </p:txBody>
      </p:sp>
      <p:sp>
        <p:nvSpPr>
          <p:cNvPr id="20" name="प्रमाण"/>
          <p:cNvSpPr/>
          <p:nvPr/>
        </p:nvSpPr>
        <p:spPr>
          <a:xfrm>
            <a:off x="420886" y="5781080"/>
            <a:ext cx="9216628" cy="627608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प्रमाण</a:t>
            </a:r>
          </a:p>
          <a:p>
            <a:pPr algn="l"/>
            <a:endParaRPr lang="en-US"/>
          </a:p>
        </p:txBody>
      </p:sp>
      <p:cxnSp>
        <p:nvCxnSpPr>
          <p:cNvPr id="21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22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उपयोग किए गए स्रोत: 1.________________ 2.________________ 3.________________</a:t>
            </a:r>
          </a:p>
        </p:txBody>
      </p:sp>
      <p:sp>
        <p:nvSpPr>
          <p:cNvPr id="23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कौशल फोकस: कक्षा 9–12: ऐतिहासिक अन्वेषण, कालक्रम, कारण-कार्य संबंध, दृष्टिकोण, स्रोत मूल्यांकन, दावे/प्रमाण, भौगोलिक व्याख्या और दृश्य संचार।</a:t>
            </a:r>
          </a:p>
        </p:txBody>
      </p:sp>
      <p:sp>
        <p:nvSpPr>
          <p:cNvPr id="24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الاسم: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التاريخ: __________ الصف/الحصة: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مقارنة حدثين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المرحلة: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الموضوع / الحدث: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الحدث أ"/>
          <p:cNvSpPr/>
          <p:nvPr/>
        </p:nvSpPr>
        <p:spPr>
          <a:xfrm>
            <a:off x="6398121" y="1133921"/>
            <a:ext cx="3239393" cy="95503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الحدث أ</a:t>
            </a:r>
          </a:p>
          <a:p>
            <a:pPr algn="l" rtl="1"/>
            <a:endParaRPr lang="en-US"/>
          </a:p>
        </p:txBody>
      </p:sp>
      <p:sp>
        <p:nvSpPr>
          <p:cNvPr id="8" name="الحدث ب"/>
          <p:cNvSpPr/>
          <p:nvPr/>
        </p:nvSpPr>
        <p:spPr>
          <a:xfrm>
            <a:off x="420886" y="1133921"/>
            <a:ext cx="3239542" cy="955030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الحدث ب</a:t>
            </a:r>
          </a:p>
          <a:p>
            <a:pPr algn="l" rtl="1"/>
            <a:endParaRPr lang="en-US"/>
          </a:p>
        </p:txBody>
      </p:sp>
      <p:sp>
        <p:nvSpPr>
          <p:cNvPr id="9" name="ما الذي سببه؟"/>
          <p:cNvSpPr/>
          <p:nvPr/>
        </p:nvSpPr>
        <p:spPr>
          <a:xfrm>
            <a:off x="6398121" y="2162026"/>
            <a:ext cx="3239393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ما الذي سببه؟</a:t>
            </a:r>
          </a:p>
          <a:p>
            <a:pPr algn="l" rtl="1"/>
            <a:endParaRPr lang="en-US"/>
          </a:p>
        </p:txBody>
      </p:sp>
      <p:sp>
        <p:nvSpPr>
          <p:cNvPr id="10" name="أشخاص / مجموعات رئيسية"/>
          <p:cNvSpPr/>
          <p:nvPr/>
        </p:nvSpPr>
        <p:spPr>
          <a:xfrm>
            <a:off x="6398121" y="3066752"/>
            <a:ext cx="3239393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أشخاص / مجموعات رئيسية</a:t>
            </a:r>
          </a:p>
          <a:p>
            <a:pPr algn="l" rtl="1"/>
            <a:endParaRPr lang="en-US"/>
          </a:p>
        </p:txBody>
      </p:sp>
      <p:sp>
        <p:nvSpPr>
          <p:cNvPr id="11" name="أوجه التشابه"/>
          <p:cNvSpPr/>
          <p:nvPr/>
        </p:nvSpPr>
        <p:spPr>
          <a:xfrm>
            <a:off x="3733502" y="2162026"/>
            <a:ext cx="2591544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أوجه التشابه</a:t>
            </a:r>
          </a:p>
          <a:p>
            <a:pPr algn="l" rtl="1"/>
            <a:endParaRPr lang="en-US"/>
          </a:p>
        </p:txBody>
      </p:sp>
      <p:sp>
        <p:nvSpPr>
          <p:cNvPr id="12" name="أوجه الاختلاف"/>
          <p:cNvSpPr/>
          <p:nvPr/>
        </p:nvSpPr>
        <p:spPr>
          <a:xfrm>
            <a:off x="3733502" y="3066752"/>
            <a:ext cx="2591544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أوجه الاختلاف</a:t>
            </a:r>
          </a:p>
          <a:p>
            <a:pPr algn="l" rtl="1"/>
            <a:endParaRPr lang="en-US"/>
          </a:p>
        </p:txBody>
      </p:sp>
      <p:sp>
        <p:nvSpPr>
          <p:cNvPr id="13" name="ما الذي سببه؟"/>
          <p:cNvSpPr/>
          <p:nvPr/>
        </p:nvSpPr>
        <p:spPr>
          <a:xfrm>
            <a:off x="420886" y="2162026"/>
            <a:ext cx="3239542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ما الذي سببه؟</a:t>
            </a:r>
          </a:p>
          <a:p>
            <a:pPr algn="l" rtl="1"/>
            <a:endParaRPr lang="en-US"/>
          </a:p>
        </p:txBody>
      </p:sp>
      <p:sp>
        <p:nvSpPr>
          <p:cNvPr id="14" name="أشخاص / مجموعات رئيسية"/>
          <p:cNvSpPr/>
          <p:nvPr/>
        </p:nvSpPr>
        <p:spPr>
          <a:xfrm>
            <a:off x="420886" y="3066752"/>
            <a:ext cx="3239542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أشخاص / مجموعات رئيسية</a:t>
            </a:r>
          </a:p>
          <a:p>
            <a:pPr algn="l" rtl="1"/>
            <a:endParaRPr lang="en-US"/>
          </a:p>
        </p:txBody>
      </p:sp>
      <p:sp>
        <p:nvSpPr>
          <p:cNvPr id="15" name="النتائج"/>
          <p:cNvSpPr/>
          <p:nvPr/>
        </p:nvSpPr>
        <p:spPr>
          <a:xfrm>
            <a:off x="6398121" y="3971479"/>
            <a:ext cx="3239393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النتائج</a:t>
            </a:r>
          </a:p>
          <a:p>
            <a:pPr algn="l" rtl="1"/>
            <a:endParaRPr lang="en-US"/>
          </a:p>
        </p:txBody>
      </p:sp>
      <p:sp>
        <p:nvSpPr>
          <p:cNvPr id="16" name="الأهمية التاريخية"/>
          <p:cNvSpPr/>
          <p:nvPr/>
        </p:nvSpPr>
        <p:spPr>
          <a:xfrm>
            <a:off x="6398121" y="4876205"/>
            <a:ext cx="3239393" cy="83180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الأهمية التاريخية</a:t>
            </a:r>
          </a:p>
          <a:p>
            <a:pPr algn="l" rtl="1"/>
            <a:endParaRPr lang="en-US"/>
          </a:p>
        </p:txBody>
      </p:sp>
      <p:sp>
        <p:nvSpPr>
          <p:cNvPr id="17" name="أي مقارنة هي الأهم؟"/>
          <p:cNvSpPr/>
          <p:nvPr/>
        </p:nvSpPr>
        <p:spPr>
          <a:xfrm>
            <a:off x="3733502" y="3971479"/>
            <a:ext cx="2591544" cy="173652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أي مقارنة هي الأهم؟</a:t>
            </a:r>
          </a:p>
          <a:p>
            <a:pPr algn="l" rtl="1"/>
            <a:endParaRPr lang="en-US"/>
          </a:p>
        </p:txBody>
      </p:sp>
      <p:sp>
        <p:nvSpPr>
          <p:cNvPr id="18" name="النتائج"/>
          <p:cNvSpPr/>
          <p:nvPr/>
        </p:nvSpPr>
        <p:spPr>
          <a:xfrm>
            <a:off x="420886" y="3971479"/>
            <a:ext cx="3239542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النتائج</a:t>
            </a:r>
          </a:p>
          <a:p>
            <a:pPr algn="l" rtl="1"/>
            <a:endParaRPr lang="en-US"/>
          </a:p>
        </p:txBody>
      </p:sp>
      <p:sp>
        <p:nvSpPr>
          <p:cNvPr id="19" name="الأهمية التاريخية"/>
          <p:cNvSpPr/>
          <p:nvPr/>
        </p:nvSpPr>
        <p:spPr>
          <a:xfrm>
            <a:off x="420886" y="4876205"/>
            <a:ext cx="3239542" cy="83180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الأهمية التاريخية</a:t>
            </a:r>
          </a:p>
          <a:p>
            <a:pPr algn="l" rtl="1"/>
            <a:endParaRPr lang="en-US"/>
          </a:p>
        </p:txBody>
      </p:sp>
      <p:sp>
        <p:nvSpPr>
          <p:cNvPr id="20" name="الدليل"/>
          <p:cNvSpPr/>
          <p:nvPr/>
        </p:nvSpPr>
        <p:spPr>
          <a:xfrm>
            <a:off x="420886" y="5781080"/>
            <a:ext cx="9216628" cy="627608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الدليل</a:t>
            </a:r>
          </a:p>
          <a:p>
            <a:pPr algn="l" rtl="1"/>
            <a:endParaRPr lang="en-US"/>
          </a:p>
        </p:txBody>
      </p:sp>
      <p:cxnSp>
        <p:nvCxnSpPr>
          <p:cNvPr id="21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22" name="label"/>
          <p:cNvSpPr txBox="1"/>
          <p:nvPr/>
        </p:nvSpPr>
        <p:spPr>
          <a:xfrm>
            <a:off x="7469386" y="7004298"/>
            <a:ext cx="2204704" cy="6168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المصادر المستخدمة: 1.________________ 2.________________ 3.________________</a:t>
            </a:r>
          </a:p>
        </p:txBody>
      </p:sp>
      <p:sp>
        <p:nvSpPr>
          <p:cNvPr id="23" name="label"/>
          <p:cNvSpPr txBox="1"/>
          <p:nvPr/>
        </p:nvSpPr>
        <p:spPr>
          <a:xfrm>
            <a:off x="3132088" y="716339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تركيز مهارات TEKS: الصفوف 9–12: الاستقصاء التاريخي، التسلسل الزمني، السببية، المنظور، تقييم المصادر، الادعاءات والأدلة، التفسير الجغرافي، والتواصل البصري.</a:t>
            </a:r>
          </a:p>
        </p:txBody>
      </p:sp>
      <p:sp>
        <p:nvSpPr>
          <p:cNvPr id="24" name="label"/>
          <p:cNvSpPr txBox="1"/>
          <p:nvPr/>
        </p:nvSpPr>
        <p:spPr>
          <a:xfrm>
            <a:off x="420886" y="723349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نام: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تاریخ: __________ کلاس/پیریڈ: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دو واقعات کا موازنہ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جماعتی سطح: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موضوع / واقعہ: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واقعہ الف"/>
          <p:cNvSpPr/>
          <p:nvPr/>
        </p:nvSpPr>
        <p:spPr>
          <a:xfrm>
            <a:off x="6398121" y="1133921"/>
            <a:ext cx="3239393" cy="95503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واقعہ الف</a:t>
            </a:r>
          </a:p>
          <a:p>
            <a:pPr algn="l" rtl="1"/>
            <a:endParaRPr lang="en-US"/>
          </a:p>
        </p:txBody>
      </p:sp>
      <p:sp>
        <p:nvSpPr>
          <p:cNvPr id="8" name="واقعہ ب"/>
          <p:cNvSpPr/>
          <p:nvPr/>
        </p:nvSpPr>
        <p:spPr>
          <a:xfrm>
            <a:off x="420886" y="1133921"/>
            <a:ext cx="3239542" cy="955030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واقعہ ب</a:t>
            </a:r>
          </a:p>
          <a:p>
            <a:pPr algn="l" rtl="1"/>
            <a:endParaRPr lang="en-US"/>
          </a:p>
        </p:txBody>
      </p:sp>
      <p:sp>
        <p:nvSpPr>
          <p:cNvPr id="9" name="اس کی وجہ کیا تھی؟"/>
          <p:cNvSpPr/>
          <p:nvPr/>
        </p:nvSpPr>
        <p:spPr>
          <a:xfrm>
            <a:off x="6398121" y="2162026"/>
            <a:ext cx="3239393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اس کی وجہ کیا تھی؟</a:t>
            </a:r>
          </a:p>
          <a:p>
            <a:pPr algn="l" rtl="1"/>
            <a:endParaRPr lang="en-US"/>
          </a:p>
        </p:txBody>
      </p:sp>
      <p:sp>
        <p:nvSpPr>
          <p:cNvPr id="10" name="اہم لوگ / گروہ"/>
          <p:cNvSpPr/>
          <p:nvPr/>
        </p:nvSpPr>
        <p:spPr>
          <a:xfrm>
            <a:off x="6398121" y="3066752"/>
            <a:ext cx="3239393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اہم لوگ / گروہ</a:t>
            </a:r>
          </a:p>
          <a:p>
            <a:pPr algn="l" rtl="1"/>
            <a:endParaRPr lang="en-US"/>
          </a:p>
        </p:txBody>
      </p:sp>
      <p:sp>
        <p:nvSpPr>
          <p:cNvPr id="11" name="مماثلتیں"/>
          <p:cNvSpPr/>
          <p:nvPr/>
        </p:nvSpPr>
        <p:spPr>
          <a:xfrm>
            <a:off x="3733502" y="2162026"/>
            <a:ext cx="2591544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مماثلتیں</a:t>
            </a:r>
          </a:p>
          <a:p>
            <a:pPr algn="l" rtl="1"/>
            <a:endParaRPr lang="en-US"/>
          </a:p>
        </p:txBody>
      </p:sp>
      <p:sp>
        <p:nvSpPr>
          <p:cNvPr id="12" name="اختلافات"/>
          <p:cNvSpPr/>
          <p:nvPr/>
        </p:nvSpPr>
        <p:spPr>
          <a:xfrm>
            <a:off x="3733502" y="3066752"/>
            <a:ext cx="2591544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اختلافات</a:t>
            </a:r>
          </a:p>
          <a:p>
            <a:pPr algn="l" rtl="1"/>
            <a:endParaRPr lang="en-US"/>
          </a:p>
        </p:txBody>
      </p:sp>
      <p:sp>
        <p:nvSpPr>
          <p:cNvPr id="13" name="اس کی وجہ کیا تھی؟"/>
          <p:cNvSpPr/>
          <p:nvPr/>
        </p:nvSpPr>
        <p:spPr>
          <a:xfrm>
            <a:off x="420886" y="2162026"/>
            <a:ext cx="3239542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اس کی وجہ کیا تھی؟</a:t>
            </a:r>
          </a:p>
          <a:p>
            <a:pPr algn="l" rtl="1"/>
            <a:endParaRPr lang="en-US"/>
          </a:p>
        </p:txBody>
      </p:sp>
      <p:sp>
        <p:nvSpPr>
          <p:cNvPr id="14" name="اہم لوگ / گروہ"/>
          <p:cNvSpPr/>
          <p:nvPr/>
        </p:nvSpPr>
        <p:spPr>
          <a:xfrm>
            <a:off x="420886" y="3066752"/>
            <a:ext cx="3239542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اہم لوگ / گروہ</a:t>
            </a:r>
          </a:p>
          <a:p>
            <a:pPr algn="l" rtl="1"/>
            <a:endParaRPr lang="en-US"/>
          </a:p>
        </p:txBody>
      </p:sp>
      <p:sp>
        <p:nvSpPr>
          <p:cNvPr id="15" name="نتائج"/>
          <p:cNvSpPr/>
          <p:nvPr/>
        </p:nvSpPr>
        <p:spPr>
          <a:xfrm>
            <a:off x="6398121" y="3971479"/>
            <a:ext cx="3239393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نتائج</a:t>
            </a:r>
          </a:p>
          <a:p>
            <a:pPr algn="l" rtl="1"/>
            <a:endParaRPr lang="en-US"/>
          </a:p>
        </p:txBody>
      </p:sp>
      <p:sp>
        <p:nvSpPr>
          <p:cNvPr id="16" name="تاریخی اہمیت"/>
          <p:cNvSpPr/>
          <p:nvPr/>
        </p:nvSpPr>
        <p:spPr>
          <a:xfrm>
            <a:off x="6398121" y="4876205"/>
            <a:ext cx="3239393" cy="83180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تاریخی اہمیت</a:t>
            </a:r>
          </a:p>
          <a:p>
            <a:pPr algn="l" rtl="1"/>
            <a:endParaRPr lang="en-US"/>
          </a:p>
        </p:txBody>
      </p:sp>
      <p:sp>
        <p:nvSpPr>
          <p:cNvPr id="17" name="کون سا موازنہ سب سے اہم ہے؟"/>
          <p:cNvSpPr/>
          <p:nvPr/>
        </p:nvSpPr>
        <p:spPr>
          <a:xfrm>
            <a:off x="3733502" y="3971479"/>
            <a:ext cx="2591544" cy="173652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کون سا موازنہ سب سے اہم ہے؟</a:t>
            </a:r>
          </a:p>
          <a:p>
            <a:pPr algn="l" rtl="1"/>
            <a:endParaRPr lang="en-US"/>
          </a:p>
        </p:txBody>
      </p:sp>
      <p:sp>
        <p:nvSpPr>
          <p:cNvPr id="18" name="نتائج"/>
          <p:cNvSpPr/>
          <p:nvPr/>
        </p:nvSpPr>
        <p:spPr>
          <a:xfrm>
            <a:off x="420886" y="3971479"/>
            <a:ext cx="3239542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نتائج</a:t>
            </a:r>
          </a:p>
          <a:p>
            <a:pPr algn="l" rtl="1"/>
            <a:endParaRPr lang="en-US"/>
          </a:p>
        </p:txBody>
      </p:sp>
      <p:sp>
        <p:nvSpPr>
          <p:cNvPr id="19" name="تاریخی اہمیت"/>
          <p:cNvSpPr/>
          <p:nvPr/>
        </p:nvSpPr>
        <p:spPr>
          <a:xfrm>
            <a:off x="420886" y="4876205"/>
            <a:ext cx="3239542" cy="83180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تاریخی اہمیت</a:t>
            </a:r>
          </a:p>
          <a:p>
            <a:pPr algn="l" rtl="1"/>
            <a:endParaRPr lang="en-US"/>
          </a:p>
        </p:txBody>
      </p:sp>
      <p:sp>
        <p:nvSpPr>
          <p:cNvPr id="20" name="ثبوت"/>
          <p:cNvSpPr/>
          <p:nvPr/>
        </p:nvSpPr>
        <p:spPr>
          <a:xfrm>
            <a:off x="420886" y="5781080"/>
            <a:ext cx="9216628" cy="627608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ثبوت</a:t>
            </a:r>
          </a:p>
          <a:p>
            <a:pPr algn="l" rtl="1"/>
            <a:endParaRPr lang="en-US"/>
          </a:p>
        </p:txBody>
      </p:sp>
      <p:cxnSp>
        <p:nvCxnSpPr>
          <p:cNvPr id="21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22" name="label"/>
          <p:cNvSpPr txBox="1"/>
          <p:nvPr/>
        </p:nvSpPr>
        <p:spPr>
          <a:xfrm>
            <a:off x="7469386" y="7004298"/>
            <a:ext cx="2204704" cy="5025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استعمال شدہ ذرائع: 1.________________ 2.________________ 3.________________</a:t>
            </a:r>
          </a:p>
        </p:txBody>
      </p:sp>
      <p:sp>
        <p:nvSpPr>
          <p:cNvPr id="23" name="label"/>
          <p:cNvSpPr txBox="1"/>
          <p:nvPr/>
        </p:nvSpPr>
        <p:spPr>
          <a:xfrm>
            <a:off x="3132088" y="710624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مہارت کا مرکز: جماعت 9–12: تاریخی تحقیق، زمانی ترتیب، علّت، نقطۂ نظر، ذرائع کا جائزہ، دعوے/شواہد، جغرافیائی تشریح اور بصری ابلاغ۔</a:t>
            </a:r>
          </a:p>
        </p:txBody>
      </p:sp>
      <p:sp>
        <p:nvSpPr>
          <p:cNvPr id="24" name="label"/>
          <p:cNvSpPr txBox="1"/>
          <p:nvPr/>
        </p:nvSpPr>
        <p:spPr>
          <a:xfrm>
            <a:off x="420886" y="717634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23266"/>
      </a:dk2>
      <a:lt2>
        <a:srgbClr val="F4F8FC"/>
      </a:lt2>
      <a:accent1>
        <a:srgbClr val="054C8C"/>
      </a:accent1>
      <a:accent2>
        <a:srgbClr val="FBD239"/>
      </a:accent2>
      <a:accent3>
        <a:srgbClr val="238A8D"/>
      </a:accent3>
      <a:accent4>
        <a:srgbClr val="6D5AA8"/>
      </a:accent4>
      <a:accent5>
        <a:srgbClr val="D97A28"/>
      </a:accent5>
      <a:accent6>
        <a:srgbClr val="5A8F52"/>
      </a:accent6>
      <a:hlink>
        <a:srgbClr val="054C8C"/>
      </a:hlink>
      <a:folHlink>
        <a:srgbClr val="6D5AA8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History Event Maps</Application>
  <Slides>7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Compare Two Events — 7 languages</dc:title>
  <dc:creator>TCEA / Miguel Guhlin</dc:creator>
  <cp:lastModifiedBy>TCEA</cp:lastModifiedBy>
</cp:coreProperties>
</file>