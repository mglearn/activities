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0058400" cy="7772400"/>
  <p:notesSz cx="7772400" cy="100584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संक्षेप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यह क्यों हुआ?"/>
          <p:cNvSpPr/>
          <p:nvPr/>
        </p:nvSpPr>
        <p:spPr>
          <a:xfrm>
            <a:off x="420886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क्यों हुआ?</a:t>
            </a:r>
          </a:p>
          <a:p>
            <a:pPr algn="l"/>
            <a:endParaRPr lang="en-US"/>
          </a:p>
        </p:txBody>
      </p:sp>
      <p:sp>
        <p:nvSpPr>
          <p:cNvPr id="8" name="यह महत्वपूर्ण क्यों था?"/>
          <p:cNvSpPr/>
          <p:nvPr/>
        </p:nvSpPr>
        <p:spPr>
          <a:xfrm>
            <a:off x="3373338" y="1133921"/>
            <a:ext cx="3311575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महत्वपूर्ण क्यों था?</a:t>
            </a:r>
          </a:p>
          <a:p>
            <a:pPr algn="l"/>
            <a:endParaRPr lang="en-US"/>
          </a:p>
        </p:txBody>
      </p:sp>
      <p:sp>
        <p:nvSpPr>
          <p:cNvPr id="9" name="अंत में क्या हुआ?"/>
          <p:cNvSpPr/>
          <p:nvPr/>
        </p:nvSpPr>
        <p:spPr>
          <a:xfrm>
            <a:off x="6757988" y="1133921"/>
            <a:ext cx="287937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अंत में क्या हुआ?</a:t>
            </a:r>
          </a:p>
          <a:p>
            <a:pPr algn="l"/>
            <a:endParaRPr lang="en-US"/>
          </a:p>
        </p:txBody>
      </p:sp>
      <p:sp>
        <p:nvSpPr>
          <p:cNvPr id="10" name="यह कैसे हुआ?"/>
          <p:cNvSpPr/>
          <p:nvPr/>
        </p:nvSpPr>
        <p:spPr>
          <a:xfrm>
            <a:off x="420886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कैसे हुआ?</a:t>
            </a:r>
          </a:p>
          <a:p>
            <a:pPr algn="l"/>
            <a:endParaRPr lang="en-US"/>
          </a:p>
        </p:txBody>
      </p:sp>
      <p:sp>
        <p:nvSpPr>
          <p:cNvPr id="11" name="घटना"/>
          <p:cNvSpPr/>
          <p:nvPr/>
        </p:nvSpPr>
        <p:spPr>
          <a:xfrm>
            <a:off x="3373338" y="3257550"/>
            <a:ext cx="3311575" cy="1476375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12" name="यह कब हुआ?"/>
          <p:cNvSpPr/>
          <p:nvPr/>
        </p:nvSpPr>
        <p:spPr>
          <a:xfrm>
            <a:off x="6757988" y="3257550"/>
            <a:ext cx="2879378" cy="14763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कब हुआ?</a:t>
            </a:r>
          </a:p>
          <a:p>
            <a:pPr algn="l"/>
            <a:endParaRPr lang="en-US"/>
          </a:p>
        </p:txBody>
      </p:sp>
      <p:sp>
        <p:nvSpPr>
          <p:cNvPr id="13" name="कौन शामिल था?"/>
          <p:cNvSpPr/>
          <p:nvPr/>
        </p:nvSpPr>
        <p:spPr>
          <a:xfrm>
            <a:off x="420886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कौन शामिल था?</a:t>
            </a:r>
          </a:p>
          <a:p>
            <a:pPr algn="l"/>
            <a:endParaRPr lang="en-US"/>
          </a:p>
        </p:txBody>
      </p:sp>
      <p:sp>
        <p:nvSpPr>
          <p:cNvPr id="14" name="यह कहाँ हुआ?"/>
          <p:cNvSpPr/>
          <p:nvPr/>
        </p:nvSpPr>
        <p:spPr>
          <a:xfrm>
            <a:off x="3373338" y="4807000"/>
            <a:ext cx="3311575" cy="205070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कहाँ हुआ?</a:t>
            </a:r>
          </a:p>
          <a:p>
            <a:pPr algn="l"/>
            <a:endParaRPr lang="en-US"/>
          </a:p>
        </p:txBody>
      </p:sp>
      <p:sp>
        <p:nvSpPr>
          <p:cNvPr id="15" name="आप क्या निष्कर्ष निकाल सकते हैं?"/>
          <p:cNvSpPr/>
          <p:nvPr/>
        </p:nvSpPr>
        <p:spPr>
          <a:xfrm>
            <a:off x="6757988" y="4807000"/>
            <a:ext cx="2879378" cy="205070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आप क्या निष्कर्ष निकाल सकते हैं?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कारण → घटना → प्रभाव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यह महत्वपूर्ण क्यों था?"/>
          <p:cNvSpPr/>
          <p:nvPr/>
        </p:nvSpPr>
        <p:spPr>
          <a:xfrm>
            <a:off x="3379887" y="1133921"/>
            <a:ext cx="3298478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महत्वपूर्ण क्यों था?</a:t>
            </a:r>
          </a:p>
          <a:p>
            <a:pPr algn="l"/>
            <a:endParaRPr lang="en-US"/>
          </a:p>
        </p:txBody>
      </p:sp>
      <p:sp>
        <p:nvSpPr>
          <p:cNvPr id="8" name="यह क्यों हुआ?"/>
          <p:cNvSpPr/>
          <p:nvPr/>
        </p:nvSpPr>
        <p:spPr>
          <a:xfrm>
            <a:off x="420886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क्यों हुआ?</a:t>
            </a:r>
          </a:p>
        </p:txBody>
      </p:sp>
      <p:sp>
        <p:nvSpPr>
          <p:cNvPr id="9" name="घटना"/>
          <p:cNvSpPr/>
          <p:nvPr/>
        </p:nvSpPr>
        <p:spPr>
          <a:xfrm>
            <a:off x="3379887" y="2849761"/>
            <a:ext cx="3298478" cy="1469975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तुरंत प्रभाव"/>
          <p:cNvSpPr/>
          <p:nvPr/>
        </p:nvSpPr>
        <p:spPr>
          <a:xfrm>
            <a:off x="6751439" y="2849761"/>
            <a:ext cx="2885926" cy="1469975"/>
          </a:xfrm>
          <a:prstGeom prst="ellipse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तुरंत प्रभाव</a:t>
            </a:r>
          </a:p>
        </p:txBody>
      </p:sp>
      <p:sp>
        <p:nvSpPr>
          <p:cNvPr id="11" name="कौन शामिल था?"/>
          <p:cNvSpPr/>
          <p:nvPr/>
        </p:nvSpPr>
        <p:spPr>
          <a:xfrm>
            <a:off x="420886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कौन शामिल था?</a:t>
            </a:r>
          </a:p>
          <a:p>
            <a:pPr algn="l"/>
            <a:endParaRPr lang="en-US"/>
          </a:p>
        </p:txBody>
      </p:sp>
      <p:sp>
        <p:nvSpPr>
          <p:cNvPr id="12" name="बाद के / दीर्घकालिक प्रभाव"/>
          <p:cNvSpPr/>
          <p:nvPr/>
        </p:nvSpPr>
        <p:spPr>
          <a:xfrm>
            <a:off x="6751439" y="439281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बाद के / दीर्घकालिक प्रभाव</a:t>
            </a:r>
          </a:p>
          <a:p>
            <a:pPr algn="l"/>
            <a:endParaRPr lang="en-US"/>
          </a:p>
        </p:txBody>
      </p:sp>
      <p:sp>
        <p:nvSpPr>
          <p:cNvPr id="13" name="आप क्या निष्कर्ष निकाल सकते हैं?"/>
          <p:cNvSpPr/>
          <p:nvPr/>
        </p:nvSpPr>
        <p:spPr>
          <a:xfrm>
            <a:off x="3379887" y="6195120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आप क्या निष्कर्ष निकाल सकते हैं?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क्रम पथ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क्रम (घटनाओं का क्रम)"/>
          <p:cNvSpPr/>
          <p:nvPr/>
        </p:nvSpPr>
        <p:spPr>
          <a:xfrm>
            <a:off x="420886" y="4455468"/>
            <a:ext cx="9216628" cy="240223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क्रम (घटनाओं का क्रम)</a:t>
            </a:r>
          </a:p>
          <a:p>
            <a:pPr algn="ctr"/>
            <a:endParaRPr lang="en-US"/>
          </a:p>
        </p:txBody>
      </p:sp>
      <p:sp>
        <p:nvSpPr>
          <p:cNvPr id="8" name="यह कहाँ हुआ?"/>
          <p:cNvSpPr/>
          <p:nvPr/>
        </p:nvSpPr>
        <p:spPr>
          <a:xfrm>
            <a:off x="420886" y="1133921"/>
            <a:ext cx="2885926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कहाँ हुआ?</a:t>
            </a:r>
          </a:p>
          <a:p>
            <a:pPr algn="l"/>
            <a:endParaRPr lang="en-US"/>
          </a:p>
        </p:txBody>
      </p:sp>
      <p:sp>
        <p:nvSpPr>
          <p:cNvPr id="9" name="घटना"/>
          <p:cNvSpPr/>
          <p:nvPr/>
        </p:nvSpPr>
        <p:spPr>
          <a:xfrm>
            <a:off x="3379887" y="1133921"/>
            <a:ext cx="3298478" cy="206737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0" name="यह कब हुआ?"/>
          <p:cNvSpPr/>
          <p:nvPr/>
        </p:nvSpPr>
        <p:spPr>
          <a:xfrm>
            <a:off x="6751439" y="1133921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कब हुआ?</a:t>
            </a:r>
          </a:p>
          <a:p>
            <a:pPr algn="l"/>
            <a:endParaRPr lang="en-US"/>
          </a:p>
        </p:txBody>
      </p:sp>
      <p:sp>
        <p:nvSpPr>
          <p:cNvPr id="11" name="शुरुआत"/>
          <p:cNvSpPr/>
          <p:nvPr/>
        </p:nvSpPr>
        <p:spPr>
          <a:xfrm>
            <a:off x="420886" y="2259509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शुरुआत</a:t>
            </a:r>
          </a:p>
          <a:p>
            <a:pPr algn="l"/>
            <a:endParaRPr lang="en-US"/>
          </a:p>
        </p:txBody>
      </p:sp>
      <p:sp>
        <p:nvSpPr>
          <p:cNvPr id="12" name="कौन शामिल था?"/>
          <p:cNvSpPr/>
          <p:nvPr/>
        </p:nvSpPr>
        <p:spPr>
          <a:xfrm>
            <a:off x="6751439" y="2259509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कौन शामिल था?</a:t>
            </a:r>
          </a:p>
          <a:p>
            <a:pPr algn="l"/>
            <a:endParaRPr lang="en-US"/>
          </a:p>
        </p:txBody>
      </p:sp>
      <p:sp>
        <p:nvSpPr>
          <p:cNvPr id="13" name="अंत"/>
          <p:cNvSpPr/>
          <p:nvPr/>
        </p:nvSpPr>
        <p:spPr>
          <a:xfrm>
            <a:off x="420886" y="3274368"/>
            <a:ext cx="288592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अंत</a:t>
            </a:r>
          </a:p>
          <a:p>
            <a:pPr algn="l"/>
            <a:endParaRPr lang="en-US"/>
          </a:p>
        </p:txBody>
      </p:sp>
      <p:sp>
        <p:nvSpPr>
          <p:cNvPr id="14" name="यह महत्वपूर्ण क्यों था?"/>
          <p:cNvSpPr/>
          <p:nvPr/>
        </p:nvSpPr>
        <p:spPr>
          <a:xfrm>
            <a:off x="3379887" y="3274368"/>
            <a:ext cx="3298478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महत्वपूर्ण क्यों था?</a:t>
            </a:r>
          </a:p>
          <a:p>
            <a:pPr algn="l"/>
            <a:endParaRPr lang="en-US"/>
          </a:p>
        </p:txBody>
      </p:sp>
      <p:sp>
        <p:nvSpPr>
          <p:cNvPr id="15" name="label"/>
          <p:cNvSpPr txBox="1"/>
          <p:nvPr/>
        </p:nvSpPr>
        <p:spPr>
          <a:xfrm>
            <a:off x="549473" y="4737497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1.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549473" y="4911328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2.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549473" y="5085011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3.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549473" y="5258693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4.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549473" y="5432524"/>
            <a:ext cx="142542" cy="19773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5.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लोग और समूह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महत्वपूर्ण नेता"/>
          <p:cNvSpPr/>
          <p:nvPr/>
        </p:nvSpPr>
        <p:spPr>
          <a:xfrm>
            <a:off x="420886" y="1133921"/>
            <a:ext cx="3415010" cy="2768352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महत्वपूर्ण नेता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यह व्यक्ति महत्वपूर्ण क्यों था?"/>
          <p:cNvSpPr/>
          <p:nvPr/>
        </p:nvSpPr>
        <p:spPr>
          <a:xfrm>
            <a:off x="420886" y="3975348"/>
            <a:ext cx="3415010" cy="28823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व्यक्ति महत्वपूर्ण क्यों था?</a:t>
            </a:r>
          </a:p>
          <a:p>
            <a:pPr algn="l"/>
            <a:endParaRPr lang="en-US"/>
          </a:p>
        </p:txBody>
      </p:sp>
      <p:sp>
        <p:nvSpPr>
          <p:cNvPr id="9" name="समूह 1"/>
          <p:cNvSpPr/>
          <p:nvPr/>
        </p:nvSpPr>
        <p:spPr>
          <a:xfrm>
            <a:off x="3945582" y="1133921"/>
            <a:ext cx="1848594" cy="29140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समूह 1</a:t>
            </a:r>
          </a:p>
          <a:p>
            <a:pPr algn="ctr"/>
            <a:endParaRPr lang="en-US"/>
          </a:p>
        </p:txBody>
      </p:sp>
      <p:sp>
        <p:nvSpPr>
          <p:cNvPr id="10" name="समूह 1 क्या चाहता था?"/>
          <p:cNvSpPr/>
          <p:nvPr/>
        </p:nvSpPr>
        <p:spPr>
          <a:xfrm>
            <a:off x="3945582" y="1489323"/>
            <a:ext cx="1848594" cy="265211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1 क्या चाहता था?</a:t>
            </a:r>
          </a:p>
          <a:p>
            <a:pPr algn="l"/>
            <a:endParaRPr lang="en-US"/>
          </a:p>
        </p:txBody>
      </p:sp>
      <p:sp>
        <p:nvSpPr>
          <p:cNvPr id="11" name="आप क्या निष्कर्ष निकाल सकते हैं?"/>
          <p:cNvSpPr/>
          <p:nvPr/>
        </p:nvSpPr>
        <p:spPr>
          <a:xfrm>
            <a:off x="3945582" y="4205436"/>
            <a:ext cx="1848594" cy="265226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आप क्या निष्कर्ष निकाल सकते हैं?</a:t>
            </a:r>
          </a:p>
          <a:p>
            <a:pPr algn="l"/>
            <a:endParaRPr lang="en-US"/>
          </a:p>
        </p:txBody>
      </p:sp>
      <p:sp>
        <p:nvSpPr>
          <p:cNvPr id="12" name="समूह 2"/>
          <p:cNvSpPr/>
          <p:nvPr/>
        </p:nvSpPr>
        <p:spPr>
          <a:xfrm>
            <a:off x="5867251" y="1133921"/>
            <a:ext cx="1848594" cy="29140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समूह 2</a:t>
            </a:r>
          </a:p>
          <a:p>
            <a:pPr algn="ctr"/>
            <a:endParaRPr lang="en-US"/>
          </a:p>
        </p:txBody>
      </p:sp>
      <p:sp>
        <p:nvSpPr>
          <p:cNvPr id="13" name="समूह 2 क्या चाहता था?"/>
          <p:cNvSpPr/>
          <p:nvPr/>
        </p:nvSpPr>
        <p:spPr>
          <a:xfrm>
            <a:off x="5867251" y="1489323"/>
            <a:ext cx="1848594" cy="265211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2 क्या चाहता था?</a:t>
            </a:r>
          </a:p>
          <a:p>
            <a:pPr algn="l"/>
            <a:endParaRPr lang="en-US"/>
          </a:p>
        </p:txBody>
      </p:sp>
      <p:sp>
        <p:nvSpPr>
          <p:cNvPr id="14" name="परिणाम"/>
          <p:cNvSpPr/>
          <p:nvPr/>
        </p:nvSpPr>
        <p:spPr>
          <a:xfrm>
            <a:off x="5867251" y="4205436"/>
            <a:ext cx="1848594" cy="265226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sp>
        <p:nvSpPr>
          <p:cNvPr id="15" name="समूह 3"/>
          <p:cNvSpPr/>
          <p:nvPr/>
        </p:nvSpPr>
        <p:spPr>
          <a:xfrm>
            <a:off x="7788920" y="1133921"/>
            <a:ext cx="1848594" cy="291405"/>
          </a:xfrm>
          <a:prstGeom prst="roundRect">
            <a:avLst>
              <a:gd name="adj" fmla="val 6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1000" b="1" dirty="0">
                <a:solidFill>
                  <a:srgbClr val="111111"/>
                </a:solidFill>
                <a:latin typeface="Arial"/>
                <a:cs typeface="Arial"/>
              </a:rPr>
              <a:t>समूह 3</a:t>
            </a:r>
          </a:p>
          <a:p>
            <a:pPr algn="ctr"/>
            <a:endParaRPr lang="en-US"/>
          </a:p>
        </p:txBody>
      </p:sp>
      <p:sp>
        <p:nvSpPr>
          <p:cNvPr id="16" name="समूह 3 क्या चाहता था?"/>
          <p:cNvSpPr/>
          <p:nvPr/>
        </p:nvSpPr>
        <p:spPr>
          <a:xfrm>
            <a:off x="7788920" y="1489323"/>
            <a:ext cx="1848594" cy="265211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3 क्या चाहता था?</a:t>
            </a:r>
          </a:p>
          <a:p>
            <a:pPr algn="l"/>
            <a:endParaRPr lang="en-US"/>
          </a:p>
        </p:txBody>
      </p:sp>
      <p:sp>
        <p:nvSpPr>
          <p:cNvPr id="17" name="परिणाम"/>
          <p:cNvSpPr/>
          <p:nvPr/>
        </p:nvSpPr>
        <p:spPr>
          <a:xfrm>
            <a:off x="7788920" y="4205436"/>
            <a:ext cx="1848594" cy="265226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cxnSp>
        <p:nvCxnSpPr>
          <p:cNvPr id="18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9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20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स्थान क्यों महत्वपूर्ण है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भौतिक विशेषताएँ"/>
          <p:cNvSpPr/>
          <p:nvPr/>
        </p:nvSpPr>
        <p:spPr>
          <a:xfrm>
            <a:off x="420886" y="1133921"/>
            <a:ext cx="3169741" cy="281612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भौतिक विशेषताएँ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682008" y="1133921"/>
            <a:ext cx="2694236" cy="281612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9" name="मानवीय विशेषताएँ"/>
          <p:cNvSpPr/>
          <p:nvPr/>
        </p:nvSpPr>
        <p:spPr>
          <a:xfrm>
            <a:off x="6467624" y="1133921"/>
            <a:ext cx="3169890" cy="281612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मानवीय विशेषताएँ</a:t>
            </a:r>
          </a:p>
          <a:p>
            <a:pPr algn="l"/>
            <a:endParaRPr lang="en-US"/>
          </a:p>
        </p:txBody>
      </p:sp>
      <p:sp>
        <p:nvSpPr>
          <p:cNvPr id="10" name="यह यहाँ क्यों हुआ?"/>
          <p:cNvSpPr/>
          <p:nvPr/>
        </p:nvSpPr>
        <p:spPr>
          <a:xfrm>
            <a:off x="420886" y="4041428"/>
            <a:ext cx="3169741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यहाँ क्यों हुआ?</a:t>
            </a:r>
          </a:p>
          <a:p>
            <a:pPr algn="l"/>
            <a:endParaRPr lang="en-US"/>
          </a:p>
        </p:txBody>
      </p:sp>
      <p:sp>
        <p:nvSpPr>
          <p:cNvPr id="11" name="आवागमन / मार्ग"/>
          <p:cNvSpPr/>
          <p:nvPr/>
        </p:nvSpPr>
        <p:spPr>
          <a:xfrm>
            <a:off x="3682008" y="4041428"/>
            <a:ext cx="2694236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आवागमन / मार्ग</a:t>
            </a:r>
          </a:p>
          <a:p>
            <a:pPr algn="l"/>
            <a:endParaRPr lang="en-US"/>
          </a:p>
        </p:txBody>
      </p:sp>
      <p:sp>
        <p:nvSpPr>
          <p:cNvPr id="12" name="स्थान ने घटना को कैसे प्रभावित किया?"/>
          <p:cNvSpPr/>
          <p:nvPr/>
        </p:nvSpPr>
        <p:spPr>
          <a:xfrm>
            <a:off x="6467624" y="4041428"/>
            <a:ext cx="3169890" cy="28162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स्थान ने घटना को कैसे प्रभावित किया?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पहले और बाद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पहले"/>
          <p:cNvSpPr/>
          <p:nvPr/>
        </p:nvSpPr>
        <p:spPr>
          <a:xfrm>
            <a:off x="420886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पहले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614738" y="1133921"/>
            <a:ext cx="2809875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l"/>
            <a:endParaRPr lang="en-US"/>
          </a:p>
        </p:txBody>
      </p:sp>
      <p:sp>
        <p:nvSpPr>
          <p:cNvPr id="9" name="बाद में"/>
          <p:cNvSpPr/>
          <p:nvPr/>
        </p:nvSpPr>
        <p:spPr>
          <a:xfrm>
            <a:off x="6808589" y="1133921"/>
            <a:ext cx="2828925" cy="28116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बाद में</a:t>
            </a:r>
          </a:p>
          <a:p>
            <a:pPr algn="l"/>
            <a:endParaRPr lang="en-US"/>
          </a:p>
        </p:txBody>
      </p:sp>
      <p:sp>
        <p:nvSpPr>
          <p:cNvPr id="10" name="क्या बदला?"/>
          <p:cNvSpPr/>
          <p:nvPr/>
        </p:nvSpPr>
        <p:spPr>
          <a:xfrm>
            <a:off x="420886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क्या बदला?</a:t>
            </a:r>
          </a:p>
          <a:p>
            <a:pPr algn="l"/>
            <a:endParaRPr lang="en-US"/>
          </a:p>
        </p:txBody>
      </p:sp>
      <p:sp>
        <p:nvSpPr>
          <p:cNvPr id="11" name="क्या समान रहा?"/>
          <p:cNvSpPr/>
          <p:nvPr/>
        </p:nvSpPr>
        <p:spPr>
          <a:xfrm>
            <a:off x="5074890" y="4046041"/>
            <a:ext cx="4562624" cy="28116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क्या समान रहा?</a:t>
            </a:r>
          </a:p>
          <a:p>
            <a:pPr algn="l"/>
            <a:endParaRPr lang="en-US"/>
          </a:p>
        </p:txBody>
      </p:sp>
      <p:sp>
        <p:nvSpPr>
          <p:cNvPr id="12" name="arrow"/>
          <p:cNvSpPr txBox="1"/>
          <p:nvPr/>
        </p:nvSpPr>
        <p:spPr>
          <a:xfrm>
            <a:off x="3171289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3" name="arrow"/>
          <p:cNvSpPr txBox="1"/>
          <p:nvPr/>
        </p:nvSpPr>
        <p:spPr>
          <a:xfrm>
            <a:off x="6365141" y="1133921"/>
            <a:ext cx="502920" cy="2811661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प्रमाण मानचित्र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स्रोत 1"/>
          <p:cNvSpPr/>
          <p:nvPr/>
        </p:nvSpPr>
        <p:spPr>
          <a:xfrm>
            <a:off x="420886" y="1133921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स्रोत 1</a:t>
            </a:r>
          </a:p>
          <a:p>
            <a:pPr algn="l"/>
            <a:endParaRPr lang="en-US"/>
          </a:p>
        </p:txBody>
      </p:sp>
      <p:sp>
        <p:nvSpPr>
          <p:cNvPr id="8" name="उपयोगी तथ्य या प्रमाण"/>
          <p:cNvSpPr/>
          <p:nvPr/>
        </p:nvSpPr>
        <p:spPr>
          <a:xfrm>
            <a:off x="420886" y="2913757"/>
            <a:ext cx="3011239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उपयोगी तथ्य या प्रमाण</a:t>
            </a:r>
          </a:p>
          <a:p>
            <a:pPr algn="l"/>
            <a:endParaRPr lang="en-US"/>
          </a:p>
        </p:txBody>
      </p:sp>
      <p:sp>
        <p:nvSpPr>
          <p:cNvPr id="9" name="स्रोत 2"/>
          <p:cNvSpPr/>
          <p:nvPr/>
        </p:nvSpPr>
        <p:spPr>
          <a:xfrm>
            <a:off x="3523506" y="1133921"/>
            <a:ext cx="3011239" cy="1716286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स्रोत 2</a:t>
            </a:r>
          </a:p>
          <a:p>
            <a:pPr algn="l"/>
            <a:endParaRPr lang="en-US"/>
          </a:p>
        </p:txBody>
      </p:sp>
      <p:sp>
        <p:nvSpPr>
          <p:cNvPr id="10" name="उपयोगी तथ्य या प्रमाण"/>
          <p:cNvSpPr/>
          <p:nvPr/>
        </p:nvSpPr>
        <p:spPr>
          <a:xfrm>
            <a:off x="3523506" y="2923282"/>
            <a:ext cx="3011239" cy="169723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उपयोगी तथ्य या प्रमाण</a:t>
            </a:r>
          </a:p>
          <a:p>
            <a:pPr algn="l"/>
            <a:endParaRPr lang="en-US"/>
          </a:p>
        </p:txBody>
      </p:sp>
      <p:sp>
        <p:nvSpPr>
          <p:cNvPr id="11" name="स्रोत 3"/>
          <p:cNvSpPr/>
          <p:nvPr/>
        </p:nvSpPr>
        <p:spPr>
          <a:xfrm>
            <a:off x="6626126" y="1133921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स्रोत 3</a:t>
            </a:r>
          </a:p>
          <a:p>
            <a:pPr algn="l"/>
            <a:endParaRPr lang="en-US"/>
          </a:p>
        </p:txBody>
      </p:sp>
      <p:sp>
        <p:nvSpPr>
          <p:cNvPr id="12" name="उपयोगी तथ्य या प्रमाण"/>
          <p:cNvSpPr/>
          <p:nvPr/>
        </p:nvSpPr>
        <p:spPr>
          <a:xfrm>
            <a:off x="6626126" y="2913757"/>
            <a:ext cx="3011388" cy="17067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उपयोगी तथ्य या प्रमाण</a:t>
            </a:r>
          </a:p>
          <a:p>
            <a:pPr algn="l"/>
            <a:endParaRPr lang="en-US"/>
          </a:p>
        </p:txBody>
      </p:sp>
      <p:sp>
        <p:nvSpPr>
          <p:cNvPr id="13" name="आप क्या निष्कर्ष निकाल सकते हैं?"/>
          <p:cNvSpPr/>
          <p:nvPr/>
        </p:nvSpPr>
        <p:spPr>
          <a:xfrm>
            <a:off x="420886" y="4711898"/>
            <a:ext cx="9216628" cy="214580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आप क्या निष्कर्ष निकाल सकते हैं?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यह क्यों महत्वपूर्ण था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3-5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घटना"/>
          <p:cNvSpPr/>
          <p:nvPr/>
        </p:nvSpPr>
        <p:spPr>
          <a:xfrm>
            <a:off x="420886" y="1133921"/>
            <a:ext cx="2580977" cy="4969966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8" name="लोगों पर प्रभाव"/>
          <p:cNvSpPr/>
          <p:nvPr/>
        </p:nvSpPr>
        <p:spPr>
          <a:xfrm>
            <a:off x="3093244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लोगों पर प्रभाव</a:t>
            </a:r>
          </a:p>
          <a:p>
            <a:pPr algn="l"/>
            <a:endParaRPr lang="en-US"/>
          </a:p>
        </p:txBody>
      </p:sp>
      <p:sp>
        <p:nvSpPr>
          <p:cNvPr id="9" name="सरकार पर प्रभाव"/>
          <p:cNvSpPr/>
          <p:nvPr/>
        </p:nvSpPr>
        <p:spPr>
          <a:xfrm>
            <a:off x="6411069" y="1133921"/>
            <a:ext cx="3226445" cy="243929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सरकार पर प्रभाव</a:t>
            </a:r>
          </a:p>
          <a:p>
            <a:pPr algn="l"/>
            <a:endParaRPr lang="en-US"/>
          </a:p>
        </p:txBody>
      </p:sp>
      <p:sp>
        <p:nvSpPr>
          <p:cNvPr id="10" name="अर्थव्यवस्था पर प्रभाव"/>
          <p:cNvSpPr/>
          <p:nvPr/>
        </p:nvSpPr>
        <p:spPr>
          <a:xfrm>
            <a:off x="3093244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अर्थव्यवस्था पर प्रभाव</a:t>
            </a:r>
          </a:p>
          <a:p>
            <a:pPr algn="l"/>
            <a:endParaRPr lang="en-US"/>
          </a:p>
        </p:txBody>
      </p:sp>
      <p:sp>
        <p:nvSpPr>
          <p:cNvPr id="11" name="समुदाय / संस्कृति पर प्रभाव"/>
          <p:cNvSpPr/>
          <p:nvPr/>
        </p:nvSpPr>
        <p:spPr>
          <a:xfrm>
            <a:off x="6411069" y="3664595"/>
            <a:ext cx="3226445" cy="2439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समुदाय / संस्कृति पर प्रभाव</a:t>
            </a:r>
          </a:p>
          <a:p>
            <a:pPr algn="l"/>
            <a:endParaRPr lang="en-US"/>
          </a:p>
        </p:txBody>
      </p:sp>
      <p:sp>
        <p:nvSpPr>
          <p:cNvPr id="12" name="कौन-सा बदलाव सबसे महत्वपूर्ण था?"/>
          <p:cNvSpPr/>
          <p:nvPr/>
        </p:nvSpPr>
        <p:spPr>
          <a:xfrm>
            <a:off x="420886" y="6195268"/>
            <a:ext cx="2580977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कौन-सा बदलाव सबसे महत्वपूर्ण था?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3–5: कालक्रम, कारण/प्रभाव, स्रोत, दृष्टिकोण, मानचित्र, ग्राफिक आयोजक, दावे और प्रमाण।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जाँचकर्ता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यह क्यों हुआ?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क्यों हुआ?</a:t>
            </a:r>
          </a:p>
          <a:p>
            <a:pPr algn="l"/>
            <a:endParaRPr lang="en-US"/>
          </a:p>
        </p:txBody>
      </p:sp>
      <p:sp>
        <p:nvSpPr>
          <p:cNvPr id="8" name="यह महत्वपूर्ण क्यों था?"/>
          <p:cNvSpPr/>
          <p:nvPr/>
        </p:nvSpPr>
        <p:spPr>
          <a:xfrm>
            <a:off x="3373338" y="1133921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महत्वपूर्ण क्यों था?</a:t>
            </a:r>
          </a:p>
          <a:p>
            <a:pPr algn="l"/>
            <a:endParaRPr lang="en-US"/>
          </a:p>
        </p:txBody>
      </p:sp>
      <p:sp>
        <p:nvSpPr>
          <p:cNvPr id="9" name="परिणाम"/>
          <p:cNvSpPr/>
          <p:nvPr/>
        </p:nvSpPr>
        <p:spPr>
          <a:xfrm>
            <a:off x="6757839" y="1133921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sp>
        <p:nvSpPr>
          <p:cNvPr id="10" name="यह कैसे हुआ?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कैसे हुआ?</a:t>
            </a:r>
          </a:p>
          <a:p>
            <a:pPr algn="l"/>
            <a:endParaRPr lang="en-US"/>
          </a:p>
        </p:txBody>
      </p:sp>
      <p:sp>
        <p:nvSpPr>
          <p:cNvPr id="11" name="घटना"/>
          <p:cNvSpPr/>
          <p:nvPr/>
        </p:nvSpPr>
        <p:spPr>
          <a:xfrm>
            <a:off x="3373338" y="3066157"/>
            <a:ext cx="3311426" cy="1859161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12" name="यह कब हुआ?"/>
          <p:cNvSpPr/>
          <p:nvPr/>
        </p:nvSpPr>
        <p:spPr>
          <a:xfrm>
            <a:off x="6757839" y="3066157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कब हुआ?</a:t>
            </a:r>
          </a:p>
          <a:p>
            <a:pPr algn="l"/>
            <a:endParaRPr lang="en-US"/>
          </a:p>
        </p:txBody>
      </p:sp>
      <p:sp>
        <p:nvSpPr>
          <p:cNvPr id="13" name="शामिल समूह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शामिल समूह</a:t>
            </a:r>
          </a:p>
          <a:p>
            <a:pPr algn="l"/>
            <a:endParaRPr lang="en-US"/>
          </a:p>
        </p:txBody>
      </p:sp>
      <p:sp>
        <p:nvSpPr>
          <p:cNvPr id="14" name="यह कहाँ हुआ?"/>
          <p:cNvSpPr/>
          <p:nvPr/>
        </p:nvSpPr>
        <p:spPr>
          <a:xfrm>
            <a:off x="3373338" y="4998393"/>
            <a:ext cx="3311426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कहाँ हुआ?</a:t>
            </a:r>
          </a:p>
          <a:p>
            <a:pPr algn="l"/>
            <a:endParaRPr lang="en-US"/>
          </a:p>
        </p:txBody>
      </p:sp>
      <p:sp>
        <p:nvSpPr>
          <p:cNvPr id="15" name="महत्वपूर्ण नेता"/>
          <p:cNvSpPr/>
          <p:nvPr/>
        </p:nvSpPr>
        <p:spPr>
          <a:xfrm>
            <a:off x="6757839" y="4998393"/>
            <a:ext cx="2879527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महत्वपूर्ण नेता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दबाव के कारण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दीर्घकालिक कारण"/>
          <p:cNvSpPr/>
          <p:nvPr/>
        </p:nvSpPr>
        <p:spPr>
          <a:xfrm>
            <a:off x="420886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दीर्घकालिक कारण</a:t>
            </a:r>
          </a:p>
          <a:p>
            <a:pPr algn="l"/>
            <a:endParaRPr lang="en-US"/>
          </a:p>
        </p:txBody>
      </p:sp>
      <p:sp>
        <p:nvSpPr>
          <p:cNvPr id="8" name="अल्पकालिक कारण"/>
          <p:cNvSpPr/>
          <p:nvPr/>
        </p:nvSpPr>
        <p:spPr>
          <a:xfrm>
            <a:off x="2816275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अल्पकालिक कारण</a:t>
            </a:r>
          </a:p>
          <a:p>
            <a:pPr algn="l"/>
            <a:endParaRPr lang="en-US"/>
          </a:p>
        </p:txBody>
      </p:sp>
      <p:sp>
        <p:nvSpPr>
          <p:cNvPr id="9" name="तुरंत कारण / चिंगारी"/>
          <p:cNvSpPr/>
          <p:nvPr/>
        </p:nvSpPr>
        <p:spPr>
          <a:xfrm>
            <a:off x="5211663" y="1133921"/>
            <a:ext cx="2030462" cy="2964359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तुरंत कारण / चिंगारी</a:t>
            </a:r>
          </a:p>
          <a:p>
            <a:pPr algn="l"/>
            <a:endParaRPr lang="en-US"/>
          </a:p>
        </p:txBody>
      </p:sp>
      <p:sp>
        <p:nvSpPr>
          <p:cNvPr id="10" name="घटना"/>
          <p:cNvSpPr/>
          <p:nvPr/>
        </p:nvSpPr>
        <p:spPr>
          <a:xfrm>
            <a:off x="7626102" y="1133921"/>
            <a:ext cx="2011412" cy="2964359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l"/>
            <a:endParaRPr lang="en-US"/>
          </a:p>
        </p:txBody>
      </p:sp>
      <p:sp>
        <p:nvSpPr>
          <p:cNvPr id="11" name="तुरंत प्रभाव"/>
          <p:cNvSpPr/>
          <p:nvPr/>
        </p:nvSpPr>
        <p:spPr>
          <a:xfrm>
            <a:off x="420886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तुरंत प्रभाव</a:t>
            </a:r>
          </a:p>
          <a:p>
            <a:pPr algn="l"/>
            <a:endParaRPr lang="en-US"/>
          </a:p>
        </p:txBody>
      </p:sp>
      <p:sp>
        <p:nvSpPr>
          <p:cNvPr id="12" name="बाद के / दीर्घकालिक प्रभाव"/>
          <p:cNvSpPr/>
          <p:nvPr/>
        </p:nvSpPr>
        <p:spPr>
          <a:xfrm>
            <a:off x="5074890" y="4189661"/>
            <a:ext cx="4562624" cy="266804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बाद के / दीर्घकालिक प्रभाव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372826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4768215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5" name="arrow"/>
          <p:cNvSpPr txBox="1"/>
          <p:nvPr/>
        </p:nvSpPr>
        <p:spPr>
          <a:xfrm>
            <a:off x="7182654" y="1133921"/>
            <a:ext cx="502920" cy="296435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मोड़ बिंदु मानचित्र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पहले"/>
          <p:cNvSpPr/>
          <p:nvPr/>
        </p:nvSpPr>
        <p:spPr>
          <a:xfrm>
            <a:off x="420886" y="1133921"/>
            <a:ext cx="2411909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पहले</a:t>
            </a:r>
          </a:p>
          <a:p>
            <a:pPr algn="l"/>
            <a:endParaRPr lang="en-US"/>
          </a:p>
        </p:txBody>
      </p:sp>
      <p:sp>
        <p:nvSpPr>
          <p:cNvPr id="8" name="मोड़ बिंदु"/>
          <p:cNvSpPr/>
          <p:nvPr/>
        </p:nvSpPr>
        <p:spPr>
          <a:xfrm>
            <a:off x="382309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मोड़ बिंदु</a:t>
            </a:r>
          </a:p>
          <a:p>
            <a:pPr algn="l"/>
            <a:endParaRPr lang="en-US"/>
          </a:p>
        </p:txBody>
      </p:sp>
      <p:sp>
        <p:nvSpPr>
          <p:cNvPr id="9" name="बाद में"/>
          <p:cNvSpPr/>
          <p:nvPr/>
        </p:nvSpPr>
        <p:spPr>
          <a:xfrm>
            <a:off x="7225457" y="1133921"/>
            <a:ext cx="2412057" cy="313923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बाद में</a:t>
            </a:r>
          </a:p>
          <a:p>
            <a:pPr algn="l"/>
            <a:endParaRPr lang="en-US"/>
          </a:p>
        </p:txBody>
      </p:sp>
      <p:sp>
        <p:nvSpPr>
          <p:cNvPr id="10" name="बढ़ता दबाव"/>
          <p:cNvSpPr/>
          <p:nvPr/>
        </p:nvSpPr>
        <p:spPr>
          <a:xfrm>
            <a:off x="420886" y="4346228"/>
            <a:ext cx="3329136" cy="6624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बढ़ता दबाव</a:t>
            </a:r>
          </a:p>
          <a:p>
            <a:pPr algn="l"/>
            <a:endParaRPr lang="en-US"/>
          </a:p>
        </p:txBody>
      </p:sp>
      <p:sp>
        <p:nvSpPr>
          <p:cNvPr id="11" name="दीर्घकालिक बदलाव"/>
          <p:cNvSpPr/>
          <p:nvPr/>
        </p:nvSpPr>
        <p:spPr>
          <a:xfrm>
            <a:off x="3823097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दीर्घकालिक बदलाव</a:t>
            </a:r>
          </a:p>
          <a:p>
            <a:pPr algn="l"/>
            <a:endParaRPr lang="en-US"/>
          </a:p>
        </p:txBody>
      </p:sp>
      <p:sp>
        <p:nvSpPr>
          <p:cNvPr id="12" name="यह मोड़ बिंदु क्यों था?"/>
          <p:cNvSpPr/>
          <p:nvPr/>
        </p:nvSpPr>
        <p:spPr>
          <a:xfrm>
            <a:off x="6775996" y="4346228"/>
            <a:ext cx="2861518" cy="2511475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यह मोड़ बिंदु क्यों था?</a:t>
            </a:r>
          </a:p>
          <a:p>
            <a:pPr algn="l"/>
            <a:endParaRPr lang="en-US"/>
          </a:p>
        </p:txBody>
      </p:sp>
      <p:sp>
        <p:nvSpPr>
          <p:cNvPr id="13" name="arrow"/>
          <p:cNvSpPr txBox="1"/>
          <p:nvPr/>
        </p:nvSpPr>
        <p:spPr>
          <a:xfrm>
            <a:off x="290586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4" name="arrow"/>
          <p:cNvSpPr txBox="1"/>
          <p:nvPr/>
        </p:nvSpPr>
        <p:spPr>
          <a:xfrm>
            <a:off x="6308229" y="1133921"/>
            <a:ext cx="844153" cy="3139232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अनेक दृष्टिकोण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समूह 1"/>
          <p:cNvSpPr/>
          <p:nvPr/>
        </p:nvSpPr>
        <p:spPr>
          <a:xfrm>
            <a:off x="420886" y="1133921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1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792289" y="1133921"/>
            <a:ext cx="2473672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9" name="समूह 2"/>
          <p:cNvSpPr/>
          <p:nvPr/>
        </p:nvSpPr>
        <p:spPr>
          <a:xfrm>
            <a:off x="6339036" y="1133921"/>
            <a:ext cx="3298478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2</a:t>
            </a:r>
          </a:p>
          <a:p>
            <a:pPr algn="l"/>
            <a:endParaRPr lang="en-US"/>
          </a:p>
        </p:txBody>
      </p:sp>
      <p:sp>
        <p:nvSpPr>
          <p:cNvPr id="10" name="समूह 3"/>
          <p:cNvSpPr/>
          <p:nvPr/>
        </p:nvSpPr>
        <p:spPr>
          <a:xfrm>
            <a:off x="420886" y="3272730"/>
            <a:ext cx="3298329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3</a:t>
            </a:r>
          </a:p>
          <a:p>
            <a:pPr algn="l"/>
            <a:endParaRPr lang="en-US"/>
          </a:p>
        </p:txBody>
      </p:sp>
      <p:sp>
        <p:nvSpPr>
          <p:cNvPr id="11" name="समूह 4"/>
          <p:cNvSpPr/>
          <p:nvPr/>
        </p:nvSpPr>
        <p:spPr>
          <a:xfrm>
            <a:off x="6339036" y="3272730"/>
            <a:ext cx="3298478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समूह 4</a:t>
            </a:r>
          </a:p>
          <a:p>
            <a:pPr algn="l"/>
            <a:endParaRPr lang="en-US"/>
          </a:p>
        </p:txBody>
      </p:sp>
      <p:sp>
        <p:nvSpPr>
          <p:cNvPr id="12" name="वे कहाँ सहमत थे?"/>
          <p:cNvSpPr/>
          <p:nvPr/>
        </p:nvSpPr>
        <p:spPr>
          <a:xfrm>
            <a:off x="42088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वे कहाँ सहमत थे?</a:t>
            </a:r>
          </a:p>
          <a:p>
            <a:pPr algn="l"/>
            <a:endParaRPr lang="en-US"/>
          </a:p>
        </p:txBody>
      </p:sp>
      <p:sp>
        <p:nvSpPr>
          <p:cNvPr id="13" name="वे कहाँ असहमत थे?"/>
          <p:cNvSpPr/>
          <p:nvPr/>
        </p:nvSpPr>
        <p:spPr>
          <a:xfrm>
            <a:off x="3523506" y="5411539"/>
            <a:ext cx="3011239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वे कहाँ असहमत थे?</a:t>
            </a:r>
          </a:p>
          <a:p>
            <a:pPr algn="l"/>
            <a:endParaRPr lang="en-US"/>
          </a:p>
        </p:txBody>
      </p:sp>
      <p:sp>
        <p:nvSpPr>
          <p:cNvPr id="14" name="किसकी आवाज़ गायब है?"/>
          <p:cNvSpPr/>
          <p:nvPr/>
        </p:nvSpPr>
        <p:spPr>
          <a:xfrm>
            <a:off x="6626126" y="5411539"/>
            <a:ext cx="3011388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किसकी आवाज़ गायब है?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नेता और घटना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महत्वपूर्ण नेता"/>
          <p:cNvSpPr/>
          <p:nvPr/>
        </p:nvSpPr>
        <p:spPr>
          <a:xfrm>
            <a:off x="420886" y="1133921"/>
            <a:ext cx="3415010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महत्वपूर्ण नेता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8" name="प्रभाव"/>
          <p:cNvSpPr/>
          <p:nvPr/>
        </p:nvSpPr>
        <p:spPr>
          <a:xfrm>
            <a:off x="420886" y="2983855"/>
            <a:ext cx="3415010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प्रभाव</a:t>
            </a:r>
          </a:p>
          <a:p>
            <a:pPr algn="l"/>
            <a:endParaRPr lang="en-US"/>
          </a:p>
        </p:txBody>
      </p:sp>
      <p:sp>
        <p:nvSpPr>
          <p:cNvPr id="9" name="प्रमाण"/>
          <p:cNvSpPr/>
          <p:nvPr/>
        </p:nvSpPr>
        <p:spPr>
          <a:xfrm>
            <a:off x="420886" y="4966692"/>
            <a:ext cx="3415010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प्रमाण</a:t>
            </a:r>
          </a:p>
          <a:p>
            <a:pPr algn="l"/>
            <a:endParaRPr lang="en-US"/>
          </a:p>
        </p:txBody>
      </p:sp>
      <p:sp>
        <p:nvSpPr>
          <p:cNvPr id="10" name="घटना"/>
          <p:cNvSpPr/>
          <p:nvPr/>
        </p:nvSpPr>
        <p:spPr>
          <a:xfrm>
            <a:off x="3945582" y="1133921"/>
            <a:ext cx="5691783" cy="1776859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1" name="नेता के लक्ष्य"/>
          <p:cNvSpPr/>
          <p:nvPr/>
        </p:nvSpPr>
        <p:spPr>
          <a:xfrm>
            <a:off x="3945582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नेता के लक्ष्य</a:t>
            </a:r>
          </a:p>
          <a:p>
            <a:pPr algn="l"/>
            <a:endParaRPr lang="en-US"/>
          </a:p>
        </p:txBody>
      </p:sp>
      <p:sp>
        <p:nvSpPr>
          <p:cNvPr id="12" name="मुख्य निर्णय"/>
          <p:cNvSpPr/>
          <p:nvPr/>
        </p:nvSpPr>
        <p:spPr>
          <a:xfrm>
            <a:off x="6837164" y="2983855"/>
            <a:ext cx="2800201" cy="190976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मुख्य निर्णय</a:t>
            </a:r>
          </a:p>
          <a:p>
            <a:pPr algn="l"/>
            <a:endParaRPr lang="en-US"/>
          </a:p>
        </p:txBody>
      </p:sp>
      <p:sp>
        <p:nvSpPr>
          <p:cNvPr id="13" name="सहयोगी / समर्थक"/>
          <p:cNvSpPr/>
          <p:nvPr/>
        </p:nvSpPr>
        <p:spPr>
          <a:xfrm>
            <a:off x="3945582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सहयोगी / समर्थक</a:t>
            </a:r>
          </a:p>
          <a:p>
            <a:pPr algn="l"/>
            <a:endParaRPr lang="en-US"/>
          </a:p>
        </p:txBody>
      </p:sp>
      <p:sp>
        <p:nvSpPr>
          <p:cNvPr id="14" name="विरोधी"/>
          <p:cNvSpPr/>
          <p:nvPr/>
        </p:nvSpPr>
        <p:spPr>
          <a:xfrm>
            <a:off x="6837164" y="4966692"/>
            <a:ext cx="2800201" cy="18908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विरोधी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संघर्ष मानचित्र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पक्ष / समूह A"/>
          <p:cNvSpPr/>
          <p:nvPr/>
        </p:nvSpPr>
        <p:spPr>
          <a:xfrm>
            <a:off x="420886" y="1133921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पक्ष / समूह A</a:t>
            </a:r>
          </a:p>
          <a:p>
            <a:pPr algn="l"/>
            <a:endParaRPr lang="en-US"/>
          </a:p>
        </p:txBody>
      </p:sp>
      <p:sp>
        <p:nvSpPr>
          <p:cNvPr id="8" name="पक्ष A का लक्ष्य"/>
          <p:cNvSpPr/>
          <p:nvPr/>
        </p:nvSpPr>
        <p:spPr>
          <a:xfrm>
            <a:off x="420886" y="2344043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पक्ष A का लक्ष्य</a:t>
            </a:r>
          </a:p>
          <a:p>
            <a:pPr algn="l"/>
            <a:endParaRPr lang="en-US"/>
          </a:p>
        </p:txBody>
      </p:sp>
      <p:sp>
        <p:nvSpPr>
          <p:cNvPr id="9" name="पक्ष A की कार्रवाई"/>
          <p:cNvSpPr/>
          <p:nvPr/>
        </p:nvSpPr>
        <p:spPr>
          <a:xfrm>
            <a:off x="420886" y="3554164"/>
            <a:ext cx="3284934" cy="11370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पक्ष A की कार्रवाई</a:t>
            </a:r>
          </a:p>
          <a:p>
            <a:pPr algn="l"/>
            <a:endParaRPr lang="en-US"/>
          </a:p>
        </p:txBody>
      </p:sp>
      <p:sp>
        <p:nvSpPr>
          <p:cNvPr id="10" name="संघर्ष की घटना"/>
          <p:cNvSpPr/>
          <p:nvPr/>
        </p:nvSpPr>
        <p:spPr>
          <a:xfrm>
            <a:off x="3797201" y="1133921"/>
            <a:ext cx="2463850" cy="3557290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संघर्ष की घटना</a:t>
            </a:r>
          </a:p>
        </p:txBody>
      </p:sp>
      <p:sp>
        <p:nvSpPr>
          <p:cNvPr id="11" name="पक्ष / समूह B"/>
          <p:cNvSpPr/>
          <p:nvPr/>
        </p:nvSpPr>
        <p:spPr>
          <a:xfrm>
            <a:off x="6352431" y="1133921"/>
            <a:ext cx="3284934" cy="114969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पक्ष / समूह B</a:t>
            </a:r>
          </a:p>
          <a:p>
            <a:pPr algn="l"/>
            <a:endParaRPr lang="en-US"/>
          </a:p>
        </p:txBody>
      </p:sp>
      <p:sp>
        <p:nvSpPr>
          <p:cNvPr id="12" name="पक्ष B का लक्ष्य"/>
          <p:cNvSpPr/>
          <p:nvPr/>
        </p:nvSpPr>
        <p:spPr>
          <a:xfrm>
            <a:off x="6352431" y="2356693"/>
            <a:ext cx="3284934" cy="113064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पक्ष B का लक्ष्य</a:t>
            </a:r>
          </a:p>
          <a:p>
            <a:pPr algn="l"/>
            <a:endParaRPr lang="en-US"/>
          </a:p>
        </p:txBody>
      </p:sp>
      <p:sp>
        <p:nvSpPr>
          <p:cNvPr id="13" name="पक्ष B की कार्रवाई"/>
          <p:cNvSpPr/>
          <p:nvPr/>
        </p:nvSpPr>
        <p:spPr>
          <a:xfrm>
            <a:off x="6352431" y="3560415"/>
            <a:ext cx="3284934" cy="1130796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पक्ष B की कार्रवाई</a:t>
            </a:r>
          </a:p>
          <a:p>
            <a:pPr algn="l"/>
            <a:endParaRPr lang="en-US"/>
          </a:p>
        </p:txBody>
      </p:sp>
      <p:sp>
        <p:nvSpPr>
          <p:cNvPr id="14" name="समाधान"/>
          <p:cNvSpPr/>
          <p:nvPr/>
        </p:nvSpPr>
        <p:spPr>
          <a:xfrm>
            <a:off x="420886" y="4782592"/>
            <a:ext cx="4562475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समाधान</a:t>
            </a:r>
          </a:p>
          <a:p>
            <a:pPr algn="l"/>
            <a:endParaRPr lang="en-US"/>
          </a:p>
        </p:txBody>
      </p:sp>
      <p:sp>
        <p:nvSpPr>
          <p:cNvPr id="15" name="परिणाम"/>
          <p:cNvSpPr/>
          <p:nvPr/>
        </p:nvSpPr>
        <p:spPr>
          <a:xfrm>
            <a:off x="5074741" y="4782592"/>
            <a:ext cx="4562624" cy="207496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श्रृंखला प्रतिक्रिया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कार्रवाई 1"/>
          <p:cNvSpPr/>
          <p:nvPr/>
        </p:nvSpPr>
        <p:spPr>
          <a:xfrm>
            <a:off x="420886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कार्रवाई 1</a:t>
            </a:r>
          </a:p>
          <a:p>
            <a:pPr algn="l"/>
            <a:endParaRPr lang="en-US"/>
          </a:p>
        </p:txBody>
      </p:sp>
      <p:sp>
        <p:nvSpPr>
          <p:cNvPr id="8" name="प्रतिक्रिया 1"/>
          <p:cNvSpPr/>
          <p:nvPr/>
        </p:nvSpPr>
        <p:spPr>
          <a:xfrm>
            <a:off x="2017812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प्रतिक्रिया 1</a:t>
            </a:r>
          </a:p>
          <a:p>
            <a:pPr algn="l"/>
            <a:endParaRPr lang="en-US"/>
          </a:p>
        </p:txBody>
      </p:sp>
      <p:sp>
        <p:nvSpPr>
          <p:cNvPr id="9" name="कार्रवाई 2"/>
          <p:cNvSpPr/>
          <p:nvPr/>
        </p:nvSpPr>
        <p:spPr>
          <a:xfrm>
            <a:off x="3614738" y="1133921"/>
            <a:ext cx="1231999" cy="32184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कार्रवाई 2</a:t>
            </a:r>
          </a:p>
          <a:p>
            <a:pPr algn="l"/>
            <a:endParaRPr lang="en-US"/>
          </a:p>
        </p:txBody>
      </p:sp>
      <p:sp>
        <p:nvSpPr>
          <p:cNvPr id="10" name="प्रतिक्रिया 2"/>
          <p:cNvSpPr/>
          <p:nvPr/>
        </p:nvSpPr>
        <p:spPr>
          <a:xfrm>
            <a:off x="5230713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प्रतिक्रिया 2</a:t>
            </a:r>
          </a:p>
          <a:p>
            <a:pPr algn="l"/>
            <a:endParaRPr lang="en-US"/>
          </a:p>
        </p:txBody>
      </p:sp>
      <p:sp>
        <p:nvSpPr>
          <p:cNvPr id="11" name="संकट / मोड़ बिंदु"/>
          <p:cNvSpPr/>
          <p:nvPr/>
        </p:nvSpPr>
        <p:spPr>
          <a:xfrm>
            <a:off x="6827639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संकट / मोड़ बिंदु</a:t>
            </a:r>
          </a:p>
          <a:p>
            <a:pPr algn="l"/>
            <a:endParaRPr lang="en-US"/>
          </a:p>
        </p:txBody>
      </p:sp>
      <p:sp>
        <p:nvSpPr>
          <p:cNvPr id="12" name="परिणाम"/>
          <p:cNvSpPr/>
          <p:nvPr/>
        </p:nvSpPr>
        <p:spPr>
          <a:xfrm>
            <a:off x="8424565" y="1133921"/>
            <a:ext cx="1212949" cy="321840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sp>
        <p:nvSpPr>
          <p:cNvPr id="13" name="सबसे महत्वपूर्ण कड़ी"/>
          <p:cNvSpPr/>
          <p:nvPr/>
        </p:nvSpPr>
        <p:spPr>
          <a:xfrm>
            <a:off x="420886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सबसे महत्वपूर्ण कड़ी</a:t>
            </a:r>
          </a:p>
          <a:p>
            <a:pPr algn="l"/>
            <a:endParaRPr lang="en-US"/>
          </a:p>
        </p:txBody>
      </p:sp>
      <p:sp>
        <p:nvSpPr>
          <p:cNvPr id="14" name="प्रमाण"/>
          <p:cNvSpPr/>
          <p:nvPr/>
        </p:nvSpPr>
        <p:spPr>
          <a:xfrm>
            <a:off x="5074890" y="4443710"/>
            <a:ext cx="4562624" cy="241399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प्रमाण</a:t>
            </a:r>
          </a:p>
          <a:p>
            <a:pPr algn="l"/>
            <a:endParaRPr lang="en-US"/>
          </a:p>
        </p:txBody>
      </p:sp>
      <p:sp>
        <p:nvSpPr>
          <p:cNvPr id="15" name="arrow"/>
          <p:cNvSpPr txBox="1"/>
          <p:nvPr/>
        </p:nvSpPr>
        <p:spPr>
          <a:xfrm>
            <a:off x="1574363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6" name="arrow"/>
          <p:cNvSpPr txBox="1"/>
          <p:nvPr/>
        </p:nvSpPr>
        <p:spPr>
          <a:xfrm>
            <a:off x="3171289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7" name="arrow"/>
          <p:cNvSpPr txBox="1"/>
          <p:nvPr/>
        </p:nvSpPr>
        <p:spPr>
          <a:xfrm>
            <a:off x="4787265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8" name="arrow"/>
          <p:cNvSpPr txBox="1"/>
          <p:nvPr/>
        </p:nvSpPr>
        <p:spPr>
          <a:xfrm>
            <a:off x="6384191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sp>
        <p:nvSpPr>
          <p:cNvPr id="19" name="arrow"/>
          <p:cNvSpPr txBox="1"/>
          <p:nvPr/>
        </p:nvSpPr>
        <p:spPr>
          <a:xfrm>
            <a:off x="7981117" y="1133921"/>
            <a:ext cx="502920" cy="321840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ctr" wrap="none"/>
          <a:lstStyle/>
          <a:p>
            <a:pPr algn="ctr"/>
            <a:r>
              <a:rPr lang="en-US" sz="2200" b="1" dirty="0">
                <a:solidFill>
                  <a:srgbClr val="111111"/>
                </a:solidFill>
                <a:latin typeface="Arial"/>
                <a:cs typeface="Arial"/>
              </a:rPr>
              <a:t>→</a:t>
            </a:r>
          </a:p>
        </p:txBody>
      </p:sp>
      <p:cxnSp>
        <p:nvCxnSpPr>
          <p:cNvPr id="20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1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का भूगोल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6-8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भौतिक भूगोल"/>
          <p:cNvSpPr/>
          <p:nvPr/>
        </p:nvSpPr>
        <p:spPr>
          <a:xfrm>
            <a:off x="420886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भौतिक भूगोल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621584" y="1133921"/>
            <a:ext cx="2815084" cy="4204543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9" name="मानव भूगोल"/>
          <p:cNvSpPr/>
          <p:nvPr/>
        </p:nvSpPr>
        <p:spPr>
          <a:xfrm>
            <a:off x="6509742" y="1133921"/>
            <a:ext cx="3127623" cy="206573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मानव भूगोल</a:t>
            </a:r>
          </a:p>
          <a:p>
            <a:pPr algn="l"/>
            <a:endParaRPr lang="en-US"/>
          </a:p>
        </p:txBody>
      </p:sp>
      <p:sp>
        <p:nvSpPr>
          <p:cNvPr id="10" name="संसाधन"/>
          <p:cNvSpPr/>
          <p:nvPr/>
        </p:nvSpPr>
        <p:spPr>
          <a:xfrm>
            <a:off x="420886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संसाधन</a:t>
            </a:r>
          </a:p>
          <a:p>
            <a:pPr algn="l"/>
            <a:endParaRPr lang="en-US"/>
          </a:p>
        </p:txBody>
      </p:sp>
      <p:sp>
        <p:nvSpPr>
          <p:cNvPr id="11" name="आवागमन / मार्ग"/>
          <p:cNvSpPr/>
          <p:nvPr/>
        </p:nvSpPr>
        <p:spPr>
          <a:xfrm>
            <a:off x="6509742" y="3272730"/>
            <a:ext cx="3127623" cy="206573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आवागमन / मार्ग</a:t>
            </a:r>
          </a:p>
          <a:p>
            <a:pPr algn="l"/>
            <a:endParaRPr lang="en-US"/>
          </a:p>
        </p:txBody>
      </p:sp>
      <p:sp>
        <p:nvSpPr>
          <p:cNvPr id="12" name="स्थान क्यों महत्वपूर्ण था?"/>
          <p:cNvSpPr/>
          <p:nvPr/>
        </p:nvSpPr>
        <p:spPr>
          <a:xfrm>
            <a:off x="420886" y="5411539"/>
            <a:ext cx="4562475" cy="144601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स्थान क्यों महत्वपूर्ण था?</a:t>
            </a:r>
          </a:p>
          <a:p>
            <a:pPr algn="l"/>
            <a:endParaRPr lang="en-US"/>
          </a:p>
        </p:txBody>
      </p:sp>
      <p:sp>
        <p:nvSpPr>
          <p:cNvPr id="13" name="भौगोलिक प्रभाव"/>
          <p:cNvSpPr/>
          <p:nvPr/>
        </p:nvSpPr>
        <p:spPr>
          <a:xfrm>
            <a:off x="5074741" y="5411539"/>
            <a:ext cx="4562624" cy="144601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भौगोलिक प्रभाव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6–8: शोध, कालक्रम, कारण/प्रभाव, तुलना, ऐतिहासिक संदर्भ, दृष्टिकोण, स्रोत मूल्यांकन और दृश्य संचार।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संदर्भ मानचित्र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ऐतिहासिक संदर्भ"/>
          <p:cNvSpPr/>
          <p:nvPr/>
        </p:nvSpPr>
        <p:spPr>
          <a:xfrm>
            <a:off x="420886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ऐतिहासिक संदर्भ</a:t>
            </a:r>
          </a:p>
          <a:p>
            <a:pPr algn="l"/>
            <a:endParaRPr lang="en-US"/>
          </a:p>
        </p:txBody>
      </p:sp>
      <p:sp>
        <p:nvSpPr>
          <p:cNvPr id="8" name="दीर्घकालिक कारण"/>
          <p:cNvSpPr/>
          <p:nvPr/>
        </p:nvSpPr>
        <p:spPr>
          <a:xfrm>
            <a:off x="3373338" y="1133921"/>
            <a:ext cx="3311575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दीर्घकालिक कारण</a:t>
            </a:r>
          </a:p>
          <a:p>
            <a:pPr algn="l"/>
            <a:endParaRPr lang="en-US"/>
          </a:p>
        </p:txBody>
      </p:sp>
      <p:sp>
        <p:nvSpPr>
          <p:cNvPr id="9" name="तत्काल कारण"/>
          <p:cNvSpPr/>
          <p:nvPr/>
        </p:nvSpPr>
        <p:spPr>
          <a:xfrm>
            <a:off x="6757988" y="1133921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तत्काल कारण</a:t>
            </a:r>
          </a:p>
          <a:p>
            <a:pPr algn="l"/>
            <a:endParaRPr lang="en-US"/>
          </a:p>
        </p:txBody>
      </p:sp>
      <p:sp>
        <p:nvSpPr>
          <p:cNvPr id="10" name="मुख्य लोग / समूह"/>
          <p:cNvSpPr/>
          <p:nvPr/>
        </p:nvSpPr>
        <p:spPr>
          <a:xfrm>
            <a:off x="420886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मुख्य लोग / समूह</a:t>
            </a:r>
          </a:p>
          <a:p>
            <a:pPr algn="l"/>
            <a:endParaRPr lang="en-US"/>
          </a:p>
        </p:txBody>
      </p:sp>
      <p:sp>
        <p:nvSpPr>
          <p:cNvPr id="11" name="क्या हुआ?"/>
          <p:cNvSpPr/>
          <p:nvPr/>
        </p:nvSpPr>
        <p:spPr>
          <a:xfrm>
            <a:off x="6757988" y="3066157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क्या हुआ?</a:t>
            </a:r>
          </a:p>
          <a:p>
            <a:pPr algn="l"/>
            <a:endParaRPr lang="en-US"/>
          </a:p>
        </p:txBody>
      </p:sp>
      <p:sp>
        <p:nvSpPr>
          <p:cNvPr id="12" name="घटना"/>
          <p:cNvSpPr/>
          <p:nvPr/>
        </p:nvSpPr>
        <p:spPr>
          <a:xfrm>
            <a:off x="3373338" y="3066157"/>
            <a:ext cx="3311575" cy="1859161"/>
          </a:xfrm>
          <a:prstGeom prst="roundRect">
            <a:avLst>
              <a:gd name="adj" fmla="val 6000"/>
            </a:avLst>
          </a:prstGeom>
          <a:noFill/>
          <a:ln w="28575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ctr"/>
            <a:r>
              <a:rPr lang="en-US" sz="90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________________</a:t>
            </a:r>
          </a:p>
        </p:txBody>
      </p:sp>
      <p:sp>
        <p:nvSpPr>
          <p:cNvPr id="13" name="तत्काल परिणाम"/>
          <p:cNvSpPr/>
          <p:nvPr/>
        </p:nvSpPr>
        <p:spPr>
          <a:xfrm>
            <a:off x="420886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तत्काल परिणाम</a:t>
            </a:r>
          </a:p>
          <a:p>
            <a:pPr algn="l"/>
            <a:endParaRPr lang="en-US"/>
          </a:p>
        </p:txBody>
      </p:sp>
      <p:sp>
        <p:nvSpPr>
          <p:cNvPr id="14" name="दीर्घकालिक परिणाम"/>
          <p:cNvSpPr/>
          <p:nvPr/>
        </p:nvSpPr>
        <p:spPr>
          <a:xfrm>
            <a:off x="3373338" y="4998393"/>
            <a:ext cx="3311575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दीर्घकालिक परिणाम</a:t>
            </a:r>
          </a:p>
          <a:p>
            <a:pPr algn="l"/>
            <a:endParaRPr lang="en-US"/>
          </a:p>
        </p:txBody>
      </p:sp>
      <p:sp>
        <p:nvSpPr>
          <p:cNvPr id="15" name="ऐतिहासिक महत्व"/>
          <p:cNvSpPr/>
          <p:nvPr/>
        </p:nvSpPr>
        <p:spPr>
          <a:xfrm>
            <a:off x="6757988" y="4998393"/>
            <a:ext cx="2879378" cy="1859161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ऐतिहासिक महत्व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कारण रैंकिंग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कारण 1"/>
          <p:cNvSpPr/>
          <p:nvPr/>
        </p:nvSpPr>
        <p:spPr>
          <a:xfrm>
            <a:off x="420886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कारण 1</a:t>
            </a:r>
          </a:p>
          <a:p>
            <a:pPr algn="l"/>
            <a:endParaRPr lang="en-US"/>
          </a:p>
        </p:txBody>
      </p:sp>
      <p:sp>
        <p:nvSpPr>
          <p:cNvPr id="8" name="कारण 2"/>
          <p:cNvSpPr/>
          <p:nvPr/>
        </p:nvSpPr>
        <p:spPr>
          <a:xfrm>
            <a:off x="5070277" y="1133921"/>
            <a:ext cx="4567238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कारण 2</a:t>
            </a:r>
          </a:p>
          <a:p>
            <a:pPr algn="l"/>
            <a:endParaRPr lang="en-US"/>
          </a:p>
        </p:txBody>
      </p:sp>
      <p:sp>
        <p:nvSpPr>
          <p:cNvPr id="9" name="कारण 3"/>
          <p:cNvSpPr/>
          <p:nvPr/>
        </p:nvSpPr>
        <p:spPr>
          <a:xfrm>
            <a:off x="420886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कारण 3</a:t>
            </a:r>
          </a:p>
          <a:p>
            <a:pPr algn="l"/>
            <a:endParaRPr lang="en-US"/>
          </a:p>
        </p:txBody>
      </p:sp>
      <p:sp>
        <p:nvSpPr>
          <p:cNvPr id="10" name="कारण 4"/>
          <p:cNvSpPr/>
          <p:nvPr/>
        </p:nvSpPr>
        <p:spPr>
          <a:xfrm>
            <a:off x="5070277" y="3275112"/>
            <a:ext cx="4567238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कारण 4</a:t>
            </a:r>
          </a:p>
          <a:p>
            <a:pPr algn="l"/>
            <a:endParaRPr lang="en-US"/>
          </a:p>
        </p:txBody>
      </p:sp>
      <p:sp>
        <p:nvSpPr>
          <p:cNvPr id="11" name="कारणों को 1-4 क्रम दें"/>
          <p:cNvSpPr/>
          <p:nvPr/>
        </p:nvSpPr>
        <p:spPr>
          <a:xfrm>
            <a:off x="420886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कारणों को 1-4 क्रम दें</a:t>
            </a:r>
          </a:p>
          <a:p>
            <a:pPr algn="l"/>
            <a:endParaRPr lang="en-US"/>
          </a:p>
        </p:txBody>
      </p:sp>
      <p:sp>
        <p:nvSpPr>
          <p:cNvPr id="12" name="सबसे महत्वपूर्ण कारण"/>
          <p:cNvSpPr/>
          <p:nvPr/>
        </p:nvSpPr>
        <p:spPr>
          <a:xfrm>
            <a:off x="5074890" y="5416302"/>
            <a:ext cx="4562624" cy="144125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सबसे महत्वपूर्ण कारण</a:t>
            </a:r>
          </a:p>
          <a:p>
            <a:pPr algn="l"/>
            <a:endParaRPr lang="en-US"/>
          </a:p>
        </p:txBody>
      </p:sp>
      <p:cxnSp>
        <p:nvCxnSpPr>
          <p:cNvPr id="13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4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5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मोड़ बिंदु विश्लेषण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पहले"/>
          <p:cNvSpPr/>
          <p:nvPr/>
        </p:nvSpPr>
        <p:spPr>
          <a:xfrm>
            <a:off x="420886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पहले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520380" y="1133921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  <a:p>
            <a:pPr algn="l"/>
            <a:endParaRPr lang="en-US"/>
          </a:p>
        </p:txBody>
      </p:sp>
      <p:sp>
        <p:nvSpPr>
          <p:cNvPr id="9" name="तत्काल बदलाव"/>
          <p:cNvSpPr/>
          <p:nvPr/>
        </p:nvSpPr>
        <p:spPr>
          <a:xfrm>
            <a:off x="6620024" y="1133921"/>
            <a:ext cx="3017341" cy="2059037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तत्काल बदलाव</a:t>
            </a:r>
          </a:p>
          <a:p>
            <a:pPr algn="l"/>
            <a:endParaRPr lang="en-US"/>
          </a:p>
        </p:txBody>
      </p:sp>
      <p:sp>
        <p:nvSpPr>
          <p:cNvPr id="10" name="दीर्घकालिक बदलाव"/>
          <p:cNvSpPr/>
          <p:nvPr/>
        </p:nvSpPr>
        <p:spPr>
          <a:xfrm>
            <a:off x="420886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दीर्घकालिक बदलाव</a:t>
            </a:r>
          </a:p>
          <a:p>
            <a:pPr algn="l"/>
            <a:endParaRPr lang="en-US"/>
          </a:p>
        </p:txBody>
      </p:sp>
      <p:sp>
        <p:nvSpPr>
          <p:cNvPr id="11" name="क्या जारी रहा?"/>
          <p:cNvSpPr/>
          <p:nvPr/>
        </p:nvSpPr>
        <p:spPr>
          <a:xfrm>
            <a:off x="3520380" y="3275112"/>
            <a:ext cx="3017490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क्या जारी रहा?</a:t>
            </a:r>
          </a:p>
          <a:p>
            <a:pPr algn="l"/>
            <a:endParaRPr lang="en-US"/>
          </a:p>
        </p:txBody>
      </p:sp>
      <p:sp>
        <p:nvSpPr>
          <p:cNvPr id="12" name="क्या यह वास्तव में मोड़ बिंदु था?"/>
          <p:cNvSpPr/>
          <p:nvPr/>
        </p:nvSpPr>
        <p:spPr>
          <a:xfrm>
            <a:off x="6620024" y="3275112"/>
            <a:ext cx="3017341" cy="205903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क्या यह वास्तव में मोड़ बिंदु था?</a:t>
            </a:r>
          </a:p>
          <a:p>
            <a:pPr algn="l"/>
            <a:endParaRPr lang="en-US"/>
          </a:p>
        </p:txBody>
      </p:sp>
      <p:sp>
        <p:nvSpPr>
          <p:cNvPr id="13" name="प्रमाण"/>
          <p:cNvSpPr/>
          <p:nvPr/>
        </p:nvSpPr>
        <p:spPr>
          <a:xfrm>
            <a:off x="420886" y="5416302"/>
            <a:ext cx="9216479" cy="68148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प्रमाण</a:t>
            </a:r>
          </a:p>
          <a:p>
            <a:pPr algn="l"/>
            <a:endParaRPr lang="en-US"/>
          </a:p>
        </p:txBody>
      </p:sp>
      <p:cxnSp>
        <p:nvCxnSpPr>
          <p:cNvPr id="14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5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6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दृष्टिकोण और प्रमाण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दृष्टिकोण 1"/>
          <p:cNvSpPr/>
          <p:nvPr/>
        </p:nvSpPr>
        <p:spPr>
          <a:xfrm>
            <a:off x="420886" y="1133921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दृष्टिकोण 1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733354" y="1133921"/>
            <a:ext cx="2591544" cy="4129534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9" name="दृष्टिकोण 2"/>
          <p:cNvSpPr/>
          <p:nvPr/>
        </p:nvSpPr>
        <p:spPr>
          <a:xfrm>
            <a:off x="6397972" y="1133921"/>
            <a:ext cx="3239542" cy="20282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दृष्टिकोण 2</a:t>
            </a:r>
          </a:p>
          <a:p>
            <a:pPr algn="l"/>
            <a:endParaRPr lang="en-US"/>
          </a:p>
        </p:txBody>
      </p:sp>
      <p:sp>
        <p:nvSpPr>
          <p:cNvPr id="10" name="दृष्टिकोण 3"/>
          <p:cNvSpPr/>
          <p:nvPr/>
        </p:nvSpPr>
        <p:spPr>
          <a:xfrm>
            <a:off x="420886" y="3235226"/>
            <a:ext cx="3239393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दृष्टिकोण 3</a:t>
            </a:r>
          </a:p>
          <a:p>
            <a:pPr algn="l"/>
            <a:endParaRPr lang="en-US"/>
          </a:p>
        </p:txBody>
      </p:sp>
      <p:sp>
        <p:nvSpPr>
          <p:cNvPr id="11" name="दृष्टिकोण 4"/>
          <p:cNvSpPr/>
          <p:nvPr/>
        </p:nvSpPr>
        <p:spPr>
          <a:xfrm>
            <a:off x="6397972" y="3235226"/>
            <a:ext cx="3239542" cy="20282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दृष्टिकोण 4</a:t>
            </a:r>
          </a:p>
          <a:p>
            <a:pPr algn="l"/>
            <a:endParaRPr lang="en-US"/>
          </a:p>
        </p:txBody>
      </p:sp>
      <p:sp>
        <p:nvSpPr>
          <p:cNvPr id="12" name="प्रमाण"/>
          <p:cNvSpPr/>
          <p:nvPr/>
        </p:nvSpPr>
        <p:spPr>
          <a:xfrm>
            <a:off x="420886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प्रमाण</a:t>
            </a:r>
          </a:p>
          <a:p>
            <a:pPr algn="l"/>
            <a:endParaRPr lang="en-US"/>
          </a:p>
        </p:txBody>
      </p:sp>
      <p:sp>
        <p:nvSpPr>
          <p:cNvPr id="13" name="वे कहाँ सहमत थे?"/>
          <p:cNvSpPr/>
          <p:nvPr/>
        </p:nvSpPr>
        <p:spPr>
          <a:xfrm>
            <a:off x="2745581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वे कहाँ सहमत थे?</a:t>
            </a:r>
          </a:p>
          <a:p>
            <a:pPr algn="l"/>
            <a:endParaRPr lang="en-US"/>
          </a:p>
        </p:txBody>
      </p:sp>
      <p:sp>
        <p:nvSpPr>
          <p:cNvPr id="14" name="वे कहाँ असहमत थे?"/>
          <p:cNvSpPr/>
          <p:nvPr/>
        </p:nvSpPr>
        <p:spPr>
          <a:xfrm>
            <a:off x="5070277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वे कहाँ असहमत थे?</a:t>
            </a:r>
          </a:p>
          <a:p>
            <a:pPr algn="l"/>
            <a:endParaRPr lang="en-US"/>
          </a:p>
        </p:txBody>
      </p:sp>
      <p:sp>
        <p:nvSpPr>
          <p:cNvPr id="15" name="किसकी आवाज़ गायब है?"/>
          <p:cNvSpPr/>
          <p:nvPr/>
        </p:nvSpPr>
        <p:spPr>
          <a:xfrm>
            <a:off x="7394972" y="5336530"/>
            <a:ext cx="2242542" cy="152117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किसकी आवाज़ गायब है?</a:t>
            </a:r>
          </a:p>
          <a:p>
            <a:pPr algn="l"/>
            <a:endParaRPr lang="en-US"/>
          </a:p>
        </p:txBody>
      </p:sp>
      <p:cxnSp>
        <p:nvCxnSpPr>
          <p:cNvPr id="16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7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19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घटना प्रभाव चतुर्थांश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राजनीतिक"/>
          <p:cNvSpPr/>
          <p:nvPr/>
        </p:nvSpPr>
        <p:spPr>
          <a:xfrm>
            <a:off x="420886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राजनीतिक</a:t>
            </a:r>
          </a:p>
          <a:p>
            <a:pPr algn="l"/>
            <a:endParaRPr lang="en-US"/>
          </a:p>
        </p:txBody>
      </p:sp>
      <p:sp>
        <p:nvSpPr>
          <p:cNvPr id="8" name="घटना"/>
          <p:cNvSpPr/>
          <p:nvPr/>
        </p:nvSpPr>
        <p:spPr>
          <a:xfrm>
            <a:off x="3853309" y="1133921"/>
            <a:ext cx="2351633" cy="4174182"/>
          </a:xfrm>
          <a:prstGeom prst="ellipse">
            <a:avLst>
              <a:gd name="adj" fmla="val 14000"/>
            </a:avLst>
          </a:prstGeom>
          <a:noFill/>
          <a:ln w="38100" cap="flat">
            <a:solidFill>
              <a:srgbClr val="111111"/>
            </a:solidFill>
          </a:ln>
        </p:spPr>
        <p:txBody>
          <a:bodyPr lIns="45720" tIns="27432" rIns="45720" bIns="27432" anchor="ctr" wrap="square"/>
          <a:lstStyle/>
          <a:p>
            <a:pPr algn="ctr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घटना</a:t>
            </a:r>
          </a:p>
        </p:txBody>
      </p:sp>
      <p:sp>
        <p:nvSpPr>
          <p:cNvPr id="9" name="आर्थिक"/>
          <p:cNvSpPr/>
          <p:nvPr/>
        </p:nvSpPr>
        <p:spPr>
          <a:xfrm>
            <a:off x="6278017" y="1133921"/>
            <a:ext cx="3359348" cy="205055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आर्थिक</a:t>
            </a:r>
          </a:p>
          <a:p>
            <a:pPr algn="l"/>
            <a:endParaRPr lang="en-US"/>
          </a:p>
        </p:txBody>
      </p:sp>
      <p:sp>
        <p:nvSpPr>
          <p:cNvPr id="10" name="सामाजिक / सांस्कृतिक"/>
          <p:cNvSpPr/>
          <p:nvPr/>
        </p:nvSpPr>
        <p:spPr>
          <a:xfrm>
            <a:off x="420886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सामाजिक / सांस्कृतिक</a:t>
            </a:r>
          </a:p>
          <a:p>
            <a:pPr algn="l"/>
            <a:endParaRPr lang="en-US"/>
          </a:p>
        </p:txBody>
      </p:sp>
      <p:sp>
        <p:nvSpPr>
          <p:cNvPr id="11" name="भौगोलिक / पर्यावरणीय"/>
          <p:cNvSpPr/>
          <p:nvPr/>
        </p:nvSpPr>
        <p:spPr>
          <a:xfrm>
            <a:off x="6278017" y="3257550"/>
            <a:ext cx="3359348" cy="205055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भौगोलिक / पर्यावरणीय</a:t>
            </a:r>
          </a:p>
          <a:p>
            <a:pPr algn="l"/>
            <a:endParaRPr lang="en-US"/>
          </a:p>
        </p:txBody>
      </p:sp>
      <p:sp>
        <p:nvSpPr>
          <p:cNvPr id="12" name="तत्काल"/>
          <p:cNvSpPr/>
          <p:nvPr/>
        </p:nvSpPr>
        <p:spPr>
          <a:xfrm>
            <a:off x="42088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तत्काल</a:t>
            </a:r>
          </a:p>
          <a:p>
            <a:pPr algn="l"/>
            <a:endParaRPr lang="en-US"/>
          </a:p>
        </p:txBody>
      </p:sp>
      <p:sp>
        <p:nvSpPr>
          <p:cNvPr id="13" name="दीर्घकालिक"/>
          <p:cNvSpPr/>
          <p:nvPr/>
        </p:nvSpPr>
        <p:spPr>
          <a:xfrm>
            <a:off x="352350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दीर्घकालिक</a:t>
            </a:r>
          </a:p>
          <a:p>
            <a:pPr algn="l"/>
            <a:endParaRPr lang="en-US"/>
          </a:p>
        </p:txBody>
      </p:sp>
      <p:sp>
        <p:nvSpPr>
          <p:cNvPr id="14" name="कौन-सा प्रभाव सबसे महत्वपूर्ण था?"/>
          <p:cNvSpPr/>
          <p:nvPr/>
        </p:nvSpPr>
        <p:spPr>
          <a:xfrm>
            <a:off x="6626126" y="5381179"/>
            <a:ext cx="3011239" cy="1476524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कौन-सा प्रभाव सबसे महत्वपूर्ण था?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निरंतरता और परिवर्तन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पहले"/>
          <p:cNvSpPr/>
          <p:nvPr/>
        </p:nvSpPr>
        <p:spPr>
          <a:xfrm>
            <a:off x="420886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पहले</a:t>
            </a:r>
          </a:p>
          <a:p>
            <a:pPr algn="l"/>
            <a:endParaRPr lang="en-US"/>
          </a:p>
        </p:txBody>
      </p:sp>
      <p:sp>
        <p:nvSpPr>
          <p:cNvPr id="8" name="दौरान"/>
          <p:cNvSpPr/>
          <p:nvPr/>
        </p:nvSpPr>
        <p:spPr>
          <a:xfrm>
            <a:off x="3520380" y="1133921"/>
            <a:ext cx="3017490" cy="218018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दौरान</a:t>
            </a:r>
          </a:p>
          <a:p>
            <a:pPr algn="l"/>
            <a:endParaRPr lang="en-US"/>
          </a:p>
        </p:txBody>
      </p:sp>
      <p:sp>
        <p:nvSpPr>
          <p:cNvPr id="9" name="बाद में"/>
          <p:cNvSpPr/>
          <p:nvPr/>
        </p:nvSpPr>
        <p:spPr>
          <a:xfrm>
            <a:off x="6620024" y="1133921"/>
            <a:ext cx="3017341" cy="218018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बाद में</a:t>
            </a:r>
          </a:p>
          <a:p>
            <a:pPr algn="l"/>
            <a:endParaRPr lang="en-US"/>
          </a:p>
        </p:txBody>
      </p:sp>
      <p:sp>
        <p:nvSpPr>
          <p:cNvPr id="10" name="बहुत बदला"/>
          <p:cNvSpPr/>
          <p:nvPr/>
        </p:nvSpPr>
        <p:spPr>
          <a:xfrm>
            <a:off x="420886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बहुत बदला</a:t>
            </a:r>
          </a:p>
          <a:p>
            <a:pPr algn="l"/>
            <a:endParaRPr lang="en-US"/>
          </a:p>
        </p:txBody>
      </p:sp>
      <p:sp>
        <p:nvSpPr>
          <p:cNvPr id="11" name="धीरे-धीरे बदला"/>
          <p:cNvSpPr/>
          <p:nvPr/>
        </p:nvSpPr>
        <p:spPr>
          <a:xfrm>
            <a:off x="3520380" y="3396258"/>
            <a:ext cx="3017490" cy="196215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धीरे-धीरे बदला</a:t>
            </a:r>
          </a:p>
          <a:p>
            <a:pPr algn="l"/>
            <a:endParaRPr lang="en-US"/>
          </a:p>
        </p:txBody>
      </p:sp>
      <p:sp>
        <p:nvSpPr>
          <p:cNvPr id="12" name="क्या समान रहा?"/>
          <p:cNvSpPr/>
          <p:nvPr/>
        </p:nvSpPr>
        <p:spPr>
          <a:xfrm>
            <a:off x="6620024" y="3396258"/>
            <a:ext cx="3017341" cy="196215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क्या समान रहा?</a:t>
            </a:r>
          </a:p>
          <a:p>
            <a:pPr algn="l"/>
            <a:endParaRPr lang="en-US"/>
          </a:p>
        </p:txBody>
      </p:sp>
      <p:sp>
        <p:nvSpPr>
          <p:cNvPr id="13" name="क्यों?"/>
          <p:cNvSpPr/>
          <p:nvPr/>
        </p:nvSpPr>
        <p:spPr>
          <a:xfrm>
            <a:off x="420886" y="5440561"/>
            <a:ext cx="4562475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क्यों?</a:t>
            </a:r>
          </a:p>
          <a:p>
            <a:pPr algn="l"/>
            <a:endParaRPr lang="en-US"/>
          </a:p>
        </p:txBody>
      </p:sp>
      <p:sp>
        <p:nvSpPr>
          <p:cNvPr id="14" name="आपका निर्णय"/>
          <p:cNvSpPr/>
          <p:nvPr/>
        </p:nvSpPr>
        <p:spPr>
          <a:xfrm>
            <a:off x="5074741" y="5440561"/>
            <a:ext cx="4562624" cy="14169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1050" b="1" dirty="0">
                <a:solidFill>
                  <a:srgbClr val="111111"/>
                </a:solidFill>
                <a:latin typeface="Arial"/>
                <a:cs typeface="Arial"/>
              </a:rPr>
              <a:t>आपका निर्णय</a:t>
            </a:r>
          </a:p>
          <a:p>
            <a:pPr algn="l"/>
            <a:endParaRPr lang="en-US"/>
          </a:p>
        </p:txBody>
      </p:sp>
      <p:cxnSp>
        <p:nvCxnSpPr>
          <p:cNvPr id="15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16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17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18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ऐतिहासिक प्रमाण डोजियर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ऐतिहासिक प्रश्न"/>
          <p:cNvSpPr/>
          <p:nvPr/>
        </p:nvSpPr>
        <p:spPr>
          <a:xfrm>
            <a:off x="420886" y="1133921"/>
            <a:ext cx="9216628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ऐतिहासिक प्रश्न</a:t>
            </a:r>
          </a:p>
          <a:p>
            <a:pPr algn="l"/>
            <a:endParaRPr lang="en-US"/>
          </a:p>
        </p:txBody>
      </p:sp>
      <p:sp>
        <p:nvSpPr>
          <p:cNvPr id="8" name="स्रोत 1"/>
          <p:cNvSpPr/>
          <p:nvPr/>
        </p:nvSpPr>
        <p:spPr>
          <a:xfrm>
            <a:off x="420886" y="2343150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स्रोत 1</a:t>
            </a:r>
          </a:p>
          <a:p>
            <a:pPr algn="l"/>
            <a:endParaRPr lang="en-US"/>
          </a:p>
        </p:txBody>
      </p:sp>
      <p:sp>
        <p:nvSpPr>
          <p:cNvPr id="9" name="स्रोत 1 से प्रमाण"/>
          <p:cNvSpPr/>
          <p:nvPr/>
        </p:nvSpPr>
        <p:spPr>
          <a:xfrm>
            <a:off x="420886" y="3331518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स्रोत 1 से प्रमाण</a:t>
            </a:r>
          </a:p>
          <a:p>
            <a:pPr algn="l"/>
            <a:endParaRPr lang="en-US"/>
          </a:p>
        </p:txBody>
      </p:sp>
      <p:sp>
        <p:nvSpPr>
          <p:cNvPr id="10" name="विश्वसनीयता / सीमा"/>
          <p:cNvSpPr/>
          <p:nvPr/>
        </p:nvSpPr>
        <p:spPr>
          <a:xfrm>
            <a:off x="420886" y="4319885"/>
            <a:ext cx="3023443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विश्वसनीयता / सीमा</a:t>
            </a:r>
          </a:p>
          <a:p>
            <a:pPr algn="l"/>
            <a:endParaRPr lang="en-US"/>
          </a:p>
        </p:txBody>
      </p:sp>
      <p:sp>
        <p:nvSpPr>
          <p:cNvPr id="11" name="स्रोत 2"/>
          <p:cNvSpPr/>
          <p:nvPr/>
        </p:nvSpPr>
        <p:spPr>
          <a:xfrm>
            <a:off x="3517404" y="2343150"/>
            <a:ext cx="3023443" cy="927943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स्रोत 2</a:t>
            </a:r>
          </a:p>
          <a:p>
            <a:pPr algn="l"/>
            <a:endParaRPr lang="en-US"/>
          </a:p>
        </p:txBody>
      </p:sp>
      <p:sp>
        <p:nvSpPr>
          <p:cNvPr id="12" name="स्रोत 2 से प्रमाण"/>
          <p:cNvSpPr/>
          <p:nvPr/>
        </p:nvSpPr>
        <p:spPr>
          <a:xfrm>
            <a:off x="3517404" y="3344168"/>
            <a:ext cx="3023443" cy="9088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स्रोत 2 से प्रमाण</a:t>
            </a:r>
          </a:p>
          <a:p>
            <a:pPr algn="l"/>
            <a:endParaRPr lang="en-US"/>
          </a:p>
        </p:txBody>
      </p:sp>
      <p:sp>
        <p:nvSpPr>
          <p:cNvPr id="13" name="विश्वसनीयता / सीमा"/>
          <p:cNvSpPr/>
          <p:nvPr/>
        </p:nvSpPr>
        <p:spPr>
          <a:xfrm>
            <a:off x="3517404" y="4326136"/>
            <a:ext cx="3023443" cy="90904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विश्वसनीयता / सीमा</a:t>
            </a:r>
          </a:p>
          <a:p>
            <a:pPr algn="l"/>
            <a:endParaRPr lang="en-US"/>
          </a:p>
        </p:txBody>
      </p:sp>
      <p:sp>
        <p:nvSpPr>
          <p:cNvPr id="14" name="स्रोत 3"/>
          <p:cNvSpPr/>
          <p:nvPr/>
        </p:nvSpPr>
        <p:spPr>
          <a:xfrm>
            <a:off x="6613922" y="2343150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स्रोत 3</a:t>
            </a:r>
          </a:p>
          <a:p>
            <a:pPr algn="l"/>
            <a:endParaRPr lang="en-US"/>
          </a:p>
        </p:txBody>
      </p:sp>
      <p:sp>
        <p:nvSpPr>
          <p:cNvPr id="15" name="स्रोत 3 से प्रमाण"/>
          <p:cNvSpPr/>
          <p:nvPr/>
        </p:nvSpPr>
        <p:spPr>
          <a:xfrm>
            <a:off x="6613922" y="3331518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स्रोत 3 से प्रमाण</a:t>
            </a:r>
          </a:p>
          <a:p>
            <a:pPr algn="l"/>
            <a:endParaRPr lang="en-US"/>
          </a:p>
        </p:txBody>
      </p:sp>
      <p:sp>
        <p:nvSpPr>
          <p:cNvPr id="16" name="विश्वसनीयता / सीमा"/>
          <p:cNvSpPr/>
          <p:nvPr/>
        </p:nvSpPr>
        <p:spPr>
          <a:xfrm>
            <a:off x="6613922" y="4319885"/>
            <a:ext cx="3023592" cy="915293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विश्वसनीयता / सीमा</a:t>
            </a:r>
          </a:p>
          <a:p>
            <a:pPr algn="l"/>
            <a:endParaRPr lang="en-US"/>
          </a:p>
        </p:txBody>
      </p:sp>
      <p:sp>
        <p:nvSpPr>
          <p:cNvPr id="17" name="विरोधी / गायब प्रमाण"/>
          <p:cNvSpPr/>
          <p:nvPr/>
        </p:nvSpPr>
        <p:spPr>
          <a:xfrm>
            <a:off x="420886" y="5308253"/>
            <a:ext cx="3023443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विरोधी / गायब प्रमाण</a:t>
            </a:r>
          </a:p>
          <a:p>
            <a:pPr algn="l"/>
            <a:endParaRPr lang="en-US"/>
          </a:p>
        </p:txBody>
      </p:sp>
      <p:sp>
        <p:nvSpPr>
          <p:cNvPr id="18" name="कार्यकारी निष्कर्ष"/>
          <p:cNvSpPr/>
          <p:nvPr/>
        </p:nvSpPr>
        <p:spPr>
          <a:xfrm>
            <a:off x="3517404" y="5308253"/>
            <a:ext cx="6120110" cy="608558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कार्यकारी निष्कर्ष</a:t>
            </a:r>
          </a:p>
          <a:p>
            <a:pPr algn="l"/>
            <a:endParaRPr lang="en-US"/>
          </a:p>
        </p:txBody>
      </p:sp>
      <p:cxnSp>
        <p:nvCxnSpPr>
          <p:cNvPr id="19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0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21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22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20886" y="402580"/>
            <a:ext cx="2314986" cy="652260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नाम: ___________________</a:t>
            </a:r>
            <a:br/>
            <a:r>
              <a:rPr lang="en-US" sz="950" b="0" dirty="0">
                <a:solidFill>
                  <a:srgbClr val="111111"/>
                </a:solidFill>
                <a:latin typeface="Arial"/>
                <a:cs typeface="Arial"/>
              </a:rPr>
              <a:t>तारीख: __________ कक्षा/पीरियड: __________</a:t>
            </a:r>
          </a:p>
        </p:txBody>
      </p:sp>
      <p:sp>
        <p:nvSpPr>
          <p:cNvPr id="3" name="label"/>
          <p:cNvSpPr txBox="1"/>
          <p:nvPr/>
        </p:nvSpPr>
        <p:spPr>
          <a:xfrm>
            <a:off x="2845594" y="552301"/>
            <a:ext cx="4213735" cy="3215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2000" b="1" dirty="0">
                <a:solidFill>
                  <a:srgbClr val="111111"/>
                </a:solidFill>
                <a:latin typeface="Arial"/>
                <a:cs typeface="Arial"/>
              </a:rPr>
              <a:t>दो घटनाओं की तुलना</a:t>
            </a:r>
          </a:p>
        </p:txBody>
      </p:sp>
      <p:sp>
        <p:nvSpPr>
          <p:cNvPr id="4" name="label"/>
          <p:cNvSpPr txBox="1"/>
          <p:nvPr/>
        </p:nvSpPr>
        <p:spPr>
          <a:xfrm>
            <a:off x="2845594" y="847576"/>
            <a:ext cx="4213735" cy="20726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ctr"/>
            <a:r>
              <a:rPr lang="en-US" sz="900" b="0" dirty="0">
                <a:solidFill>
                  <a:srgbClr val="111111"/>
                </a:solidFill>
                <a:latin typeface="Arial"/>
                <a:cs typeface="Arial"/>
              </a:rPr>
              <a:t>ग्रेड स्तर: 9-12</a:t>
            </a:r>
          </a:p>
        </p:txBody>
      </p:sp>
      <p:sp>
        <p:nvSpPr>
          <p:cNvPr id="5" name="label"/>
          <p:cNvSpPr txBox="1"/>
          <p:nvPr/>
        </p:nvSpPr>
        <p:spPr>
          <a:xfrm>
            <a:off x="7169051" y="838051"/>
            <a:ext cx="2505039" cy="216789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1000" b="0" dirty="0">
                <a:solidFill>
                  <a:srgbClr val="111111"/>
                </a:solidFill>
                <a:latin typeface="Arial"/>
                <a:cs typeface="Arial"/>
              </a:rPr>
              <a:t>विषय / घटना: _____________________</a:t>
            </a:r>
          </a:p>
        </p:txBody>
      </p:sp>
      <p:cxnSp>
        <p:nvCxnSpPr>
          <p:cNvPr id="6" name="rule"/>
          <p:cNvCxnSpPr/>
          <p:nvPr/>
        </p:nvCxnSpPr>
        <p:spPr>
          <a:xfrm>
            <a:off x="420886" y="1042541"/>
            <a:ext cx="9216628" cy="0"/>
          </a:xfrm>
          <a:prstGeom prst="line">
            <a:avLst/>
          </a:prstGeom>
          <a:ln w="28575">
            <a:solidFill>
              <a:srgbClr val="111111"/>
            </a:solidFill>
          </a:ln>
        </p:spPr>
      </p:cxnSp>
      <p:sp>
        <p:nvSpPr>
          <p:cNvPr id="7" name="घटना A"/>
          <p:cNvSpPr/>
          <p:nvPr/>
        </p:nvSpPr>
        <p:spPr>
          <a:xfrm>
            <a:off x="420886" y="1133921"/>
            <a:ext cx="3239393" cy="95503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घटना A</a:t>
            </a:r>
          </a:p>
          <a:p>
            <a:pPr algn="l"/>
            <a:endParaRPr lang="en-US"/>
          </a:p>
        </p:txBody>
      </p:sp>
      <p:sp>
        <p:nvSpPr>
          <p:cNvPr id="8" name="घटना B"/>
          <p:cNvSpPr/>
          <p:nvPr/>
        </p:nvSpPr>
        <p:spPr>
          <a:xfrm>
            <a:off x="6397972" y="1133921"/>
            <a:ext cx="3239542" cy="955030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घटना B</a:t>
            </a:r>
          </a:p>
          <a:p>
            <a:pPr algn="l"/>
            <a:endParaRPr lang="en-US"/>
          </a:p>
        </p:txBody>
      </p:sp>
      <p:sp>
        <p:nvSpPr>
          <p:cNvPr id="9" name="यह क्यों हुआ?"/>
          <p:cNvSpPr/>
          <p:nvPr/>
        </p:nvSpPr>
        <p:spPr>
          <a:xfrm>
            <a:off x="420886" y="2162026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यह क्यों हुआ?</a:t>
            </a:r>
          </a:p>
          <a:p>
            <a:pPr algn="l"/>
            <a:endParaRPr lang="en-US"/>
          </a:p>
        </p:txBody>
      </p:sp>
      <p:sp>
        <p:nvSpPr>
          <p:cNvPr id="10" name="मुख्य लोग / समूह"/>
          <p:cNvSpPr/>
          <p:nvPr/>
        </p:nvSpPr>
        <p:spPr>
          <a:xfrm>
            <a:off x="420886" y="3066752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मुख्य लोग / समूह</a:t>
            </a:r>
          </a:p>
          <a:p>
            <a:pPr algn="l"/>
            <a:endParaRPr lang="en-US"/>
          </a:p>
        </p:txBody>
      </p:sp>
      <p:sp>
        <p:nvSpPr>
          <p:cNvPr id="11" name="समानताएँ"/>
          <p:cNvSpPr/>
          <p:nvPr/>
        </p:nvSpPr>
        <p:spPr>
          <a:xfrm>
            <a:off x="3733354" y="2162026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समानताएँ</a:t>
            </a:r>
          </a:p>
          <a:p>
            <a:pPr algn="l"/>
            <a:endParaRPr lang="en-US"/>
          </a:p>
        </p:txBody>
      </p:sp>
      <p:sp>
        <p:nvSpPr>
          <p:cNvPr id="12" name="अंतर"/>
          <p:cNvSpPr/>
          <p:nvPr/>
        </p:nvSpPr>
        <p:spPr>
          <a:xfrm>
            <a:off x="3733354" y="3066752"/>
            <a:ext cx="2591544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अंतर</a:t>
            </a:r>
          </a:p>
          <a:p>
            <a:pPr algn="l"/>
            <a:endParaRPr lang="en-US"/>
          </a:p>
        </p:txBody>
      </p:sp>
      <p:sp>
        <p:nvSpPr>
          <p:cNvPr id="13" name="यह क्यों हुआ?"/>
          <p:cNvSpPr/>
          <p:nvPr/>
        </p:nvSpPr>
        <p:spPr>
          <a:xfrm>
            <a:off x="6397972" y="2162026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यह क्यों हुआ?</a:t>
            </a:r>
          </a:p>
          <a:p>
            <a:pPr algn="l"/>
            <a:endParaRPr lang="en-US"/>
          </a:p>
        </p:txBody>
      </p:sp>
      <p:sp>
        <p:nvSpPr>
          <p:cNvPr id="14" name="मुख्य लोग / समूह"/>
          <p:cNvSpPr/>
          <p:nvPr/>
        </p:nvSpPr>
        <p:spPr>
          <a:xfrm>
            <a:off x="6397972" y="3066752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मुख्य लोग / समूह</a:t>
            </a:r>
          </a:p>
          <a:p>
            <a:pPr algn="l"/>
            <a:endParaRPr lang="en-US"/>
          </a:p>
        </p:txBody>
      </p:sp>
      <p:sp>
        <p:nvSpPr>
          <p:cNvPr id="15" name="परिणाम"/>
          <p:cNvSpPr/>
          <p:nvPr/>
        </p:nvSpPr>
        <p:spPr>
          <a:xfrm>
            <a:off x="420886" y="3971479"/>
            <a:ext cx="3239393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sp>
        <p:nvSpPr>
          <p:cNvPr id="16" name="ऐतिहासिक महत्व"/>
          <p:cNvSpPr/>
          <p:nvPr/>
        </p:nvSpPr>
        <p:spPr>
          <a:xfrm>
            <a:off x="420886" y="4876205"/>
            <a:ext cx="3239393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ऐतिहासिक महत्व</a:t>
            </a:r>
          </a:p>
          <a:p>
            <a:pPr algn="l"/>
            <a:endParaRPr lang="en-US"/>
          </a:p>
        </p:txBody>
      </p:sp>
      <p:sp>
        <p:nvSpPr>
          <p:cNvPr id="17" name="कौन-सी तुलना सबसे महत्वपूर्ण है?"/>
          <p:cNvSpPr/>
          <p:nvPr/>
        </p:nvSpPr>
        <p:spPr>
          <a:xfrm>
            <a:off x="3733354" y="3971479"/>
            <a:ext cx="2591544" cy="1736527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  <a:prstDash val="dash"/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कौन-सी तुलना सबसे महत्वपूर्ण है?</a:t>
            </a:r>
          </a:p>
          <a:p>
            <a:pPr algn="l"/>
            <a:endParaRPr lang="en-US"/>
          </a:p>
        </p:txBody>
      </p:sp>
      <p:sp>
        <p:nvSpPr>
          <p:cNvPr id="18" name="परिणाम"/>
          <p:cNvSpPr/>
          <p:nvPr/>
        </p:nvSpPr>
        <p:spPr>
          <a:xfrm>
            <a:off x="6397972" y="3971479"/>
            <a:ext cx="3239542" cy="831652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परिणाम</a:t>
            </a:r>
          </a:p>
          <a:p>
            <a:pPr algn="l"/>
            <a:endParaRPr lang="en-US"/>
          </a:p>
        </p:txBody>
      </p:sp>
      <p:sp>
        <p:nvSpPr>
          <p:cNvPr id="19" name="ऐतिहासिक महत्व"/>
          <p:cNvSpPr/>
          <p:nvPr/>
        </p:nvSpPr>
        <p:spPr>
          <a:xfrm>
            <a:off x="6397972" y="4876205"/>
            <a:ext cx="3239542" cy="831800"/>
          </a:xfrm>
          <a:prstGeom prst="roundRect">
            <a:avLst>
              <a:gd name="adj" fmla="val 14000"/>
            </a:avLst>
          </a:prstGeom>
          <a:noFill/>
          <a:ln w="1905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ऐतिहासिक महत्व</a:t>
            </a:r>
          </a:p>
          <a:p>
            <a:pPr algn="l"/>
            <a:endParaRPr lang="en-US"/>
          </a:p>
        </p:txBody>
      </p:sp>
      <p:sp>
        <p:nvSpPr>
          <p:cNvPr id="20" name="प्रमाण"/>
          <p:cNvSpPr/>
          <p:nvPr/>
        </p:nvSpPr>
        <p:spPr>
          <a:xfrm>
            <a:off x="420886" y="5781080"/>
            <a:ext cx="9216628" cy="627608"/>
          </a:xfrm>
          <a:prstGeom prst="roundRect">
            <a:avLst>
              <a:gd name="adj" fmla="val 14000"/>
            </a:avLst>
          </a:prstGeom>
          <a:noFill/>
          <a:ln w="34290" cap="flat">
            <a:solidFill>
              <a:srgbClr val="111111"/>
            </a:solidFill>
          </a:ln>
        </p:spPr>
        <p:txBody>
          <a:bodyPr lIns="45720" tIns="27432" rIns="45720" bIns="27432" anchor="t" wrap="square"/>
          <a:lstStyle/>
          <a:p>
            <a:pPr algn="l"/>
            <a:r>
              <a:rPr lang="en-US" sz="920" b="1" dirty="0">
                <a:solidFill>
                  <a:srgbClr val="111111"/>
                </a:solidFill>
                <a:latin typeface="Arial"/>
                <a:cs typeface="Arial"/>
              </a:rPr>
              <a:t>प्रमाण</a:t>
            </a:r>
          </a:p>
          <a:p>
            <a:pPr algn="l"/>
            <a:endParaRPr lang="en-US"/>
          </a:p>
        </p:txBody>
      </p:sp>
      <p:cxnSp>
        <p:nvCxnSpPr>
          <p:cNvPr id="21" name="rule"/>
          <p:cNvCxnSpPr/>
          <p:nvPr/>
        </p:nvCxnSpPr>
        <p:spPr>
          <a:xfrm>
            <a:off x="420886" y="6949083"/>
            <a:ext cx="9216628" cy="0"/>
          </a:xfrm>
          <a:prstGeom prst="line">
            <a:avLst/>
          </a:prstGeom>
          <a:ln w="9525">
            <a:solidFill>
              <a:srgbClr val="111111"/>
            </a:solidFill>
          </a:ln>
        </p:spPr>
      </p:cxnSp>
      <p:sp>
        <p:nvSpPr>
          <p:cNvPr id="22" name="label"/>
          <p:cNvSpPr txBox="1"/>
          <p:nvPr/>
        </p:nvSpPr>
        <p:spPr>
          <a:xfrm>
            <a:off x="420886" y="7015162"/>
            <a:ext cx="2204704" cy="41681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l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उपयोग किए गए स्रोत: 1.________________ 2.________________ 3.________________</a:t>
            </a:r>
          </a:p>
        </p:txBody>
      </p:sp>
      <p:sp>
        <p:nvSpPr>
          <p:cNvPr id="23" name="label"/>
          <p:cNvSpPr txBox="1"/>
          <p:nvPr/>
        </p:nvSpPr>
        <p:spPr>
          <a:xfrm>
            <a:off x="2680395" y="7074247"/>
            <a:ext cx="4282494" cy="298644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800" b="0" dirty="0">
                <a:solidFill>
                  <a:srgbClr val="111111"/>
                </a:solidFill>
                <a:latin typeface="Arial"/>
                <a:cs typeface="Arial"/>
              </a:rPr>
              <a:t>TEKS कौशल फोकस: कक्षा 9–12: ऐतिहासिक अन्वेषण, कालक्रम, कारण-कार्य संबंध, दृष्टिकोण, स्रोत मूल्यांकन, दावे/प्रमाण, भौगोलिक व्याख्या और दृश्य संचार।</a:t>
            </a:r>
          </a:p>
        </p:txBody>
      </p:sp>
      <p:sp>
        <p:nvSpPr>
          <p:cNvPr id="24" name="label"/>
          <p:cNvSpPr txBox="1"/>
          <p:nvPr/>
        </p:nvSpPr>
        <p:spPr>
          <a:xfrm>
            <a:off x="7017693" y="7144345"/>
            <a:ext cx="2656397" cy="158448"/>
          </a:xfrm>
          <a:prstGeom prst="rect">
            <a:avLst/>
          </a:prstGeom>
          <a:noFill/>
          <a:ln>
            <a:noFill/>
          </a:ln>
        </p:spPr>
        <p:txBody>
          <a:bodyPr lIns="18288" tIns="9144" rIns="18288" bIns="9144" anchor="t" wrap="square"/>
          <a:lstStyle/>
          <a:p>
            <a:pPr algn="r"/>
            <a:r>
              <a:rPr lang="en-US" sz="710" b="0" dirty="0">
                <a:solidFill>
                  <a:srgbClr val="111111"/>
                </a:solidFill>
                <a:latin typeface="Arial"/>
                <a:cs typeface="Arial"/>
              </a:rPr>
              <a:t>CC-BY-NC TCEA.org by Miguel Guhlin (mguhlin.org)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23266"/>
      </a:dk2>
      <a:lt2>
        <a:srgbClr val="F4F8FC"/>
      </a:lt2>
      <a:accent1>
        <a:srgbClr val="054C8C"/>
      </a:accent1>
      <a:accent2>
        <a:srgbClr val="FBD239"/>
      </a:accent2>
      <a:accent3>
        <a:srgbClr val="238A8D"/>
      </a:accent3>
      <a:accent4>
        <a:srgbClr val="6D5AA8"/>
      </a:accent4>
      <a:accent5>
        <a:srgbClr val="D97A28"/>
      </a:accent5>
      <a:accent6>
        <a:srgbClr val="5A8F52"/>
      </a:accent6>
      <a:hlink>
        <a:srgbClr val="054C8C"/>
      </a:hlink>
      <a:folHlink>
        <a:srgbClr val="6D5AA8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History Event Maps</Application>
  <Slides>24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इतिहास घटना मानचित्र</dc:title>
  <dc:creator>TCEA / Miguel Guhlin</dc:creator>
  <cp:lastModifiedBy>TCEA</cp:lastModifiedBy>
</cp:coreProperties>
</file>