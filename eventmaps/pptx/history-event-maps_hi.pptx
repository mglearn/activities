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संक्षेप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अंत में क्या हुआ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 में क्या हुआ?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कौन शामिल था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आप क्या निष्कर्ष निकाल सकते हैं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→ घटना → प्रभाव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महत्वपूर्ण क्यों था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8" name="यह क्यों हुआ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</p:txBody>
      </p:sp>
      <p:sp>
        <p:nvSpPr>
          <p:cNvPr id="9" name="घटना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तुरंत प्रभाव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</p:txBody>
      </p:sp>
      <p:sp>
        <p:nvSpPr>
          <p:cNvPr id="11" name="कौन शामिल था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क्रम पथ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्रम (घटनाओं का क्रम)"/>
          <p:cNvSpPr/>
          <p:nvPr/>
        </p:nvSpPr>
        <p:spPr>
          <a:xfrm>
            <a:off x="420886" y="4455468"/>
            <a:ext cx="9216628" cy="240223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क्रम (घटनाओं का क्रम)</a:t>
            </a:r>
          </a:p>
          <a:p>
            <a:pPr algn="ctr"/>
            <a:endParaRPr lang="en-US"/>
          </a:p>
        </p:txBody>
      </p:sp>
      <p:sp>
        <p:nvSpPr>
          <p:cNvPr id="8" name="यह कहाँ हुआ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9" name="घटना"/>
          <p:cNvSpPr/>
          <p:nvPr/>
        </p:nvSpPr>
        <p:spPr>
          <a:xfrm>
            <a:off x="3379887" y="1133921"/>
            <a:ext cx="3298478" cy="206737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यह कब हुआ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1" name="शुरुआत"/>
          <p:cNvSpPr/>
          <p:nvPr/>
        </p:nvSpPr>
        <p:spPr>
          <a:xfrm>
            <a:off x="420886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शुरुआत</a:t>
            </a:r>
          </a:p>
          <a:p>
            <a:pPr algn="l"/>
            <a:endParaRPr lang="en-US"/>
          </a:p>
        </p:txBody>
      </p:sp>
      <p:sp>
        <p:nvSpPr>
          <p:cNvPr id="12" name="कौन शामिल था?"/>
          <p:cNvSpPr/>
          <p:nvPr/>
        </p:nvSpPr>
        <p:spPr>
          <a:xfrm>
            <a:off x="6751439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3" name="अंत"/>
          <p:cNvSpPr/>
          <p:nvPr/>
        </p:nvSpPr>
        <p:spPr>
          <a:xfrm>
            <a:off x="420886" y="3274368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</a:t>
            </a:r>
          </a:p>
          <a:p>
            <a:pPr algn="l"/>
            <a:endParaRPr lang="en-US"/>
          </a:p>
        </p:txBody>
      </p:sp>
      <p:sp>
        <p:nvSpPr>
          <p:cNvPr id="14" name="यह महत्वपूर्ण क्यों था?"/>
          <p:cNvSpPr/>
          <p:nvPr/>
        </p:nvSpPr>
        <p:spPr>
          <a:xfrm>
            <a:off x="3379887" y="3274368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749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1132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501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869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3252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लोग और समूह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यह व्यक्ति महत्वपूर्ण क्यों था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व्यक्ति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समूह 1"/>
          <p:cNvSpPr/>
          <p:nvPr/>
        </p:nvSpPr>
        <p:spPr>
          <a:xfrm>
            <a:off x="3945582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ctr"/>
            <a:endParaRPr lang="en-US"/>
          </a:p>
        </p:txBody>
      </p:sp>
      <p:sp>
        <p:nvSpPr>
          <p:cNvPr id="10" name="समूह 1 क्या चाहता था?"/>
          <p:cNvSpPr/>
          <p:nvPr/>
        </p:nvSpPr>
        <p:spPr>
          <a:xfrm>
            <a:off x="3945582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 क्या चाहता था?</a:t>
            </a:r>
          </a:p>
          <a:p>
            <a:pPr algn="l"/>
            <a:endParaRPr lang="en-US"/>
          </a:p>
        </p:txBody>
      </p:sp>
      <p:sp>
        <p:nvSpPr>
          <p:cNvPr id="11" name="आप क्या निष्कर्ष निकाल सकते हैं?"/>
          <p:cNvSpPr/>
          <p:nvPr/>
        </p:nvSpPr>
        <p:spPr>
          <a:xfrm>
            <a:off x="3945582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sp>
        <p:nvSpPr>
          <p:cNvPr id="12" name="समूह 2"/>
          <p:cNvSpPr/>
          <p:nvPr/>
        </p:nvSpPr>
        <p:spPr>
          <a:xfrm>
            <a:off x="5867251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ctr"/>
            <a:endParaRPr lang="en-US"/>
          </a:p>
        </p:txBody>
      </p:sp>
      <p:sp>
        <p:nvSpPr>
          <p:cNvPr id="13" name="समूह 2 क्या चाहता था?"/>
          <p:cNvSpPr/>
          <p:nvPr/>
        </p:nvSpPr>
        <p:spPr>
          <a:xfrm>
            <a:off x="5867251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 क्या चाहता था?</a:t>
            </a:r>
          </a:p>
          <a:p>
            <a:pPr algn="l"/>
            <a:endParaRPr lang="en-US"/>
          </a:p>
        </p:txBody>
      </p:sp>
      <p:sp>
        <p:nvSpPr>
          <p:cNvPr id="14" name="परिणाम"/>
          <p:cNvSpPr/>
          <p:nvPr/>
        </p:nvSpPr>
        <p:spPr>
          <a:xfrm>
            <a:off x="5867251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5" name="समूह 3"/>
          <p:cNvSpPr/>
          <p:nvPr/>
        </p:nvSpPr>
        <p:spPr>
          <a:xfrm>
            <a:off x="7788920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ctr"/>
            <a:endParaRPr lang="en-US"/>
          </a:p>
        </p:txBody>
      </p:sp>
      <p:sp>
        <p:nvSpPr>
          <p:cNvPr id="16" name="समूह 3 क्या चाहता था?"/>
          <p:cNvSpPr/>
          <p:nvPr/>
        </p:nvSpPr>
        <p:spPr>
          <a:xfrm>
            <a:off x="7788920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 क्या चाहता था?</a:t>
            </a:r>
          </a:p>
          <a:p>
            <a:pPr algn="l"/>
            <a:endParaRPr lang="en-US"/>
          </a:p>
        </p:txBody>
      </p:sp>
      <p:sp>
        <p:nvSpPr>
          <p:cNvPr id="17" name="परिणाम"/>
          <p:cNvSpPr/>
          <p:nvPr/>
        </p:nvSpPr>
        <p:spPr>
          <a:xfrm>
            <a:off x="7788920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है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विशेषताए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विशेषताएँ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ीय विशेषताए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मानवीय विशेषताएँ</a:t>
            </a:r>
          </a:p>
          <a:p>
            <a:pPr algn="l"/>
            <a:endParaRPr lang="en-US"/>
          </a:p>
        </p:txBody>
      </p:sp>
      <p:sp>
        <p:nvSpPr>
          <p:cNvPr id="10" name="यह यहाँ क्यों हुआ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यहाँ क्यों हुआ?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ने घटना को कैसे प्रभावित किया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ने घटना को कैसे प्रभावित किया?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पहले और बाद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क्या बदला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बदला?</a:t>
            </a:r>
          </a:p>
          <a:p>
            <a:pPr algn="l"/>
            <a:endParaRPr lang="en-US"/>
          </a:p>
        </p:txBody>
      </p:sp>
      <p:sp>
        <p:nvSpPr>
          <p:cNvPr id="11" name="क्या समान रहा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प्रमाण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्रोत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8" name="उपयोगी तथ्य या प्रमाण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9" name="स्रोत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0" name="उपयोगी तथ्य या प्रमाण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1" name="स्रोत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2" name="उपयोगी तथ्य या प्रमाण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यह क्यों महत्वपूर्ण था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8" name="लोगों पर प्रभाव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लोगों पर प्रभाव</a:t>
            </a:r>
          </a:p>
          <a:p>
            <a:pPr algn="l"/>
            <a:endParaRPr lang="en-US"/>
          </a:p>
        </p:txBody>
      </p:sp>
      <p:sp>
        <p:nvSpPr>
          <p:cNvPr id="9" name="सरकार पर प्रभाव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सरकार पर प्रभाव</a:t>
            </a:r>
          </a:p>
          <a:p>
            <a:pPr algn="l"/>
            <a:endParaRPr lang="en-US"/>
          </a:p>
        </p:txBody>
      </p:sp>
      <p:sp>
        <p:nvSpPr>
          <p:cNvPr id="10" name="अर्थव्यवस्था पर प्रभाव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अर्थव्यवस्था पर प्रभाव</a:t>
            </a:r>
          </a:p>
          <a:p>
            <a:pPr algn="l"/>
            <a:endParaRPr lang="en-US"/>
          </a:p>
        </p:txBody>
      </p:sp>
      <p:sp>
        <p:nvSpPr>
          <p:cNvPr id="11" name="समुदाय / संस्कृति पर प्रभाव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समुदाय / संस्कृति पर प्रभाव</a:t>
            </a:r>
          </a:p>
          <a:p>
            <a:pPr algn="l"/>
            <a:endParaRPr lang="en-US"/>
          </a:p>
        </p:txBody>
      </p:sp>
      <p:sp>
        <p:nvSpPr>
          <p:cNvPr id="12" name="कौन-सा बदलाव सबसे महत्वपूर्ण था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बदलाव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जाँचकर्ता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परिणाम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शामिल समूह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शामिल समूह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महत्वपूर्ण नेता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दबाव के कारण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ीर्घकालिक कारण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8" name="अल्पकालिक कारण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अल्पकालिक कारण</a:t>
            </a:r>
          </a:p>
          <a:p>
            <a:pPr algn="l"/>
            <a:endParaRPr lang="en-US"/>
          </a:p>
        </p:txBody>
      </p:sp>
      <p:sp>
        <p:nvSpPr>
          <p:cNvPr id="9" name="तुरंत कारण / चिंगारी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कारण / चिंगारी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11" name="तुरंत प्रभाव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मोड़ बिंदु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ढ़ता दबाव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बढ़ता दबाव</a:t>
            </a:r>
          </a:p>
          <a:p>
            <a:pPr algn="l"/>
            <a:endParaRPr lang="en-US"/>
          </a:p>
        </p:txBody>
      </p:sp>
      <p:sp>
        <p:nvSpPr>
          <p:cNvPr id="11" name="दीर्घकालिक बदलाव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2" name="यह मोड़ बिंदु क्यों था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मोड़ बिंदु क्यों था?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अनेक दृष्टिकोण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मूह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समूह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l"/>
            <a:endParaRPr lang="en-US"/>
          </a:p>
        </p:txBody>
      </p:sp>
      <p:sp>
        <p:nvSpPr>
          <p:cNvPr id="10" name="समूह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l"/>
            <a:endParaRPr lang="en-US"/>
          </a:p>
        </p:txBody>
      </p:sp>
      <p:sp>
        <p:nvSpPr>
          <p:cNvPr id="11" name="समूह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4</a:t>
            </a:r>
          </a:p>
          <a:p>
            <a:pPr algn="l"/>
            <a:endParaRPr lang="en-US"/>
          </a:p>
        </p:txBody>
      </p:sp>
      <p:sp>
        <p:nvSpPr>
          <p:cNvPr id="12" name="वे कहाँ सहमत थे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3" name="वे कहाँ असहमत थे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4" name="किसकी आवाज़ गायब है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नेता और घटना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प्रभाव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प्रभाव</a:t>
            </a:r>
          </a:p>
          <a:p>
            <a:pPr algn="l"/>
            <a:endParaRPr lang="en-US"/>
          </a:p>
        </p:txBody>
      </p:sp>
      <p:sp>
        <p:nvSpPr>
          <p:cNvPr id="9" name="प्रमाण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नेता के लक्ष्य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नेता के लक्ष्य</a:t>
            </a:r>
          </a:p>
          <a:p>
            <a:pPr algn="l"/>
            <a:endParaRPr lang="en-US"/>
          </a:p>
        </p:txBody>
      </p:sp>
      <p:sp>
        <p:nvSpPr>
          <p:cNvPr id="12" name="मुख्य निर्णय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निर्णय</a:t>
            </a:r>
          </a:p>
          <a:p>
            <a:pPr algn="l"/>
            <a:endParaRPr lang="en-US"/>
          </a:p>
        </p:txBody>
      </p:sp>
      <p:sp>
        <p:nvSpPr>
          <p:cNvPr id="13" name="सहयोगी / समर्थक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सहयोगी / समर्थक</a:t>
            </a:r>
          </a:p>
          <a:p>
            <a:pPr algn="l"/>
            <a:endParaRPr lang="en-US"/>
          </a:p>
        </p:txBody>
      </p:sp>
      <p:sp>
        <p:nvSpPr>
          <p:cNvPr id="14" name="विरोधी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विरोधी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संघर्ष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क्ष / समूह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A</a:t>
            </a:r>
          </a:p>
          <a:p>
            <a:pPr algn="l"/>
            <a:endParaRPr lang="en-US"/>
          </a:p>
        </p:txBody>
      </p:sp>
      <p:sp>
        <p:nvSpPr>
          <p:cNvPr id="8" name="पक्ष A का लक्ष्य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का लक्ष्य</a:t>
            </a:r>
          </a:p>
          <a:p>
            <a:pPr algn="l"/>
            <a:endParaRPr lang="en-US"/>
          </a:p>
        </p:txBody>
      </p:sp>
      <p:sp>
        <p:nvSpPr>
          <p:cNvPr id="9" name="पक्ष A की कार्रवाई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की कार्रवाई</a:t>
            </a:r>
          </a:p>
          <a:p>
            <a:pPr algn="l"/>
            <a:endParaRPr lang="en-US"/>
          </a:p>
        </p:txBody>
      </p:sp>
      <p:sp>
        <p:nvSpPr>
          <p:cNvPr id="10" name="संघर्ष की घटना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संघर्ष की घटना</a:t>
            </a:r>
          </a:p>
        </p:txBody>
      </p:sp>
      <p:sp>
        <p:nvSpPr>
          <p:cNvPr id="11" name="पक्ष / समूह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B</a:t>
            </a:r>
          </a:p>
          <a:p>
            <a:pPr algn="l"/>
            <a:endParaRPr lang="en-US"/>
          </a:p>
        </p:txBody>
      </p:sp>
      <p:sp>
        <p:nvSpPr>
          <p:cNvPr id="12" name="पक्ष B का लक्ष्य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का लक्ष्य</a:t>
            </a:r>
          </a:p>
          <a:p>
            <a:pPr algn="l"/>
            <a:endParaRPr lang="en-US"/>
          </a:p>
        </p:txBody>
      </p:sp>
      <p:sp>
        <p:nvSpPr>
          <p:cNvPr id="13" name="पक्ष B की कार्रवाई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की कार्रवाई</a:t>
            </a:r>
          </a:p>
          <a:p>
            <a:pPr algn="l"/>
            <a:endParaRPr lang="en-US"/>
          </a:p>
        </p:txBody>
      </p:sp>
      <p:sp>
        <p:nvSpPr>
          <p:cNvPr id="14" name="समाधान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समाधान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श्रृंखला प्रतिक्रिया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्रवाई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1</a:t>
            </a:r>
          </a:p>
          <a:p>
            <a:pPr algn="l"/>
            <a:endParaRPr lang="en-US"/>
          </a:p>
        </p:txBody>
      </p:sp>
      <p:sp>
        <p:nvSpPr>
          <p:cNvPr id="8" name="प्रतिक्रिया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1</a:t>
            </a:r>
          </a:p>
          <a:p>
            <a:pPr algn="l"/>
            <a:endParaRPr lang="en-US"/>
          </a:p>
        </p:txBody>
      </p:sp>
      <p:sp>
        <p:nvSpPr>
          <p:cNvPr id="9" name="कार्रवाई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2</a:t>
            </a:r>
          </a:p>
          <a:p>
            <a:pPr algn="l"/>
            <a:endParaRPr lang="en-US"/>
          </a:p>
        </p:txBody>
      </p:sp>
      <p:sp>
        <p:nvSpPr>
          <p:cNvPr id="10" name="प्रतिक्रिया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2</a:t>
            </a:r>
          </a:p>
          <a:p>
            <a:pPr algn="l"/>
            <a:endParaRPr lang="en-US"/>
          </a:p>
        </p:txBody>
      </p:sp>
      <p:sp>
        <p:nvSpPr>
          <p:cNvPr id="11" name="संकट / मोड़ बिंदु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संकट / मोड़ बिंदु</a:t>
            </a:r>
          </a:p>
          <a:p>
            <a:pPr algn="l"/>
            <a:endParaRPr lang="en-US"/>
          </a:p>
        </p:txBody>
      </p:sp>
      <p:sp>
        <p:nvSpPr>
          <p:cNvPr id="12" name="परिणाम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3" name="सबसे महत्वपूर्ण कड़ी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कड़ी</a:t>
            </a:r>
          </a:p>
          <a:p>
            <a:pPr algn="l"/>
            <a:endParaRPr lang="en-US"/>
          </a:p>
        </p:txBody>
      </p:sp>
      <p:sp>
        <p:nvSpPr>
          <p:cNvPr id="14" name="प्रमाण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का भूगोल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भूगोल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भूगोल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 भूगोल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 भूगोल</a:t>
            </a:r>
          </a:p>
          <a:p>
            <a:pPr algn="l"/>
            <a:endParaRPr lang="en-US"/>
          </a:p>
        </p:txBody>
      </p:sp>
      <p:sp>
        <p:nvSpPr>
          <p:cNvPr id="10" name="संसाधन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संसाधन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क्यों महत्वपूर्ण था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था?</a:t>
            </a:r>
          </a:p>
          <a:p>
            <a:pPr algn="l"/>
            <a:endParaRPr lang="en-US"/>
          </a:p>
        </p:txBody>
      </p:sp>
      <p:sp>
        <p:nvSpPr>
          <p:cNvPr id="13" name="भौगोलिक प्रभाव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प्रभाव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संदर्भ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संदर्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संदर्भ</a:t>
            </a:r>
          </a:p>
          <a:p>
            <a:pPr algn="l"/>
            <a:endParaRPr lang="en-US"/>
          </a:p>
        </p:txBody>
      </p:sp>
      <p:sp>
        <p:nvSpPr>
          <p:cNvPr id="8" name="दीर्घकालिक कारण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9" name="तत्काल कारण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कारण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क्या हुआ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हुआ?</a:t>
            </a:r>
          </a:p>
          <a:p>
            <a:pPr algn="l"/>
            <a:endParaRPr lang="en-US"/>
          </a:p>
        </p:txBody>
      </p:sp>
      <p:sp>
        <p:nvSpPr>
          <p:cNvPr id="12" name="घटना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तत्काल परिणाम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परिणाम</a:t>
            </a:r>
          </a:p>
          <a:p>
            <a:pPr algn="l"/>
            <a:endParaRPr lang="en-US"/>
          </a:p>
        </p:txBody>
      </p:sp>
      <p:sp>
        <p:nvSpPr>
          <p:cNvPr id="14" name="दीर्घकालिक परिणाम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परिणाम</a:t>
            </a:r>
          </a:p>
          <a:p>
            <a:pPr algn="l"/>
            <a:endParaRPr lang="en-US"/>
          </a:p>
        </p:txBody>
      </p:sp>
      <p:sp>
        <p:nvSpPr>
          <p:cNvPr id="15" name="ऐतिहासिक महत्व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रैंकिंग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ण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1</a:t>
            </a:r>
          </a:p>
          <a:p>
            <a:pPr algn="l"/>
            <a:endParaRPr lang="en-US"/>
          </a:p>
        </p:txBody>
      </p:sp>
      <p:sp>
        <p:nvSpPr>
          <p:cNvPr id="8" name="कारण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2</a:t>
            </a:r>
          </a:p>
          <a:p>
            <a:pPr algn="l"/>
            <a:endParaRPr lang="en-US"/>
          </a:p>
        </p:txBody>
      </p:sp>
      <p:sp>
        <p:nvSpPr>
          <p:cNvPr id="9" name="कारण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3</a:t>
            </a:r>
          </a:p>
          <a:p>
            <a:pPr algn="l"/>
            <a:endParaRPr lang="en-US"/>
          </a:p>
        </p:txBody>
      </p:sp>
      <p:sp>
        <p:nvSpPr>
          <p:cNvPr id="10" name="कारण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4</a:t>
            </a:r>
          </a:p>
          <a:p>
            <a:pPr algn="l"/>
            <a:endParaRPr lang="en-US"/>
          </a:p>
        </p:txBody>
      </p:sp>
      <p:sp>
        <p:nvSpPr>
          <p:cNvPr id="11" name="कारणों को 1-4 क्रम दें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कारणों को 1-4 क्रम दें</a:t>
            </a:r>
          </a:p>
          <a:p>
            <a:pPr algn="l"/>
            <a:endParaRPr lang="en-US"/>
          </a:p>
        </p:txBody>
      </p:sp>
      <p:sp>
        <p:nvSpPr>
          <p:cNvPr id="12" name="सबसे महत्वपूर्ण कारण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कारण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विश्लेषण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तत्काल बदलाव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बदलाव</a:t>
            </a:r>
          </a:p>
          <a:p>
            <a:pPr algn="l"/>
            <a:endParaRPr lang="en-US"/>
          </a:p>
        </p:txBody>
      </p:sp>
      <p:sp>
        <p:nvSpPr>
          <p:cNvPr id="10" name="दीर्घकालिक बदलाव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1" name="क्या जारी रहा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जारी रहा?</a:t>
            </a:r>
          </a:p>
          <a:p>
            <a:pPr algn="l"/>
            <a:endParaRPr lang="en-US"/>
          </a:p>
        </p:txBody>
      </p:sp>
      <p:sp>
        <p:nvSpPr>
          <p:cNvPr id="12" name="क्या यह वास्तव में मोड़ बिंदु था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यह वास्तव में मोड़ बिंदु था?</a:t>
            </a:r>
          </a:p>
          <a:p>
            <a:pPr algn="l"/>
            <a:endParaRPr lang="en-US"/>
          </a:p>
        </p:txBody>
      </p:sp>
      <p:sp>
        <p:nvSpPr>
          <p:cNvPr id="13" name="प्रमाण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और प्रमाण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ृष्टिकोण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दृष्टिकोण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2</a:t>
            </a:r>
          </a:p>
          <a:p>
            <a:pPr algn="l"/>
            <a:endParaRPr lang="en-US"/>
          </a:p>
        </p:txBody>
      </p:sp>
      <p:sp>
        <p:nvSpPr>
          <p:cNvPr id="10" name="दृष्टिकोण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3</a:t>
            </a:r>
          </a:p>
          <a:p>
            <a:pPr algn="l"/>
            <a:endParaRPr lang="en-US"/>
          </a:p>
        </p:txBody>
      </p:sp>
      <p:sp>
        <p:nvSpPr>
          <p:cNvPr id="11" name="दृष्टिकोण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4</a:t>
            </a:r>
          </a:p>
          <a:p>
            <a:pPr algn="l"/>
            <a:endParaRPr lang="en-US"/>
          </a:p>
        </p:txBody>
      </p:sp>
      <p:sp>
        <p:nvSpPr>
          <p:cNvPr id="12" name="प्रमाण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3" name="वे कहाँ सहमत थे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4" name="वे कहाँ असहमत थे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5" name="किसकी आवाज़ गायब है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प्रभाव चतुर्थांश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राजनीतिक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राजनीतिक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आर्थिक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आर्थिक</a:t>
            </a:r>
          </a:p>
          <a:p>
            <a:pPr algn="l"/>
            <a:endParaRPr lang="en-US"/>
          </a:p>
        </p:txBody>
      </p:sp>
      <p:sp>
        <p:nvSpPr>
          <p:cNvPr id="10" name="सामाजिक / सांस्कृतिक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सामाजिक / सांस्कृतिक</a:t>
            </a:r>
          </a:p>
          <a:p>
            <a:pPr algn="l"/>
            <a:endParaRPr lang="en-US"/>
          </a:p>
        </p:txBody>
      </p:sp>
      <p:sp>
        <p:nvSpPr>
          <p:cNvPr id="11" name="भौगोलिक / पर्यावरणीय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/ पर्यावरणीय</a:t>
            </a:r>
          </a:p>
          <a:p>
            <a:pPr algn="l"/>
            <a:endParaRPr lang="en-US"/>
          </a:p>
        </p:txBody>
      </p:sp>
      <p:sp>
        <p:nvSpPr>
          <p:cNvPr id="12" name="तत्काल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</a:t>
            </a:r>
          </a:p>
          <a:p>
            <a:pPr algn="l"/>
            <a:endParaRPr lang="en-US"/>
          </a:p>
        </p:txBody>
      </p:sp>
      <p:sp>
        <p:nvSpPr>
          <p:cNvPr id="13" name="दीर्घकालिक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</a:t>
            </a:r>
          </a:p>
          <a:p>
            <a:pPr algn="l"/>
            <a:endParaRPr lang="en-US"/>
          </a:p>
        </p:txBody>
      </p:sp>
      <p:sp>
        <p:nvSpPr>
          <p:cNvPr id="14" name="कौन-सा प्रभाव सबसे महत्वपूर्ण था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प्रभाव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निरंतरता और परिवर्तन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दौरान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दौरान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हुत बदला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बहुत बदला</a:t>
            </a:r>
          </a:p>
          <a:p>
            <a:pPr algn="l"/>
            <a:endParaRPr lang="en-US"/>
          </a:p>
        </p:txBody>
      </p:sp>
      <p:sp>
        <p:nvSpPr>
          <p:cNvPr id="11" name="धीरे-धीरे बदला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धीरे-धीरे बदला</a:t>
            </a:r>
          </a:p>
          <a:p>
            <a:pPr algn="l"/>
            <a:endParaRPr lang="en-US"/>
          </a:p>
        </p:txBody>
      </p:sp>
      <p:sp>
        <p:nvSpPr>
          <p:cNvPr id="12" name="क्या समान रहा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3" name="क्यों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क्यों?</a:t>
            </a:r>
          </a:p>
          <a:p>
            <a:pPr algn="l"/>
            <a:endParaRPr lang="en-US"/>
          </a:p>
        </p:txBody>
      </p:sp>
      <p:sp>
        <p:nvSpPr>
          <p:cNvPr id="14" name="आपका निर्णय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आपका निर्णय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प्रमाण डोजियर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प्रश्न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प्रश्न</a:t>
            </a:r>
          </a:p>
          <a:p>
            <a:pPr algn="l"/>
            <a:endParaRPr lang="en-US"/>
          </a:p>
        </p:txBody>
      </p:sp>
      <p:sp>
        <p:nvSpPr>
          <p:cNvPr id="8" name="स्रोत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9" name="स्रोत 1 से प्रमाण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 से प्रमाण</a:t>
            </a:r>
          </a:p>
          <a:p>
            <a:pPr algn="l"/>
            <a:endParaRPr lang="en-US"/>
          </a:p>
        </p:txBody>
      </p:sp>
      <p:sp>
        <p:nvSpPr>
          <p:cNvPr id="10" name="विश्वसनीयता / सीमा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1" name="स्रोत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2" name="स्रोत 2 से प्रमाण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 से प्रमाण</a:t>
            </a:r>
          </a:p>
          <a:p>
            <a:pPr algn="l"/>
            <a:endParaRPr lang="en-US"/>
          </a:p>
        </p:txBody>
      </p:sp>
      <p:sp>
        <p:nvSpPr>
          <p:cNvPr id="13" name="विश्वसनीयता / सीमा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4" name="स्रोत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5" name="स्रोत 3 से प्रमाण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 से प्रमाण</a:t>
            </a:r>
          </a:p>
          <a:p>
            <a:pPr algn="l"/>
            <a:endParaRPr lang="en-US"/>
          </a:p>
        </p:txBody>
      </p:sp>
      <p:sp>
        <p:nvSpPr>
          <p:cNvPr id="16" name="विश्वसनीयता / सीमा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7" name="विरोधी / गायब प्रमाण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विरोधी / गायब प्रमाण</a:t>
            </a:r>
          </a:p>
          <a:p>
            <a:pPr algn="l"/>
            <a:endParaRPr lang="en-US"/>
          </a:p>
        </p:txBody>
      </p:sp>
      <p:sp>
        <p:nvSpPr>
          <p:cNvPr id="18" name="कार्यकारी निष्कर्ष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कार्यकारी निष्कर्ष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दो घटनाओं की तुलना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A</a:t>
            </a:r>
          </a:p>
          <a:p>
            <a:pPr algn="l"/>
            <a:endParaRPr lang="en-US"/>
          </a:p>
        </p:txBody>
      </p:sp>
      <p:sp>
        <p:nvSpPr>
          <p:cNvPr id="8" name="घटना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B</a:t>
            </a:r>
          </a:p>
          <a:p>
            <a:pPr algn="l"/>
            <a:endParaRPr lang="en-US"/>
          </a:p>
        </p:txBody>
      </p:sp>
      <p:sp>
        <p:nvSpPr>
          <p:cNvPr id="9" name="यह क्यों हुआ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समानताएँ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समानताएँ</a:t>
            </a:r>
          </a:p>
          <a:p>
            <a:pPr algn="l"/>
            <a:endParaRPr lang="en-US"/>
          </a:p>
        </p:txBody>
      </p:sp>
      <p:sp>
        <p:nvSpPr>
          <p:cNvPr id="12" name="अंतर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अंतर</a:t>
            </a:r>
          </a:p>
          <a:p>
            <a:pPr algn="l"/>
            <a:endParaRPr lang="en-US"/>
          </a:p>
        </p:txBody>
      </p:sp>
      <p:sp>
        <p:nvSpPr>
          <p:cNvPr id="13" name="यह क्यों हुआ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4" name="मुख्य लोग / समूह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6" name="ऐतिहासिक महत्व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17" name="कौन-सी तुलना सबसे महत्वपूर्ण है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कौन-सी तुलना सबसे महत्वपूर्ण है?</a:t>
            </a:r>
          </a:p>
          <a:p>
            <a:pPr algn="l"/>
            <a:endParaRPr lang="en-US"/>
          </a:p>
        </p:txBody>
      </p:sp>
      <p:sp>
        <p:nvSpPr>
          <p:cNvPr id="18" name="परिणाम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9" name="ऐतिहासिक महत्व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20" name="प्रमाण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इतिहास घटना मानचित्र</dc:title>
  <dc:creator>TCEA / Miguel Guhlin</dc:creator>
  <cp:lastModifiedBy>TCEA</cp:lastModifiedBy>
</cp:coreProperties>
</file>