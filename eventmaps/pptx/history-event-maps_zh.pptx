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事件概览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是什么导致的？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8" name="为什么重要？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9" name="最后发生了什么？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最后发生了什么？</a:t>
            </a:r>
          </a:p>
          <a:p>
            <a:pPr algn="l"/>
            <a:endParaRPr lang="en-US"/>
          </a:p>
        </p:txBody>
      </p:sp>
      <p:sp>
        <p:nvSpPr>
          <p:cNvPr id="10" name="如何发生？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如何发生？</a:t>
            </a:r>
          </a:p>
          <a:p>
            <a:pPr algn="l"/>
            <a:endParaRPr lang="en-US"/>
          </a:p>
        </p:txBody>
      </p:sp>
      <p:sp>
        <p:nvSpPr>
          <p:cNvPr id="11" name="事件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12" name="什么时候发生？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什么时候发生？</a:t>
            </a:r>
          </a:p>
          <a:p>
            <a:pPr algn="l"/>
            <a:endParaRPr lang="en-US"/>
          </a:p>
        </p:txBody>
      </p:sp>
      <p:sp>
        <p:nvSpPr>
          <p:cNvPr id="13" name="谁参与了？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谁参与了？</a:t>
            </a:r>
          </a:p>
          <a:p>
            <a:pPr algn="l"/>
            <a:endParaRPr lang="en-US"/>
          </a:p>
        </p:txBody>
      </p:sp>
      <p:sp>
        <p:nvSpPr>
          <p:cNvPr id="14" name="在哪里发生？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在哪里发生？</a:t>
            </a:r>
          </a:p>
          <a:p>
            <a:pPr algn="l"/>
            <a:endParaRPr lang="en-US"/>
          </a:p>
        </p:txBody>
      </p:sp>
      <p:sp>
        <p:nvSpPr>
          <p:cNvPr id="15" name="你能得出什么结论？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原因 → 事件 → 结果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为什么重要？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8" name="是什么导致的？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</p:txBody>
      </p:sp>
      <p:sp>
        <p:nvSpPr>
          <p:cNvPr id="9" name="事件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直接影响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直接影响</a:t>
            </a:r>
          </a:p>
        </p:txBody>
      </p:sp>
      <p:sp>
        <p:nvSpPr>
          <p:cNvPr id="11" name="谁参与了？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谁参与了？</a:t>
            </a:r>
          </a:p>
          <a:p>
            <a:pPr algn="l"/>
            <a:endParaRPr lang="en-US"/>
          </a:p>
        </p:txBody>
      </p:sp>
      <p:sp>
        <p:nvSpPr>
          <p:cNvPr id="12" name="后续 / 长期影响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后续 / 长期影响</a:t>
            </a:r>
          </a:p>
          <a:p>
            <a:pPr algn="l"/>
            <a:endParaRPr lang="en-US"/>
          </a:p>
        </p:txBody>
      </p:sp>
      <p:sp>
        <p:nvSpPr>
          <p:cNvPr id="13" name="你能得出什么结论？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事件顺序路径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顺序（事件排序）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顺序（事件排序）</a:t>
            </a:r>
          </a:p>
          <a:p>
            <a:pPr algn="ctr"/>
            <a:endParaRPr lang="en-US"/>
          </a:p>
        </p:txBody>
      </p:sp>
      <p:sp>
        <p:nvSpPr>
          <p:cNvPr id="8" name="在哪里发生？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在哪里发生？</a:t>
            </a:r>
          </a:p>
          <a:p>
            <a:pPr algn="l"/>
            <a:endParaRPr lang="en-US"/>
          </a:p>
        </p:txBody>
      </p:sp>
      <p:sp>
        <p:nvSpPr>
          <p:cNvPr id="9" name="事件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什么时候发生？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什么时候发生？</a:t>
            </a:r>
          </a:p>
          <a:p>
            <a:pPr algn="l"/>
            <a:endParaRPr lang="en-US"/>
          </a:p>
        </p:txBody>
      </p:sp>
      <p:sp>
        <p:nvSpPr>
          <p:cNvPr id="11" name="开始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开始</a:t>
            </a:r>
          </a:p>
          <a:p>
            <a:pPr algn="l"/>
            <a:endParaRPr lang="en-US"/>
          </a:p>
        </p:txBody>
      </p:sp>
      <p:sp>
        <p:nvSpPr>
          <p:cNvPr id="12" name="谁参与了？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谁参与了？</a:t>
            </a:r>
          </a:p>
          <a:p>
            <a:pPr algn="l"/>
            <a:endParaRPr lang="en-US"/>
          </a:p>
        </p:txBody>
      </p:sp>
      <p:sp>
        <p:nvSpPr>
          <p:cNvPr id="13" name="结束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结束</a:t>
            </a:r>
          </a:p>
          <a:p>
            <a:pPr algn="l"/>
            <a:endParaRPr lang="en-US"/>
          </a:p>
        </p:txBody>
      </p:sp>
      <p:sp>
        <p:nvSpPr>
          <p:cNvPr id="14" name="为什么重要？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人物与群体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重要领导者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重要领导者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这个人为什么重要？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这个人为什么重要？</a:t>
            </a:r>
          </a:p>
          <a:p>
            <a:pPr algn="l"/>
            <a:endParaRPr lang="en-US"/>
          </a:p>
        </p:txBody>
      </p:sp>
      <p:sp>
        <p:nvSpPr>
          <p:cNvPr id="9" name="群体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群体 1</a:t>
            </a:r>
          </a:p>
          <a:p>
            <a:pPr algn="ctr"/>
            <a:endParaRPr lang="en-US"/>
          </a:p>
        </p:txBody>
      </p:sp>
      <p:sp>
        <p:nvSpPr>
          <p:cNvPr id="10" name="群体 1 想要什么？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1 想要什么？</a:t>
            </a:r>
          </a:p>
          <a:p>
            <a:pPr algn="l"/>
            <a:endParaRPr lang="en-US"/>
          </a:p>
        </p:txBody>
      </p:sp>
      <p:sp>
        <p:nvSpPr>
          <p:cNvPr id="11" name="你能得出什么结论？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sp>
        <p:nvSpPr>
          <p:cNvPr id="12" name="群体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群体 2</a:t>
            </a:r>
          </a:p>
          <a:p>
            <a:pPr algn="ctr"/>
            <a:endParaRPr lang="en-US"/>
          </a:p>
        </p:txBody>
      </p:sp>
      <p:sp>
        <p:nvSpPr>
          <p:cNvPr id="13" name="群体 2 想要什么？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2 想要什么？</a:t>
            </a:r>
          </a:p>
          <a:p>
            <a:pPr algn="l"/>
            <a:endParaRPr lang="en-US"/>
          </a:p>
        </p:txBody>
      </p:sp>
      <p:sp>
        <p:nvSpPr>
          <p:cNvPr id="14" name="结果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5" name="群体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群体 3</a:t>
            </a:r>
          </a:p>
          <a:p>
            <a:pPr algn="ctr"/>
            <a:endParaRPr lang="en-US"/>
          </a:p>
        </p:txBody>
      </p:sp>
      <p:sp>
        <p:nvSpPr>
          <p:cNvPr id="16" name="群体 3 想要什么？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3 想要什么？</a:t>
            </a:r>
          </a:p>
          <a:p>
            <a:pPr algn="l"/>
            <a:endParaRPr lang="en-US"/>
          </a:p>
        </p:txBody>
      </p:sp>
      <p:sp>
        <p:nvSpPr>
          <p:cNvPr id="17" name="结果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地点的重要性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自然地理特征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自然地理特征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人文地理特征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人文地理特征</a:t>
            </a:r>
          </a:p>
          <a:p>
            <a:pPr algn="l"/>
            <a:endParaRPr lang="en-US"/>
          </a:p>
        </p:txBody>
      </p:sp>
      <p:sp>
        <p:nvSpPr>
          <p:cNvPr id="10" name="为什么发生在这里？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为什么发生在这里？</a:t>
            </a:r>
          </a:p>
          <a:p>
            <a:pPr algn="l"/>
            <a:endParaRPr lang="en-US"/>
          </a:p>
        </p:txBody>
      </p:sp>
      <p:sp>
        <p:nvSpPr>
          <p:cNvPr id="11" name="移动 / 路线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移动 / 路线</a:t>
            </a:r>
          </a:p>
          <a:p>
            <a:pPr algn="l"/>
            <a:endParaRPr lang="en-US"/>
          </a:p>
        </p:txBody>
      </p:sp>
      <p:sp>
        <p:nvSpPr>
          <p:cNvPr id="12" name="地点怎样影响事件？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地点怎样影响事件？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前后变化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l"/>
            <a:endParaRPr lang="en-US"/>
          </a:p>
        </p:txBody>
      </p:sp>
      <p:sp>
        <p:nvSpPr>
          <p:cNvPr id="9" name="之后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之后</a:t>
            </a:r>
          </a:p>
          <a:p>
            <a:pPr algn="l"/>
            <a:endParaRPr lang="en-US"/>
          </a:p>
        </p:txBody>
      </p:sp>
      <p:sp>
        <p:nvSpPr>
          <p:cNvPr id="10" name="发生了什么变化？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发生了什么变化？</a:t>
            </a:r>
          </a:p>
          <a:p>
            <a:pPr algn="l"/>
            <a:endParaRPr lang="en-US"/>
          </a:p>
        </p:txBody>
      </p:sp>
      <p:sp>
        <p:nvSpPr>
          <p:cNvPr id="11" name="什么保持不变？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什么保持不变？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事件证据图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资料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资料 1</a:t>
            </a:r>
          </a:p>
          <a:p>
            <a:pPr algn="l"/>
            <a:endParaRPr lang="en-US"/>
          </a:p>
        </p:txBody>
      </p:sp>
      <p:sp>
        <p:nvSpPr>
          <p:cNvPr id="8" name="有用的事实或证据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有用的事实或证据</a:t>
            </a:r>
          </a:p>
          <a:p>
            <a:pPr algn="l"/>
            <a:endParaRPr lang="en-US"/>
          </a:p>
        </p:txBody>
      </p:sp>
      <p:sp>
        <p:nvSpPr>
          <p:cNvPr id="9" name="资料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资料 2</a:t>
            </a:r>
          </a:p>
          <a:p>
            <a:pPr algn="l"/>
            <a:endParaRPr lang="en-US"/>
          </a:p>
        </p:txBody>
      </p:sp>
      <p:sp>
        <p:nvSpPr>
          <p:cNvPr id="10" name="有用的事实或证据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有用的事实或证据</a:t>
            </a:r>
          </a:p>
          <a:p>
            <a:pPr algn="l"/>
            <a:endParaRPr lang="en-US"/>
          </a:p>
        </p:txBody>
      </p:sp>
      <p:sp>
        <p:nvSpPr>
          <p:cNvPr id="11" name="资料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资料 3</a:t>
            </a:r>
          </a:p>
          <a:p>
            <a:pPr algn="l"/>
            <a:endParaRPr lang="en-US"/>
          </a:p>
        </p:txBody>
      </p:sp>
      <p:sp>
        <p:nvSpPr>
          <p:cNvPr id="12" name="有用的事实或证据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有用的事实或证据</a:t>
            </a:r>
          </a:p>
          <a:p>
            <a:pPr algn="l"/>
            <a:endParaRPr lang="en-US"/>
          </a:p>
        </p:txBody>
      </p:sp>
      <p:sp>
        <p:nvSpPr>
          <p:cNvPr id="13" name="你能得出什么结论？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为什么重要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事件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8" name="对人的影响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对人的影响</a:t>
            </a:r>
          </a:p>
          <a:p>
            <a:pPr algn="l"/>
            <a:endParaRPr lang="en-US"/>
          </a:p>
        </p:txBody>
      </p:sp>
      <p:sp>
        <p:nvSpPr>
          <p:cNvPr id="9" name="对政府的影响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对政府的影响</a:t>
            </a:r>
          </a:p>
          <a:p>
            <a:pPr algn="l"/>
            <a:endParaRPr lang="en-US"/>
          </a:p>
        </p:txBody>
      </p:sp>
      <p:sp>
        <p:nvSpPr>
          <p:cNvPr id="10" name="对经济的影响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对经济的影响</a:t>
            </a:r>
          </a:p>
          <a:p>
            <a:pPr algn="l"/>
            <a:endParaRPr lang="en-US"/>
          </a:p>
        </p:txBody>
      </p:sp>
      <p:sp>
        <p:nvSpPr>
          <p:cNvPr id="11" name="对社区 / 文化的影响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对社区 / 文化的影响</a:t>
            </a:r>
          </a:p>
          <a:p>
            <a:pPr algn="l"/>
            <a:endParaRPr lang="en-US"/>
          </a:p>
        </p:txBody>
      </p:sp>
      <p:sp>
        <p:nvSpPr>
          <p:cNvPr id="12" name="哪项变化最重要？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哪项变化最重要？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事件调查图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是什么导致的？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8" name="为什么重要？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9" name="结果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0" name="如何发生？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如何发生？</a:t>
            </a:r>
          </a:p>
          <a:p>
            <a:pPr algn="l"/>
            <a:endParaRPr lang="en-US"/>
          </a:p>
        </p:txBody>
      </p:sp>
      <p:sp>
        <p:nvSpPr>
          <p:cNvPr id="11" name="事件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12" name="什么时候发生？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什么时候发生？</a:t>
            </a:r>
          </a:p>
          <a:p>
            <a:pPr algn="l"/>
            <a:endParaRPr lang="en-US"/>
          </a:p>
        </p:txBody>
      </p:sp>
      <p:sp>
        <p:nvSpPr>
          <p:cNvPr id="13" name="参与群体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参与群体</a:t>
            </a:r>
          </a:p>
          <a:p>
            <a:pPr algn="l"/>
            <a:endParaRPr lang="en-US"/>
          </a:p>
        </p:txBody>
      </p:sp>
      <p:sp>
        <p:nvSpPr>
          <p:cNvPr id="14" name="在哪里发生？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在哪里发生？</a:t>
            </a:r>
          </a:p>
          <a:p>
            <a:pPr algn="l"/>
            <a:endParaRPr lang="en-US"/>
          </a:p>
        </p:txBody>
      </p:sp>
      <p:sp>
        <p:nvSpPr>
          <p:cNvPr id="15" name="重要领导者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重要领导者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压力下的原因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长期原因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长期原因</a:t>
            </a:r>
          </a:p>
          <a:p>
            <a:pPr algn="l"/>
            <a:endParaRPr lang="en-US"/>
          </a:p>
        </p:txBody>
      </p:sp>
      <p:sp>
        <p:nvSpPr>
          <p:cNvPr id="8" name="短期原因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短期原因</a:t>
            </a:r>
          </a:p>
          <a:p>
            <a:pPr algn="l"/>
            <a:endParaRPr lang="en-US"/>
          </a:p>
        </p:txBody>
      </p:sp>
      <p:sp>
        <p:nvSpPr>
          <p:cNvPr id="9" name="导火索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导火索</a:t>
            </a:r>
          </a:p>
          <a:p>
            <a:pPr algn="l"/>
            <a:endParaRPr lang="en-US"/>
          </a:p>
        </p:txBody>
      </p:sp>
      <p:sp>
        <p:nvSpPr>
          <p:cNvPr id="10" name="事件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l"/>
            <a:endParaRPr lang="en-US"/>
          </a:p>
        </p:txBody>
      </p:sp>
      <p:sp>
        <p:nvSpPr>
          <p:cNvPr id="11" name="直接影响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直接影响</a:t>
            </a:r>
          </a:p>
          <a:p>
            <a:pPr algn="l"/>
            <a:endParaRPr lang="en-US"/>
          </a:p>
        </p:txBody>
      </p:sp>
      <p:sp>
        <p:nvSpPr>
          <p:cNvPr id="12" name="后续 / 长期影响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后续 / 长期影响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转折点图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转折点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转折点</a:t>
            </a:r>
          </a:p>
          <a:p>
            <a:pPr algn="l"/>
            <a:endParaRPr lang="en-US"/>
          </a:p>
        </p:txBody>
      </p:sp>
      <p:sp>
        <p:nvSpPr>
          <p:cNvPr id="9" name="之后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之后</a:t>
            </a:r>
          </a:p>
          <a:p>
            <a:pPr algn="l"/>
            <a:endParaRPr lang="en-US"/>
          </a:p>
        </p:txBody>
      </p:sp>
      <p:sp>
        <p:nvSpPr>
          <p:cNvPr id="10" name="累积压力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累积压力</a:t>
            </a:r>
          </a:p>
          <a:p>
            <a:pPr algn="l"/>
            <a:endParaRPr lang="en-US"/>
          </a:p>
        </p:txBody>
      </p:sp>
      <p:sp>
        <p:nvSpPr>
          <p:cNvPr id="11" name="长期变化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长期变化</a:t>
            </a:r>
          </a:p>
          <a:p>
            <a:pPr algn="l"/>
            <a:endParaRPr lang="en-US"/>
          </a:p>
        </p:txBody>
      </p:sp>
      <p:sp>
        <p:nvSpPr>
          <p:cNvPr id="12" name="为什么这是转折点？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为什么这是转折点？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多重视角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群体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1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群体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2</a:t>
            </a:r>
          </a:p>
          <a:p>
            <a:pPr algn="l"/>
            <a:endParaRPr lang="en-US"/>
          </a:p>
        </p:txBody>
      </p:sp>
      <p:sp>
        <p:nvSpPr>
          <p:cNvPr id="10" name="群体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3</a:t>
            </a:r>
          </a:p>
          <a:p>
            <a:pPr algn="l"/>
            <a:endParaRPr lang="en-US"/>
          </a:p>
        </p:txBody>
      </p:sp>
      <p:sp>
        <p:nvSpPr>
          <p:cNvPr id="11" name="群体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4</a:t>
            </a:r>
          </a:p>
          <a:p>
            <a:pPr algn="l"/>
            <a:endParaRPr lang="en-US"/>
          </a:p>
        </p:txBody>
      </p:sp>
      <p:sp>
        <p:nvSpPr>
          <p:cNvPr id="12" name="他们在哪些方面一致？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他们在哪些方面一致？</a:t>
            </a:r>
          </a:p>
          <a:p>
            <a:pPr algn="l"/>
            <a:endParaRPr lang="en-US"/>
          </a:p>
        </p:txBody>
      </p:sp>
      <p:sp>
        <p:nvSpPr>
          <p:cNvPr id="13" name="他们在哪些方面冲突？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他们在哪些方面冲突？</a:t>
            </a:r>
          </a:p>
          <a:p>
            <a:pPr algn="l"/>
            <a:endParaRPr lang="en-US"/>
          </a:p>
        </p:txBody>
      </p:sp>
      <p:sp>
        <p:nvSpPr>
          <p:cNvPr id="14" name="缺少谁的声音？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缺少谁的声音？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领导者与事件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重要领导者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重要领导者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影响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影响</a:t>
            </a:r>
          </a:p>
          <a:p>
            <a:pPr algn="l"/>
            <a:endParaRPr lang="en-US"/>
          </a:p>
        </p:txBody>
      </p:sp>
      <p:sp>
        <p:nvSpPr>
          <p:cNvPr id="9" name="证据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sp>
        <p:nvSpPr>
          <p:cNvPr id="10" name="事件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领导者目标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领导者目标</a:t>
            </a:r>
          </a:p>
          <a:p>
            <a:pPr algn="l"/>
            <a:endParaRPr lang="en-US"/>
          </a:p>
        </p:txBody>
      </p:sp>
      <p:sp>
        <p:nvSpPr>
          <p:cNvPr id="12" name="关键决策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关键决策</a:t>
            </a:r>
          </a:p>
          <a:p>
            <a:pPr algn="l"/>
            <a:endParaRPr lang="en-US"/>
          </a:p>
        </p:txBody>
      </p:sp>
      <p:sp>
        <p:nvSpPr>
          <p:cNvPr id="13" name="盟友 / 支持者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盟友 / 支持者</a:t>
            </a:r>
          </a:p>
          <a:p>
            <a:pPr algn="l"/>
            <a:endParaRPr lang="en-US"/>
          </a:p>
        </p:txBody>
      </p:sp>
      <p:sp>
        <p:nvSpPr>
          <p:cNvPr id="14" name="反对者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反对者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冲突图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 方 / 群体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方 / 群体</a:t>
            </a:r>
          </a:p>
          <a:p>
            <a:pPr algn="l"/>
            <a:endParaRPr lang="en-US"/>
          </a:p>
        </p:txBody>
      </p:sp>
      <p:sp>
        <p:nvSpPr>
          <p:cNvPr id="8" name="A 方的目标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方的目标</a:t>
            </a:r>
          </a:p>
          <a:p>
            <a:pPr algn="l"/>
            <a:endParaRPr lang="en-US"/>
          </a:p>
        </p:txBody>
      </p:sp>
      <p:sp>
        <p:nvSpPr>
          <p:cNvPr id="9" name="A 方的行动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方的行动</a:t>
            </a:r>
          </a:p>
          <a:p>
            <a:pPr algn="l"/>
            <a:endParaRPr lang="en-US"/>
          </a:p>
        </p:txBody>
      </p:sp>
      <p:sp>
        <p:nvSpPr>
          <p:cNvPr id="10" name="冲突事件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冲突事件</a:t>
            </a:r>
          </a:p>
        </p:txBody>
      </p:sp>
      <p:sp>
        <p:nvSpPr>
          <p:cNvPr id="11" name="B 方 / 群体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 方 / 群体</a:t>
            </a:r>
          </a:p>
          <a:p>
            <a:pPr algn="l"/>
            <a:endParaRPr lang="en-US"/>
          </a:p>
        </p:txBody>
      </p:sp>
      <p:sp>
        <p:nvSpPr>
          <p:cNvPr id="12" name="B 方的目标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 方的目标</a:t>
            </a:r>
          </a:p>
          <a:p>
            <a:pPr algn="l"/>
            <a:endParaRPr lang="en-US"/>
          </a:p>
        </p:txBody>
      </p:sp>
      <p:sp>
        <p:nvSpPr>
          <p:cNvPr id="13" name="B 方的行动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 方的行动</a:t>
            </a:r>
          </a:p>
          <a:p>
            <a:pPr algn="l"/>
            <a:endParaRPr lang="en-US"/>
          </a:p>
        </p:txBody>
      </p:sp>
      <p:sp>
        <p:nvSpPr>
          <p:cNvPr id="14" name="解决方式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解决方式</a:t>
            </a:r>
          </a:p>
          <a:p>
            <a:pPr algn="l"/>
            <a:endParaRPr lang="en-US"/>
          </a:p>
        </p:txBody>
      </p:sp>
      <p:sp>
        <p:nvSpPr>
          <p:cNvPr id="15" name="结果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事件连锁反应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行动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行动 1</a:t>
            </a:r>
          </a:p>
          <a:p>
            <a:pPr algn="l"/>
            <a:endParaRPr lang="en-US"/>
          </a:p>
        </p:txBody>
      </p:sp>
      <p:sp>
        <p:nvSpPr>
          <p:cNvPr id="8" name="反应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反应 1</a:t>
            </a:r>
          </a:p>
          <a:p>
            <a:pPr algn="l"/>
            <a:endParaRPr lang="en-US"/>
          </a:p>
        </p:txBody>
      </p:sp>
      <p:sp>
        <p:nvSpPr>
          <p:cNvPr id="9" name="行动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行动 2</a:t>
            </a:r>
          </a:p>
          <a:p>
            <a:pPr algn="l"/>
            <a:endParaRPr lang="en-US"/>
          </a:p>
        </p:txBody>
      </p:sp>
      <p:sp>
        <p:nvSpPr>
          <p:cNvPr id="10" name="反应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反应 2</a:t>
            </a:r>
          </a:p>
          <a:p>
            <a:pPr algn="l"/>
            <a:endParaRPr lang="en-US"/>
          </a:p>
        </p:txBody>
      </p:sp>
      <p:sp>
        <p:nvSpPr>
          <p:cNvPr id="11" name="危机 / 转折点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危机 / 转折点</a:t>
            </a:r>
          </a:p>
          <a:p>
            <a:pPr algn="l"/>
            <a:endParaRPr lang="en-US"/>
          </a:p>
        </p:txBody>
      </p:sp>
      <p:sp>
        <p:nvSpPr>
          <p:cNvPr id="12" name="结果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3" name="最重要的环节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最重要的环节</a:t>
            </a:r>
          </a:p>
          <a:p>
            <a:pPr algn="l"/>
            <a:endParaRPr lang="en-US"/>
          </a:p>
        </p:txBody>
      </p:sp>
      <p:sp>
        <p:nvSpPr>
          <p:cNvPr id="14" name="证据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事件地理图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自然地理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自然地理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人文地理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人文地理</a:t>
            </a:r>
          </a:p>
          <a:p>
            <a:pPr algn="l"/>
            <a:endParaRPr lang="en-US"/>
          </a:p>
        </p:txBody>
      </p:sp>
      <p:sp>
        <p:nvSpPr>
          <p:cNvPr id="10" name="资源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资源</a:t>
            </a:r>
          </a:p>
          <a:p>
            <a:pPr algn="l"/>
            <a:endParaRPr lang="en-US"/>
          </a:p>
        </p:txBody>
      </p:sp>
      <p:sp>
        <p:nvSpPr>
          <p:cNvPr id="11" name="移动 / 路线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移动 / 路线</a:t>
            </a:r>
          </a:p>
          <a:p>
            <a:pPr algn="l"/>
            <a:endParaRPr lang="en-US"/>
          </a:p>
        </p:txBody>
      </p:sp>
      <p:sp>
        <p:nvSpPr>
          <p:cNvPr id="12" name="为什么地点重要？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为什么地点重要？</a:t>
            </a:r>
          </a:p>
          <a:p>
            <a:pPr algn="l"/>
            <a:endParaRPr lang="en-US"/>
          </a:p>
        </p:txBody>
      </p:sp>
      <p:sp>
        <p:nvSpPr>
          <p:cNvPr id="13" name="地理影响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地理影响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事件背景图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历史背景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历史背景</a:t>
            </a:r>
          </a:p>
          <a:p>
            <a:pPr algn="l"/>
            <a:endParaRPr lang="en-US"/>
          </a:p>
        </p:txBody>
      </p:sp>
      <p:sp>
        <p:nvSpPr>
          <p:cNvPr id="8" name="长期原因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长期原因</a:t>
            </a:r>
          </a:p>
          <a:p>
            <a:pPr algn="l"/>
            <a:endParaRPr lang="en-US"/>
          </a:p>
        </p:txBody>
      </p:sp>
      <p:sp>
        <p:nvSpPr>
          <p:cNvPr id="9" name="直接原因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直接原因</a:t>
            </a:r>
          </a:p>
          <a:p>
            <a:pPr algn="l"/>
            <a:endParaRPr lang="en-US"/>
          </a:p>
        </p:txBody>
      </p:sp>
      <p:sp>
        <p:nvSpPr>
          <p:cNvPr id="10" name="关键人物 / 群体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关键人物 / 群体</a:t>
            </a:r>
          </a:p>
          <a:p>
            <a:pPr algn="l"/>
            <a:endParaRPr lang="en-US"/>
          </a:p>
        </p:txBody>
      </p:sp>
      <p:sp>
        <p:nvSpPr>
          <p:cNvPr id="11" name="发生了什么？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发生了什么？</a:t>
            </a:r>
          </a:p>
          <a:p>
            <a:pPr algn="l"/>
            <a:endParaRPr lang="en-US"/>
          </a:p>
        </p:txBody>
      </p:sp>
      <p:sp>
        <p:nvSpPr>
          <p:cNvPr id="12" name="事件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直接结果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直接结果</a:t>
            </a:r>
          </a:p>
          <a:p>
            <a:pPr algn="l"/>
            <a:endParaRPr lang="en-US"/>
          </a:p>
        </p:txBody>
      </p:sp>
      <p:sp>
        <p:nvSpPr>
          <p:cNvPr id="14" name="长期结果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长期结果</a:t>
            </a:r>
          </a:p>
          <a:p>
            <a:pPr algn="l"/>
            <a:endParaRPr lang="en-US"/>
          </a:p>
        </p:txBody>
      </p:sp>
      <p:sp>
        <p:nvSpPr>
          <p:cNvPr id="15" name="历史意义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历史意义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原因排序图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原因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1</a:t>
            </a:r>
          </a:p>
          <a:p>
            <a:pPr algn="l"/>
            <a:endParaRPr lang="en-US"/>
          </a:p>
        </p:txBody>
      </p:sp>
      <p:sp>
        <p:nvSpPr>
          <p:cNvPr id="8" name="原因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2</a:t>
            </a:r>
          </a:p>
          <a:p>
            <a:pPr algn="l"/>
            <a:endParaRPr lang="en-US"/>
          </a:p>
        </p:txBody>
      </p:sp>
      <p:sp>
        <p:nvSpPr>
          <p:cNvPr id="9" name="原因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3</a:t>
            </a:r>
          </a:p>
          <a:p>
            <a:pPr algn="l"/>
            <a:endParaRPr lang="en-US"/>
          </a:p>
        </p:txBody>
      </p:sp>
      <p:sp>
        <p:nvSpPr>
          <p:cNvPr id="10" name="原因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4</a:t>
            </a:r>
          </a:p>
          <a:p>
            <a:pPr algn="l"/>
            <a:endParaRPr lang="en-US"/>
          </a:p>
        </p:txBody>
      </p:sp>
      <p:sp>
        <p:nvSpPr>
          <p:cNvPr id="11" name="将原因按 1-4 排序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将原因按 1-4 排序</a:t>
            </a:r>
          </a:p>
          <a:p>
            <a:pPr algn="l"/>
            <a:endParaRPr lang="en-US"/>
          </a:p>
        </p:txBody>
      </p:sp>
      <p:sp>
        <p:nvSpPr>
          <p:cNvPr id="12" name="最重要的原因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最重要的原因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转折点分析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l"/>
            <a:endParaRPr lang="en-US"/>
          </a:p>
        </p:txBody>
      </p:sp>
      <p:sp>
        <p:nvSpPr>
          <p:cNvPr id="9" name="直接变化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直接变化</a:t>
            </a:r>
          </a:p>
          <a:p>
            <a:pPr algn="l"/>
            <a:endParaRPr lang="en-US"/>
          </a:p>
        </p:txBody>
      </p:sp>
      <p:sp>
        <p:nvSpPr>
          <p:cNvPr id="10" name="长期变化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长期变化</a:t>
            </a:r>
          </a:p>
          <a:p>
            <a:pPr algn="l"/>
            <a:endParaRPr lang="en-US"/>
          </a:p>
        </p:txBody>
      </p:sp>
      <p:sp>
        <p:nvSpPr>
          <p:cNvPr id="11" name="什么延续下来？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什么延续下来？</a:t>
            </a:r>
          </a:p>
          <a:p>
            <a:pPr algn="l"/>
            <a:endParaRPr lang="en-US"/>
          </a:p>
        </p:txBody>
      </p:sp>
      <p:sp>
        <p:nvSpPr>
          <p:cNvPr id="12" name="它真的是转折点吗？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它真的是转折点吗？</a:t>
            </a:r>
          </a:p>
          <a:p>
            <a:pPr algn="l"/>
            <a:endParaRPr lang="en-US"/>
          </a:p>
        </p:txBody>
      </p:sp>
      <p:sp>
        <p:nvSpPr>
          <p:cNvPr id="13" name="证据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视角与证据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观点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1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观点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2</a:t>
            </a:r>
          </a:p>
          <a:p>
            <a:pPr algn="l"/>
            <a:endParaRPr lang="en-US"/>
          </a:p>
        </p:txBody>
      </p:sp>
      <p:sp>
        <p:nvSpPr>
          <p:cNvPr id="10" name="观点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3</a:t>
            </a:r>
          </a:p>
          <a:p>
            <a:pPr algn="l"/>
            <a:endParaRPr lang="en-US"/>
          </a:p>
        </p:txBody>
      </p:sp>
      <p:sp>
        <p:nvSpPr>
          <p:cNvPr id="11" name="观点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4</a:t>
            </a:r>
          </a:p>
          <a:p>
            <a:pPr algn="l"/>
            <a:endParaRPr lang="en-US"/>
          </a:p>
        </p:txBody>
      </p:sp>
      <p:sp>
        <p:nvSpPr>
          <p:cNvPr id="12" name="证据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sp>
        <p:nvSpPr>
          <p:cNvPr id="13" name="他们在哪些方面一致？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他们在哪些方面一致？</a:t>
            </a:r>
          </a:p>
          <a:p>
            <a:pPr algn="l"/>
            <a:endParaRPr lang="en-US"/>
          </a:p>
        </p:txBody>
      </p:sp>
      <p:sp>
        <p:nvSpPr>
          <p:cNvPr id="14" name="他们在哪些方面冲突？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他们在哪些方面冲突？</a:t>
            </a:r>
          </a:p>
          <a:p>
            <a:pPr algn="l"/>
            <a:endParaRPr lang="en-US"/>
          </a:p>
        </p:txBody>
      </p:sp>
      <p:sp>
        <p:nvSpPr>
          <p:cNvPr id="15" name="缺少谁的声音？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缺少谁的声音？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事件影响四象限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政治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政治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经济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经济</a:t>
            </a:r>
          </a:p>
          <a:p>
            <a:pPr algn="l"/>
            <a:endParaRPr lang="en-US"/>
          </a:p>
        </p:txBody>
      </p:sp>
      <p:sp>
        <p:nvSpPr>
          <p:cNvPr id="10" name="社会 / 文化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社会 / 文化</a:t>
            </a:r>
          </a:p>
          <a:p>
            <a:pPr algn="l"/>
            <a:endParaRPr lang="en-US"/>
          </a:p>
        </p:txBody>
      </p:sp>
      <p:sp>
        <p:nvSpPr>
          <p:cNvPr id="11" name="地理 / 环境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地理 / 环境</a:t>
            </a:r>
          </a:p>
          <a:p>
            <a:pPr algn="l"/>
            <a:endParaRPr lang="en-US"/>
          </a:p>
        </p:txBody>
      </p:sp>
      <p:sp>
        <p:nvSpPr>
          <p:cNvPr id="12" name="直接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</a:t>
            </a:r>
          </a:p>
          <a:p>
            <a:pPr algn="l"/>
            <a:endParaRPr lang="en-US"/>
          </a:p>
        </p:txBody>
      </p:sp>
      <p:sp>
        <p:nvSpPr>
          <p:cNvPr id="13" name="长期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</a:t>
            </a:r>
          </a:p>
          <a:p>
            <a:pPr algn="l"/>
            <a:endParaRPr lang="en-US"/>
          </a:p>
        </p:txBody>
      </p:sp>
      <p:sp>
        <p:nvSpPr>
          <p:cNvPr id="14" name="哪项影响最重要？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哪项影响最重要？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延续与变化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期间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期间</a:t>
            </a:r>
          </a:p>
          <a:p>
            <a:pPr algn="l"/>
            <a:endParaRPr lang="en-US"/>
          </a:p>
        </p:txBody>
      </p:sp>
      <p:sp>
        <p:nvSpPr>
          <p:cNvPr id="9" name="之后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之后</a:t>
            </a:r>
          </a:p>
          <a:p>
            <a:pPr algn="l"/>
            <a:endParaRPr lang="en-US"/>
          </a:p>
        </p:txBody>
      </p:sp>
      <p:sp>
        <p:nvSpPr>
          <p:cNvPr id="10" name="重大变化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重大变化</a:t>
            </a:r>
          </a:p>
          <a:p>
            <a:pPr algn="l"/>
            <a:endParaRPr lang="en-US"/>
          </a:p>
        </p:txBody>
      </p:sp>
      <p:sp>
        <p:nvSpPr>
          <p:cNvPr id="11" name="逐渐变化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逐渐变化</a:t>
            </a:r>
          </a:p>
          <a:p>
            <a:pPr algn="l"/>
            <a:endParaRPr lang="en-US"/>
          </a:p>
        </p:txBody>
      </p:sp>
      <p:sp>
        <p:nvSpPr>
          <p:cNvPr id="12" name="什么保持不变？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什么保持不变？</a:t>
            </a:r>
          </a:p>
          <a:p>
            <a:pPr algn="l"/>
            <a:endParaRPr lang="en-US"/>
          </a:p>
        </p:txBody>
      </p:sp>
      <p:sp>
        <p:nvSpPr>
          <p:cNvPr id="13" name="为什么？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为什么？</a:t>
            </a:r>
          </a:p>
          <a:p>
            <a:pPr algn="l"/>
            <a:endParaRPr lang="en-US"/>
          </a:p>
        </p:txBody>
      </p:sp>
      <p:sp>
        <p:nvSpPr>
          <p:cNvPr id="14" name="你的判断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你的判断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历史证据档案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历史问题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历史问题</a:t>
            </a:r>
          </a:p>
          <a:p>
            <a:pPr algn="l"/>
            <a:endParaRPr lang="en-US"/>
          </a:p>
        </p:txBody>
      </p:sp>
      <p:sp>
        <p:nvSpPr>
          <p:cNvPr id="8" name="资料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资料 1</a:t>
            </a:r>
          </a:p>
          <a:p>
            <a:pPr algn="l"/>
            <a:endParaRPr lang="en-US"/>
          </a:p>
        </p:txBody>
      </p:sp>
      <p:sp>
        <p:nvSpPr>
          <p:cNvPr id="9" name="来源 1 的证据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来源 1 的证据</a:t>
            </a:r>
          </a:p>
          <a:p>
            <a:pPr algn="l"/>
            <a:endParaRPr lang="en-US"/>
          </a:p>
        </p:txBody>
      </p:sp>
      <p:sp>
        <p:nvSpPr>
          <p:cNvPr id="10" name="可靠性 / 局限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可靠性 / 局限</a:t>
            </a:r>
          </a:p>
          <a:p>
            <a:pPr algn="l"/>
            <a:endParaRPr lang="en-US"/>
          </a:p>
        </p:txBody>
      </p:sp>
      <p:sp>
        <p:nvSpPr>
          <p:cNvPr id="11" name="资料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资料 2</a:t>
            </a:r>
          </a:p>
          <a:p>
            <a:pPr algn="l"/>
            <a:endParaRPr lang="en-US"/>
          </a:p>
        </p:txBody>
      </p:sp>
      <p:sp>
        <p:nvSpPr>
          <p:cNvPr id="12" name="来源 2 的证据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来源 2 的证据</a:t>
            </a:r>
          </a:p>
          <a:p>
            <a:pPr algn="l"/>
            <a:endParaRPr lang="en-US"/>
          </a:p>
        </p:txBody>
      </p:sp>
      <p:sp>
        <p:nvSpPr>
          <p:cNvPr id="13" name="可靠性 / 局限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可靠性 / 局限</a:t>
            </a:r>
          </a:p>
          <a:p>
            <a:pPr algn="l"/>
            <a:endParaRPr lang="en-US"/>
          </a:p>
        </p:txBody>
      </p:sp>
      <p:sp>
        <p:nvSpPr>
          <p:cNvPr id="14" name="资料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资料 3</a:t>
            </a:r>
          </a:p>
          <a:p>
            <a:pPr algn="l"/>
            <a:endParaRPr lang="en-US"/>
          </a:p>
        </p:txBody>
      </p:sp>
      <p:sp>
        <p:nvSpPr>
          <p:cNvPr id="15" name="来源 3 的证据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来源 3 的证据</a:t>
            </a:r>
          </a:p>
          <a:p>
            <a:pPr algn="l"/>
            <a:endParaRPr lang="en-US"/>
          </a:p>
        </p:txBody>
      </p:sp>
      <p:sp>
        <p:nvSpPr>
          <p:cNvPr id="16" name="可靠性 / 局限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可靠性 / 局限</a:t>
            </a:r>
          </a:p>
          <a:p>
            <a:pPr algn="l"/>
            <a:endParaRPr lang="en-US"/>
          </a:p>
        </p:txBody>
      </p:sp>
      <p:sp>
        <p:nvSpPr>
          <p:cNvPr id="17" name="冲突 / 缺失的证据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冲突 / 缺失的证据</a:t>
            </a:r>
          </a:p>
          <a:p>
            <a:pPr algn="l"/>
            <a:endParaRPr lang="en-US"/>
          </a:p>
        </p:txBody>
      </p:sp>
      <p:sp>
        <p:nvSpPr>
          <p:cNvPr id="18" name="初步结论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初步结论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比较两个事件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事件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事件 A</a:t>
            </a:r>
          </a:p>
          <a:p>
            <a:pPr algn="l"/>
            <a:endParaRPr lang="en-US"/>
          </a:p>
        </p:txBody>
      </p:sp>
      <p:sp>
        <p:nvSpPr>
          <p:cNvPr id="8" name="事件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事件 B</a:t>
            </a:r>
          </a:p>
          <a:p>
            <a:pPr algn="l"/>
            <a:endParaRPr lang="en-US"/>
          </a:p>
        </p:txBody>
      </p:sp>
      <p:sp>
        <p:nvSpPr>
          <p:cNvPr id="9" name="是什么导致的？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10" name="关键人物 / 群体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关键人物 / 群体</a:t>
            </a:r>
          </a:p>
          <a:p>
            <a:pPr algn="l"/>
            <a:endParaRPr lang="en-US"/>
          </a:p>
        </p:txBody>
      </p:sp>
      <p:sp>
        <p:nvSpPr>
          <p:cNvPr id="11" name="相似点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相似点</a:t>
            </a:r>
          </a:p>
          <a:p>
            <a:pPr algn="l"/>
            <a:endParaRPr lang="en-US"/>
          </a:p>
        </p:txBody>
      </p:sp>
      <p:sp>
        <p:nvSpPr>
          <p:cNvPr id="12" name="不同点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不同点</a:t>
            </a:r>
          </a:p>
          <a:p>
            <a:pPr algn="l"/>
            <a:endParaRPr lang="en-US"/>
          </a:p>
        </p:txBody>
      </p:sp>
      <p:sp>
        <p:nvSpPr>
          <p:cNvPr id="13" name="是什么导致的？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14" name="关键人物 / 群体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关键人物 / 群体</a:t>
            </a:r>
          </a:p>
          <a:p>
            <a:pPr algn="l"/>
            <a:endParaRPr lang="en-US"/>
          </a:p>
        </p:txBody>
      </p:sp>
      <p:sp>
        <p:nvSpPr>
          <p:cNvPr id="15" name="结果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6" name="历史意义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历史意义</a:t>
            </a:r>
          </a:p>
          <a:p>
            <a:pPr algn="l"/>
            <a:endParaRPr lang="en-US"/>
          </a:p>
        </p:txBody>
      </p:sp>
      <p:sp>
        <p:nvSpPr>
          <p:cNvPr id="17" name="哪项比较最重要？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哪项比较最重要？</a:t>
            </a:r>
          </a:p>
          <a:p>
            <a:pPr algn="l"/>
            <a:endParaRPr lang="en-US"/>
          </a:p>
        </p:txBody>
      </p:sp>
      <p:sp>
        <p:nvSpPr>
          <p:cNvPr id="18" name="结果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9" name="历史意义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历史意义</a:t>
            </a:r>
          </a:p>
          <a:p>
            <a:pPr algn="l"/>
            <a:endParaRPr lang="en-US"/>
          </a:p>
        </p:txBody>
      </p:sp>
      <p:sp>
        <p:nvSpPr>
          <p:cNvPr id="20" name="证据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历史事件图</dc:title>
  <dc:creator>TCEA / Miguel Guhlin</dc:creator>
  <cp:lastModifiedBy>TCEA</cp:lastModifiedBy>
</cp:coreProperties>
</file>