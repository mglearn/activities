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Instantánea del evento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¿Qué lo causó?"/>
          <p:cNvSpPr/>
          <p:nvPr/>
        </p:nvSpPr>
        <p:spPr>
          <a:xfrm>
            <a:off x="420886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lo causó?</a:t>
            </a:r>
          </a:p>
          <a:p>
            <a:pPr algn="l"/>
            <a:endParaRPr lang="en-US"/>
          </a:p>
        </p:txBody>
      </p:sp>
      <p:sp>
        <p:nvSpPr>
          <p:cNvPr id="8" name="¿Por qué fue importante?"/>
          <p:cNvSpPr/>
          <p:nvPr/>
        </p:nvSpPr>
        <p:spPr>
          <a:xfrm>
            <a:off x="3373338" y="1133921"/>
            <a:ext cx="3311575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importante?</a:t>
            </a:r>
          </a:p>
          <a:p>
            <a:pPr algn="l"/>
            <a:endParaRPr lang="en-US"/>
          </a:p>
        </p:txBody>
      </p:sp>
      <p:sp>
        <p:nvSpPr>
          <p:cNvPr id="9" name="¿Qué pasó al final?"/>
          <p:cNvSpPr/>
          <p:nvPr/>
        </p:nvSpPr>
        <p:spPr>
          <a:xfrm>
            <a:off x="6757988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pasó al final?</a:t>
            </a:r>
          </a:p>
          <a:p>
            <a:pPr algn="l"/>
            <a:endParaRPr lang="en-US"/>
          </a:p>
        </p:txBody>
      </p:sp>
      <p:sp>
        <p:nvSpPr>
          <p:cNvPr id="10" name="¿Cómo ocurrió?"/>
          <p:cNvSpPr/>
          <p:nvPr/>
        </p:nvSpPr>
        <p:spPr>
          <a:xfrm>
            <a:off x="420886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¿Cómo ocurrió?</a:t>
            </a:r>
          </a:p>
          <a:p>
            <a:pPr algn="l"/>
            <a:endParaRPr lang="en-US"/>
          </a:p>
        </p:txBody>
      </p:sp>
      <p:sp>
        <p:nvSpPr>
          <p:cNvPr id="11" name="El evento"/>
          <p:cNvSpPr/>
          <p:nvPr/>
        </p:nvSpPr>
        <p:spPr>
          <a:xfrm>
            <a:off x="3373338" y="3257550"/>
            <a:ext cx="3311575" cy="1476375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12" name="¿Cuándo ocurrió?"/>
          <p:cNvSpPr/>
          <p:nvPr/>
        </p:nvSpPr>
        <p:spPr>
          <a:xfrm>
            <a:off x="6757988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¿Cuándo ocurrió?</a:t>
            </a:r>
          </a:p>
          <a:p>
            <a:pPr algn="l"/>
            <a:endParaRPr lang="en-US"/>
          </a:p>
        </p:txBody>
      </p:sp>
      <p:sp>
        <p:nvSpPr>
          <p:cNvPr id="13" name="¿Quiénes participaron?"/>
          <p:cNvSpPr/>
          <p:nvPr/>
        </p:nvSpPr>
        <p:spPr>
          <a:xfrm>
            <a:off x="420886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¿Quiénes participaron?</a:t>
            </a:r>
          </a:p>
          <a:p>
            <a:pPr algn="l"/>
            <a:endParaRPr lang="en-US"/>
          </a:p>
        </p:txBody>
      </p:sp>
      <p:sp>
        <p:nvSpPr>
          <p:cNvPr id="14" name="¿Dónde ocurrió?"/>
          <p:cNvSpPr/>
          <p:nvPr/>
        </p:nvSpPr>
        <p:spPr>
          <a:xfrm>
            <a:off x="3373338" y="4807000"/>
            <a:ext cx="3311575" cy="205070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¿Dónde ocurrió?</a:t>
            </a:r>
          </a:p>
          <a:p>
            <a:pPr algn="l"/>
            <a:endParaRPr lang="en-US"/>
          </a:p>
        </p:txBody>
      </p:sp>
      <p:sp>
        <p:nvSpPr>
          <p:cNvPr id="15" name="¿Qué puedes concluir?"/>
          <p:cNvSpPr/>
          <p:nvPr/>
        </p:nvSpPr>
        <p:spPr>
          <a:xfrm>
            <a:off x="6757988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puedes concluir?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Causa → Evento → Efecto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¿Por qué fue importante?"/>
          <p:cNvSpPr/>
          <p:nvPr/>
        </p:nvSpPr>
        <p:spPr>
          <a:xfrm>
            <a:off x="3379887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importante?</a:t>
            </a:r>
          </a:p>
          <a:p>
            <a:pPr algn="l"/>
            <a:endParaRPr lang="en-US"/>
          </a:p>
        </p:txBody>
      </p:sp>
      <p:sp>
        <p:nvSpPr>
          <p:cNvPr id="8" name="¿Qué lo causó?"/>
          <p:cNvSpPr/>
          <p:nvPr/>
        </p:nvSpPr>
        <p:spPr>
          <a:xfrm>
            <a:off x="420886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lo causó?</a:t>
            </a:r>
          </a:p>
        </p:txBody>
      </p:sp>
      <p:sp>
        <p:nvSpPr>
          <p:cNvPr id="9" name="El evento"/>
          <p:cNvSpPr/>
          <p:nvPr/>
        </p:nvSpPr>
        <p:spPr>
          <a:xfrm>
            <a:off x="3379887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Efectos inmediatos"/>
          <p:cNvSpPr/>
          <p:nvPr/>
        </p:nvSpPr>
        <p:spPr>
          <a:xfrm>
            <a:off x="6751439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Efectos inmediatos</a:t>
            </a:r>
          </a:p>
        </p:txBody>
      </p:sp>
      <p:sp>
        <p:nvSpPr>
          <p:cNvPr id="11" name="¿Quiénes participaron?"/>
          <p:cNvSpPr/>
          <p:nvPr/>
        </p:nvSpPr>
        <p:spPr>
          <a:xfrm>
            <a:off x="420886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¿Quiénes participaron?</a:t>
            </a:r>
          </a:p>
          <a:p>
            <a:pPr algn="l"/>
            <a:endParaRPr lang="en-US"/>
          </a:p>
        </p:txBody>
      </p:sp>
      <p:sp>
        <p:nvSpPr>
          <p:cNvPr id="12" name="Efectos posteriores / a largo plazo"/>
          <p:cNvSpPr/>
          <p:nvPr/>
        </p:nvSpPr>
        <p:spPr>
          <a:xfrm>
            <a:off x="6751439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Efectos posteriores / a largo plazo</a:t>
            </a:r>
          </a:p>
          <a:p>
            <a:pPr algn="l"/>
            <a:endParaRPr lang="en-US"/>
          </a:p>
        </p:txBody>
      </p:sp>
      <p:sp>
        <p:nvSpPr>
          <p:cNvPr id="13" name="¿Qué puedes concluir?"/>
          <p:cNvSpPr/>
          <p:nvPr/>
        </p:nvSpPr>
        <p:spPr>
          <a:xfrm>
            <a:off x="3379887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puedes concluir?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Ruta de secuencia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Secuencia (orden de los sucesos)"/>
          <p:cNvSpPr/>
          <p:nvPr/>
        </p:nvSpPr>
        <p:spPr>
          <a:xfrm>
            <a:off x="420886" y="4469755"/>
            <a:ext cx="9216628" cy="2387947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Secuencia (orden de los sucesos)</a:t>
            </a:r>
          </a:p>
          <a:p>
            <a:pPr algn="ctr"/>
            <a:endParaRPr lang="en-US"/>
          </a:p>
        </p:txBody>
      </p:sp>
      <p:sp>
        <p:nvSpPr>
          <p:cNvPr id="8" name="¿Dónde ocurrió?"/>
          <p:cNvSpPr/>
          <p:nvPr/>
        </p:nvSpPr>
        <p:spPr>
          <a:xfrm>
            <a:off x="420886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¿Dónde ocurrió?</a:t>
            </a:r>
          </a:p>
          <a:p>
            <a:pPr algn="l"/>
            <a:endParaRPr lang="en-US"/>
          </a:p>
        </p:txBody>
      </p:sp>
      <p:sp>
        <p:nvSpPr>
          <p:cNvPr id="9" name="El evento"/>
          <p:cNvSpPr/>
          <p:nvPr/>
        </p:nvSpPr>
        <p:spPr>
          <a:xfrm>
            <a:off x="3379887" y="1133921"/>
            <a:ext cx="3298478" cy="207659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¿Cuándo ocurrió?"/>
          <p:cNvSpPr/>
          <p:nvPr/>
        </p:nvSpPr>
        <p:spPr>
          <a:xfrm>
            <a:off x="6751439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¿Cuándo ocurrió?</a:t>
            </a:r>
          </a:p>
          <a:p>
            <a:pPr algn="l"/>
            <a:endParaRPr lang="en-US"/>
          </a:p>
        </p:txBody>
      </p:sp>
      <p:sp>
        <p:nvSpPr>
          <p:cNvPr id="11" name="Inicio"/>
          <p:cNvSpPr/>
          <p:nvPr/>
        </p:nvSpPr>
        <p:spPr>
          <a:xfrm>
            <a:off x="420886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Inicio</a:t>
            </a:r>
          </a:p>
          <a:p>
            <a:pPr algn="l"/>
            <a:endParaRPr lang="en-US"/>
          </a:p>
        </p:txBody>
      </p:sp>
      <p:sp>
        <p:nvSpPr>
          <p:cNvPr id="12" name="¿Quiénes participaron?"/>
          <p:cNvSpPr/>
          <p:nvPr/>
        </p:nvSpPr>
        <p:spPr>
          <a:xfrm>
            <a:off x="6751439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¿Quiénes participaron?</a:t>
            </a:r>
          </a:p>
          <a:p>
            <a:pPr algn="l"/>
            <a:endParaRPr lang="en-US"/>
          </a:p>
        </p:txBody>
      </p:sp>
      <p:sp>
        <p:nvSpPr>
          <p:cNvPr id="13" name="Final"/>
          <p:cNvSpPr/>
          <p:nvPr/>
        </p:nvSpPr>
        <p:spPr>
          <a:xfrm>
            <a:off x="420886" y="3283595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Final</a:t>
            </a:r>
          </a:p>
          <a:p>
            <a:pPr algn="l"/>
            <a:endParaRPr lang="en-US"/>
          </a:p>
        </p:txBody>
      </p:sp>
      <p:sp>
        <p:nvSpPr>
          <p:cNvPr id="14" name="¿Por qué fue importante?"/>
          <p:cNvSpPr/>
          <p:nvPr/>
        </p:nvSpPr>
        <p:spPr>
          <a:xfrm>
            <a:off x="3379887" y="3283595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importante?</a:t>
            </a:r>
          </a:p>
          <a:p>
            <a:pPr algn="l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549473" y="4723209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549473" y="4897041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549473" y="507072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549473" y="5244405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549473" y="5418237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Personas y grupos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íder importante"/>
          <p:cNvSpPr/>
          <p:nvPr/>
        </p:nvSpPr>
        <p:spPr>
          <a:xfrm>
            <a:off x="420886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Líder importante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¿Por qué fue importante esta persona?"/>
          <p:cNvSpPr/>
          <p:nvPr/>
        </p:nvSpPr>
        <p:spPr>
          <a:xfrm>
            <a:off x="420886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importante esta persona?</a:t>
            </a:r>
          </a:p>
          <a:p>
            <a:pPr algn="l"/>
            <a:endParaRPr lang="en-US"/>
          </a:p>
        </p:txBody>
      </p:sp>
      <p:sp>
        <p:nvSpPr>
          <p:cNvPr id="9" name="Grupo 1"/>
          <p:cNvSpPr/>
          <p:nvPr/>
        </p:nvSpPr>
        <p:spPr>
          <a:xfrm>
            <a:off x="3945582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Grupo 1</a:t>
            </a:r>
          </a:p>
          <a:p>
            <a:pPr algn="ctr"/>
            <a:endParaRPr lang="en-US"/>
          </a:p>
        </p:txBody>
      </p:sp>
      <p:sp>
        <p:nvSpPr>
          <p:cNvPr id="10" name="¿Qué quería el Grupo 1?"/>
          <p:cNvSpPr/>
          <p:nvPr/>
        </p:nvSpPr>
        <p:spPr>
          <a:xfrm>
            <a:off x="3945582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quería el Grupo 1?</a:t>
            </a:r>
          </a:p>
          <a:p>
            <a:pPr algn="l"/>
            <a:endParaRPr lang="en-US"/>
          </a:p>
        </p:txBody>
      </p:sp>
      <p:sp>
        <p:nvSpPr>
          <p:cNvPr id="11" name="¿Qué puedes concluir?"/>
          <p:cNvSpPr/>
          <p:nvPr/>
        </p:nvSpPr>
        <p:spPr>
          <a:xfrm>
            <a:off x="3945582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puedes concluir?</a:t>
            </a:r>
          </a:p>
          <a:p>
            <a:pPr algn="l"/>
            <a:endParaRPr lang="en-US"/>
          </a:p>
        </p:txBody>
      </p:sp>
      <p:sp>
        <p:nvSpPr>
          <p:cNvPr id="12" name="Grupo 2"/>
          <p:cNvSpPr/>
          <p:nvPr/>
        </p:nvSpPr>
        <p:spPr>
          <a:xfrm>
            <a:off x="5867251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Grupo 2</a:t>
            </a:r>
          </a:p>
          <a:p>
            <a:pPr algn="ctr"/>
            <a:endParaRPr lang="en-US"/>
          </a:p>
        </p:txBody>
      </p:sp>
      <p:sp>
        <p:nvSpPr>
          <p:cNvPr id="13" name="¿Qué quería el Grupo 2?"/>
          <p:cNvSpPr/>
          <p:nvPr/>
        </p:nvSpPr>
        <p:spPr>
          <a:xfrm>
            <a:off x="5867251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quería el Grupo 2?</a:t>
            </a:r>
          </a:p>
          <a:p>
            <a:pPr algn="l"/>
            <a:endParaRPr lang="en-US"/>
          </a:p>
        </p:txBody>
      </p:sp>
      <p:sp>
        <p:nvSpPr>
          <p:cNvPr id="14" name="Resultado"/>
          <p:cNvSpPr/>
          <p:nvPr/>
        </p:nvSpPr>
        <p:spPr>
          <a:xfrm>
            <a:off x="5867251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</a:t>
            </a:r>
          </a:p>
          <a:p>
            <a:pPr algn="l"/>
            <a:endParaRPr lang="en-US"/>
          </a:p>
        </p:txBody>
      </p:sp>
      <p:sp>
        <p:nvSpPr>
          <p:cNvPr id="15" name="Grupo 3"/>
          <p:cNvSpPr/>
          <p:nvPr/>
        </p:nvSpPr>
        <p:spPr>
          <a:xfrm>
            <a:off x="7788920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Grupo 3</a:t>
            </a:r>
          </a:p>
          <a:p>
            <a:pPr algn="ctr"/>
            <a:endParaRPr lang="en-US"/>
          </a:p>
        </p:txBody>
      </p:sp>
      <p:sp>
        <p:nvSpPr>
          <p:cNvPr id="16" name="¿Qué quería el Grupo 3?"/>
          <p:cNvSpPr/>
          <p:nvPr/>
        </p:nvSpPr>
        <p:spPr>
          <a:xfrm>
            <a:off x="7788920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quería el Grupo 3?</a:t>
            </a:r>
          </a:p>
          <a:p>
            <a:pPr algn="l"/>
            <a:endParaRPr lang="en-US"/>
          </a:p>
        </p:txBody>
      </p:sp>
      <p:sp>
        <p:nvSpPr>
          <p:cNvPr id="17" name="Resultado"/>
          <p:cNvSpPr/>
          <p:nvPr/>
        </p:nvSpPr>
        <p:spPr>
          <a:xfrm>
            <a:off x="7788920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</a:t>
            </a:r>
          </a:p>
          <a:p>
            <a:pPr algn="l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El lugar importa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aracterísticas físicas"/>
          <p:cNvSpPr/>
          <p:nvPr/>
        </p:nvSpPr>
        <p:spPr>
          <a:xfrm>
            <a:off x="420886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Características físicas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682008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9" name="Características humanas"/>
          <p:cNvSpPr/>
          <p:nvPr/>
        </p:nvSpPr>
        <p:spPr>
          <a:xfrm>
            <a:off x="6467624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Características humanas</a:t>
            </a:r>
          </a:p>
          <a:p>
            <a:pPr algn="l"/>
            <a:endParaRPr lang="en-US"/>
          </a:p>
        </p:txBody>
      </p:sp>
      <p:sp>
        <p:nvSpPr>
          <p:cNvPr id="10" name="¿Por qué ocurrió aquí?"/>
          <p:cNvSpPr/>
          <p:nvPr/>
        </p:nvSpPr>
        <p:spPr>
          <a:xfrm>
            <a:off x="420886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ocurrió aquí?</a:t>
            </a:r>
          </a:p>
          <a:p>
            <a:pPr algn="l"/>
            <a:endParaRPr lang="en-US"/>
          </a:p>
        </p:txBody>
      </p:sp>
      <p:sp>
        <p:nvSpPr>
          <p:cNvPr id="11" name="Movimiento / Rutas"/>
          <p:cNvSpPr/>
          <p:nvPr/>
        </p:nvSpPr>
        <p:spPr>
          <a:xfrm>
            <a:off x="3682008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Movimiento / Rutas</a:t>
            </a:r>
          </a:p>
          <a:p>
            <a:pPr algn="l"/>
            <a:endParaRPr lang="en-US"/>
          </a:p>
        </p:txBody>
      </p:sp>
      <p:sp>
        <p:nvSpPr>
          <p:cNvPr id="12" name="¿Cómo influyó el lugar?"/>
          <p:cNvSpPr/>
          <p:nvPr/>
        </p:nvSpPr>
        <p:spPr>
          <a:xfrm>
            <a:off x="6467624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¿Cómo influyó el lugar?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Antes y después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ntes"/>
          <p:cNvSpPr/>
          <p:nvPr/>
        </p:nvSpPr>
        <p:spPr>
          <a:xfrm>
            <a:off x="420886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Antes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61473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l"/>
            <a:endParaRPr lang="en-US"/>
          </a:p>
        </p:txBody>
      </p:sp>
      <p:sp>
        <p:nvSpPr>
          <p:cNvPr id="9" name="Después"/>
          <p:cNvSpPr/>
          <p:nvPr/>
        </p:nvSpPr>
        <p:spPr>
          <a:xfrm>
            <a:off x="6808589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Después</a:t>
            </a:r>
          </a:p>
          <a:p>
            <a:pPr algn="l"/>
            <a:endParaRPr lang="en-US"/>
          </a:p>
        </p:txBody>
      </p:sp>
      <p:sp>
        <p:nvSpPr>
          <p:cNvPr id="10" name="¿Qué cambió?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cambió?</a:t>
            </a:r>
          </a:p>
          <a:p>
            <a:pPr algn="l"/>
            <a:endParaRPr lang="en-US"/>
          </a:p>
        </p:txBody>
      </p:sp>
      <p:sp>
        <p:nvSpPr>
          <p:cNvPr id="11" name="¿Qué permaneció igual?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permaneció igual?</a:t>
            </a:r>
          </a:p>
          <a:p>
            <a:pPr algn="l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317128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636514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Mapa de evidencias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Fuente 1"/>
          <p:cNvSpPr/>
          <p:nvPr/>
        </p:nvSpPr>
        <p:spPr>
          <a:xfrm>
            <a:off x="420886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Fuente 1</a:t>
            </a:r>
          </a:p>
          <a:p>
            <a:pPr algn="l"/>
            <a:endParaRPr lang="en-US"/>
          </a:p>
        </p:txBody>
      </p:sp>
      <p:sp>
        <p:nvSpPr>
          <p:cNvPr id="8" name="Dato o evidencia útil"/>
          <p:cNvSpPr/>
          <p:nvPr/>
        </p:nvSpPr>
        <p:spPr>
          <a:xfrm>
            <a:off x="420886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Dato o evidencia útil</a:t>
            </a:r>
          </a:p>
          <a:p>
            <a:pPr algn="l"/>
            <a:endParaRPr lang="en-US"/>
          </a:p>
        </p:txBody>
      </p:sp>
      <p:sp>
        <p:nvSpPr>
          <p:cNvPr id="9" name="Fuente 2"/>
          <p:cNvSpPr/>
          <p:nvPr/>
        </p:nvSpPr>
        <p:spPr>
          <a:xfrm>
            <a:off x="3523506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Fuente 2</a:t>
            </a:r>
          </a:p>
          <a:p>
            <a:pPr algn="l"/>
            <a:endParaRPr lang="en-US"/>
          </a:p>
        </p:txBody>
      </p:sp>
      <p:sp>
        <p:nvSpPr>
          <p:cNvPr id="10" name="Dato o evidencia útil"/>
          <p:cNvSpPr/>
          <p:nvPr/>
        </p:nvSpPr>
        <p:spPr>
          <a:xfrm>
            <a:off x="3523506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Dato o evidencia útil</a:t>
            </a:r>
          </a:p>
          <a:p>
            <a:pPr algn="l"/>
            <a:endParaRPr lang="en-US"/>
          </a:p>
        </p:txBody>
      </p:sp>
      <p:sp>
        <p:nvSpPr>
          <p:cNvPr id="11" name="Fuente 3"/>
          <p:cNvSpPr/>
          <p:nvPr/>
        </p:nvSpPr>
        <p:spPr>
          <a:xfrm>
            <a:off x="662612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Fuente 3</a:t>
            </a:r>
          </a:p>
          <a:p>
            <a:pPr algn="l"/>
            <a:endParaRPr lang="en-US"/>
          </a:p>
        </p:txBody>
      </p:sp>
      <p:sp>
        <p:nvSpPr>
          <p:cNvPr id="12" name="Dato o evidencia útil"/>
          <p:cNvSpPr/>
          <p:nvPr/>
        </p:nvSpPr>
        <p:spPr>
          <a:xfrm>
            <a:off x="662612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Dato o evidencia útil</a:t>
            </a:r>
          </a:p>
          <a:p>
            <a:pPr algn="l"/>
            <a:endParaRPr lang="en-US"/>
          </a:p>
        </p:txBody>
      </p:sp>
      <p:sp>
        <p:nvSpPr>
          <p:cNvPr id="13" name="¿Qué puedes concluir?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puedes concluir?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Por qué importó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El evento"/>
          <p:cNvSpPr/>
          <p:nvPr/>
        </p:nvSpPr>
        <p:spPr>
          <a:xfrm>
            <a:off x="420886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8" name="Efecto en las personas"/>
          <p:cNvSpPr/>
          <p:nvPr/>
        </p:nvSpPr>
        <p:spPr>
          <a:xfrm>
            <a:off x="3093244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 en las personas</a:t>
            </a:r>
          </a:p>
          <a:p>
            <a:pPr algn="l"/>
            <a:endParaRPr lang="en-US"/>
          </a:p>
        </p:txBody>
      </p:sp>
      <p:sp>
        <p:nvSpPr>
          <p:cNvPr id="9" name="Efecto en el gobierno"/>
          <p:cNvSpPr/>
          <p:nvPr/>
        </p:nvSpPr>
        <p:spPr>
          <a:xfrm>
            <a:off x="6411069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 en el gobierno</a:t>
            </a:r>
          </a:p>
          <a:p>
            <a:pPr algn="l"/>
            <a:endParaRPr lang="en-US"/>
          </a:p>
        </p:txBody>
      </p:sp>
      <p:sp>
        <p:nvSpPr>
          <p:cNvPr id="10" name="Efecto en la economía"/>
          <p:cNvSpPr/>
          <p:nvPr/>
        </p:nvSpPr>
        <p:spPr>
          <a:xfrm>
            <a:off x="3093244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 en la economía</a:t>
            </a:r>
          </a:p>
          <a:p>
            <a:pPr algn="l"/>
            <a:endParaRPr lang="en-US"/>
          </a:p>
        </p:txBody>
      </p:sp>
      <p:sp>
        <p:nvSpPr>
          <p:cNvPr id="11" name="Efecto en la comunidad / cultura"/>
          <p:cNvSpPr/>
          <p:nvPr/>
        </p:nvSpPr>
        <p:spPr>
          <a:xfrm>
            <a:off x="6411069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 en la comunidad / cultura</a:t>
            </a:r>
          </a:p>
          <a:p>
            <a:pPr algn="l"/>
            <a:endParaRPr lang="en-US"/>
          </a:p>
        </p:txBody>
      </p:sp>
      <p:sp>
        <p:nvSpPr>
          <p:cNvPr id="12" name="¿Qué cambio importó más?"/>
          <p:cNvSpPr/>
          <p:nvPr/>
        </p:nvSpPr>
        <p:spPr>
          <a:xfrm>
            <a:off x="420886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cambio importó más?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Investigador de eventos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¿Qué lo causó?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lo causó?</a:t>
            </a:r>
          </a:p>
          <a:p>
            <a:pPr algn="l"/>
            <a:endParaRPr lang="en-US"/>
          </a:p>
        </p:txBody>
      </p:sp>
      <p:sp>
        <p:nvSpPr>
          <p:cNvPr id="8" name="¿Por qué fue importante?"/>
          <p:cNvSpPr/>
          <p:nvPr/>
        </p:nvSpPr>
        <p:spPr>
          <a:xfrm>
            <a:off x="3373338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importante?</a:t>
            </a:r>
          </a:p>
          <a:p>
            <a:pPr algn="l"/>
            <a:endParaRPr lang="en-US"/>
          </a:p>
        </p:txBody>
      </p:sp>
      <p:sp>
        <p:nvSpPr>
          <p:cNvPr id="9" name="Resultado"/>
          <p:cNvSpPr/>
          <p:nvPr/>
        </p:nvSpPr>
        <p:spPr>
          <a:xfrm>
            <a:off x="6757839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</a:t>
            </a:r>
          </a:p>
          <a:p>
            <a:pPr algn="l"/>
            <a:endParaRPr lang="en-US"/>
          </a:p>
        </p:txBody>
      </p:sp>
      <p:sp>
        <p:nvSpPr>
          <p:cNvPr id="10" name="¿Cómo ocurrió?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¿Cómo ocurrió?</a:t>
            </a:r>
          </a:p>
          <a:p>
            <a:pPr algn="l"/>
            <a:endParaRPr lang="en-US"/>
          </a:p>
        </p:txBody>
      </p:sp>
      <p:sp>
        <p:nvSpPr>
          <p:cNvPr id="11" name="El evento"/>
          <p:cNvSpPr/>
          <p:nvPr/>
        </p:nvSpPr>
        <p:spPr>
          <a:xfrm>
            <a:off x="3373338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12" name="¿Cuándo ocurrió?"/>
          <p:cNvSpPr/>
          <p:nvPr/>
        </p:nvSpPr>
        <p:spPr>
          <a:xfrm>
            <a:off x="6757839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¿Cuándo ocurrió?</a:t>
            </a:r>
          </a:p>
          <a:p>
            <a:pPr algn="l"/>
            <a:endParaRPr lang="en-US"/>
          </a:p>
        </p:txBody>
      </p:sp>
      <p:sp>
        <p:nvSpPr>
          <p:cNvPr id="13" name="Grupos involucrados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Grupos involucrados</a:t>
            </a:r>
          </a:p>
          <a:p>
            <a:pPr algn="l"/>
            <a:endParaRPr lang="en-US"/>
          </a:p>
        </p:txBody>
      </p:sp>
      <p:sp>
        <p:nvSpPr>
          <p:cNvPr id="14" name="¿Dónde ocurrió?"/>
          <p:cNvSpPr/>
          <p:nvPr/>
        </p:nvSpPr>
        <p:spPr>
          <a:xfrm>
            <a:off x="3373338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¿Dónde ocurrió?</a:t>
            </a:r>
          </a:p>
          <a:p>
            <a:pPr algn="l"/>
            <a:endParaRPr lang="en-US"/>
          </a:p>
        </p:txBody>
      </p:sp>
      <p:sp>
        <p:nvSpPr>
          <p:cNvPr id="15" name="Líder importante"/>
          <p:cNvSpPr/>
          <p:nvPr/>
        </p:nvSpPr>
        <p:spPr>
          <a:xfrm>
            <a:off x="6757839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Líder importante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Causas bajo presión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ausas a largo plazo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Causas a largo plazo</a:t>
            </a:r>
          </a:p>
          <a:p>
            <a:pPr algn="l"/>
            <a:endParaRPr lang="en-US"/>
          </a:p>
        </p:txBody>
      </p:sp>
      <p:sp>
        <p:nvSpPr>
          <p:cNvPr id="8" name="Causas a corto plazo"/>
          <p:cNvSpPr/>
          <p:nvPr/>
        </p:nvSpPr>
        <p:spPr>
          <a:xfrm>
            <a:off x="2816275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Causas a corto plazo</a:t>
            </a:r>
          </a:p>
          <a:p>
            <a:pPr algn="l"/>
            <a:endParaRPr lang="en-US"/>
          </a:p>
        </p:txBody>
      </p:sp>
      <p:sp>
        <p:nvSpPr>
          <p:cNvPr id="9" name="Desencadenante"/>
          <p:cNvSpPr/>
          <p:nvPr/>
        </p:nvSpPr>
        <p:spPr>
          <a:xfrm>
            <a:off x="5211663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Desencadenante</a:t>
            </a:r>
          </a:p>
          <a:p>
            <a:pPr algn="l"/>
            <a:endParaRPr lang="en-US"/>
          </a:p>
        </p:txBody>
      </p:sp>
      <p:sp>
        <p:nvSpPr>
          <p:cNvPr id="10" name="El evento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l"/>
            <a:endParaRPr lang="en-US"/>
          </a:p>
        </p:txBody>
      </p:sp>
      <p:sp>
        <p:nvSpPr>
          <p:cNvPr id="11" name="Efectos inmediatos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Efectos inmediatos</a:t>
            </a:r>
          </a:p>
          <a:p>
            <a:pPr algn="l"/>
            <a:endParaRPr lang="en-US"/>
          </a:p>
        </p:txBody>
      </p:sp>
      <p:sp>
        <p:nvSpPr>
          <p:cNvPr id="12" name="Efectos posteriores / a largo plazo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Efectos posteriores / a largo plazo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6821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Mapa de punto de inflexión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ntes"/>
          <p:cNvSpPr/>
          <p:nvPr/>
        </p:nvSpPr>
        <p:spPr>
          <a:xfrm>
            <a:off x="420886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Antes</a:t>
            </a:r>
          </a:p>
          <a:p>
            <a:pPr algn="l"/>
            <a:endParaRPr lang="en-US"/>
          </a:p>
        </p:txBody>
      </p:sp>
      <p:sp>
        <p:nvSpPr>
          <p:cNvPr id="8" name="Punto de inflexión"/>
          <p:cNvSpPr/>
          <p:nvPr/>
        </p:nvSpPr>
        <p:spPr>
          <a:xfrm>
            <a:off x="382309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Punto de inflexión</a:t>
            </a:r>
          </a:p>
          <a:p>
            <a:pPr algn="l"/>
            <a:endParaRPr lang="en-US"/>
          </a:p>
        </p:txBody>
      </p:sp>
      <p:sp>
        <p:nvSpPr>
          <p:cNvPr id="9" name="Después"/>
          <p:cNvSpPr/>
          <p:nvPr/>
        </p:nvSpPr>
        <p:spPr>
          <a:xfrm>
            <a:off x="722545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Después</a:t>
            </a:r>
          </a:p>
          <a:p>
            <a:pPr algn="l"/>
            <a:endParaRPr lang="en-US"/>
          </a:p>
        </p:txBody>
      </p:sp>
      <p:sp>
        <p:nvSpPr>
          <p:cNvPr id="10" name="Presiones acumuladas"/>
          <p:cNvSpPr/>
          <p:nvPr/>
        </p:nvSpPr>
        <p:spPr>
          <a:xfrm>
            <a:off x="420886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Presiones acumuladas</a:t>
            </a:r>
          </a:p>
          <a:p>
            <a:pPr algn="l"/>
            <a:endParaRPr lang="en-US"/>
          </a:p>
        </p:txBody>
      </p:sp>
      <p:sp>
        <p:nvSpPr>
          <p:cNvPr id="11" name="Cambio a largo plazo"/>
          <p:cNvSpPr/>
          <p:nvPr/>
        </p:nvSpPr>
        <p:spPr>
          <a:xfrm>
            <a:off x="3823097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Cambio a largo plazo</a:t>
            </a:r>
          </a:p>
          <a:p>
            <a:pPr algn="l"/>
            <a:endParaRPr lang="en-US"/>
          </a:p>
        </p:txBody>
      </p:sp>
      <p:sp>
        <p:nvSpPr>
          <p:cNvPr id="12" name="¿Por qué fue un punto de inflexión?"/>
          <p:cNvSpPr/>
          <p:nvPr/>
        </p:nvSpPr>
        <p:spPr>
          <a:xfrm>
            <a:off x="677599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un punto de inflexión?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90586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630822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Perspectivas múltiples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Grupo 1"/>
          <p:cNvSpPr/>
          <p:nvPr/>
        </p:nvSpPr>
        <p:spPr>
          <a:xfrm>
            <a:off x="420886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Grupo 1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792289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9" name="Grupo 2"/>
          <p:cNvSpPr/>
          <p:nvPr/>
        </p:nvSpPr>
        <p:spPr>
          <a:xfrm>
            <a:off x="633903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Grupo 2</a:t>
            </a:r>
          </a:p>
          <a:p>
            <a:pPr algn="l"/>
            <a:endParaRPr lang="en-US"/>
          </a:p>
        </p:txBody>
      </p:sp>
      <p:sp>
        <p:nvSpPr>
          <p:cNvPr id="10" name="Grupo 3"/>
          <p:cNvSpPr/>
          <p:nvPr/>
        </p:nvSpPr>
        <p:spPr>
          <a:xfrm>
            <a:off x="420886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Grupo 3</a:t>
            </a:r>
          </a:p>
          <a:p>
            <a:pPr algn="l"/>
            <a:endParaRPr lang="en-US"/>
          </a:p>
        </p:txBody>
      </p:sp>
      <p:sp>
        <p:nvSpPr>
          <p:cNvPr id="11" name="Grupo 4"/>
          <p:cNvSpPr/>
          <p:nvPr/>
        </p:nvSpPr>
        <p:spPr>
          <a:xfrm>
            <a:off x="633903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Grupo 4</a:t>
            </a:r>
          </a:p>
          <a:p>
            <a:pPr algn="l"/>
            <a:endParaRPr lang="en-US"/>
          </a:p>
        </p:txBody>
      </p:sp>
      <p:sp>
        <p:nvSpPr>
          <p:cNvPr id="12" name="¿En qué coincidieron?"/>
          <p:cNvSpPr/>
          <p:nvPr/>
        </p:nvSpPr>
        <p:spPr>
          <a:xfrm>
            <a:off x="42088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¿En qué coincidieron?</a:t>
            </a:r>
          </a:p>
          <a:p>
            <a:pPr algn="l"/>
            <a:endParaRPr lang="en-US"/>
          </a:p>
        </p:txBody>
      </p:sp>
      <p:sp>
        <p:nvSpPr>
          <p:cNvPr id="13" name="¿En qué discreparon?"/>
          <p:cNvSpPr/>
          <p:nvPr/>
        </p:nvSpPr>
        <p:spPr>
          <a:xfrm>
            <a:off x="352350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¿En qué discreparon?</a:t>
            </a:r>
          </a:p>
          <a:p>
            <a:pPr algn="l"/>
            <a:endParaRPr lang="en-US"/>
          </a:p>
        </p:txBody>
      </p:sp>
      <p:sp>
        <p:nvSpPr>
          <p:cNvPr id="14" name="¿Qué voz falta?"/>
          <p:cNvSpPr/>
          <p:nvPr/>
        </p:nvSpPr>
        <p:spPr>
          <a:xfrm>
            <a:off x="662612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voz falta?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Líder y evento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íder importante"/>
          <p:cNvSpPr/>
          <p:nvPr/>
        </p:nvSpPr>
        <p:spPr>
          <a:xfrm>
            <a:off x="420886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Líder importante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Impacto"/>
          <p:cNvSpPr/>
          <p:nvPr/>
        </p:nvSpPr>
        <p:spPr>
          <a:xfrm>
            <a:off x="420886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Impacto</a:t>
            </a:r>
          </a:p>
          <a:p>
            <a:pPr algn="l"/>
            <a:endParaRPr lang="en-US"/>
          </a:p>
        </p:txBody>
      </p:sp>
      <p:sp>
        <p:nvSpPr>
          <p:cNvPr id="9" name="Evidencia"/>
          <p:cNvSpPr/>
          <p:nvPr/>
        </p:nvSpPr>
        <p:spPr>
          <a:xfrm>
            <a:off x="420886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Evidencia</a:t>
            </a:r>
          </a:p>
          <a:p>
            <a:pPr algn="l"/>
            <a:endParaRPr lang="en-US"/>
          </a:p>
        </p:txBody>
      </p:sp>
      <p:sp>
        <p:nvSpPr>
          <p:cNvPr id="10" name="El evento"/>
          <p:cNvSpPr/>
          <p:nvPr/>
        </p:nvSpPr>
        <p:spPr>
          <a:xfrm>
            <a:off x="3945582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Metas del líder"/>
          <p:cNvSpPr/>
          <p:nvPr/>
        </p:nvSpPr>
        <p:spPr>
          <a:xfrm>
            <a:off x="3945582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Metas del líder</a:t>
            </a:r>
          </a:p>
          <a:p>
            <a:pPr algn="l"/>
            <a:endParaRPr lang="en-US"/>
          </a:p>
        </p:txBody>
      </p:sp>
      <p:sp>
        <p:nvSpPr>
          <p:cNvPr id="12" name="Decisiones clave"/>
          <p:cNvSpPr/>
          <p:nvPr/>
        </p:nvSpPr>
        <p:spPr>
          <a:xfrm>
            <a:off x="6837164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Decisiones clave</a:t>
            </a:r>
          </a:p>
          <a:p>
            <a:pPr algn="l"/>
            <a:endParaRPr lang="en-US"/>
          </a:p>
        </p:txBody>
      </p:sp>
      <p:sp>
        <p:nvSpPr>
          <p:cNvPr id="13" name="Aliados / partidarios"/>
          <p:cNvSpPr/>
          <p:nvPr/>
        </p:nvSpPr>
        <p:spPr>
          <a:xfrm>
            <a:off x="3945582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Aliados / partidarios</a:t>
            </a:r>
          </a:p>
          <a:p>
            <a:pPr algn="l"/>
            <a:endParaRPr lang="en-US"/>
          </a:p>
        </p:txBody>
      </p:sp>
      <p:sp>
        <p:nvSpPr>
          <p:cNvPr id="14" name="Oponentes"/>
          <p:cNvSpPr/>
          <p:nvPr/>
        </p:nvSpPr>
        <p:spPr>
          <a:xfrm>
            <a:off x="6837164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Oponentes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Mapa de conflicto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ado / Grupo A"/>
          <p:cNvSpPr/>
          <p:nvPr/>
        </p:nvSpPr>
        <p:spPr>
          <a:xfrm>
            <a:off x="420886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Lado / Grupo A</a:t>
            </a:r>
          </a:p>
          <a:p>
            <a:pPr algn="l"/>
            <a:endParaRPr lang="en-US"/>
          </a:p>
        </p:txBody>
      </p:sp>
      <p:sp>
        <p:nvSpPr>
          <p:cNvPr id="8" name="Meta del lado A"/>
          <p:cNvSpPr/>
          <p:nvPr/>
        </p:nvSpPr>
        <p:spPr>
          <a:xfrm>
            <a:off x="420886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Meta del lado A</a:t>
            </a:r>
          </a:p>
          <a:p>
            <a:pPr algn="l"/>
            <a:endParaRPr lang="en-US"/>
          </a:p>
        </p:txBody>
      </p:sp>
      <p:sp>
        <p:nvSpPr>
          <p:cNvPr id="9" name="Acción del lado A"/>
          <p:cNvSpPr/>
          <p:nvPr/>
        </p:nvSpPr>
        <p:spPr>
          <a:xfrm>
            <a:off x="420886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Acción del lado A</a:t>
            </a:r>
          </a:p>
          <a:p>
            <a:pPr algn="l"/>
            <a:endParaRPr lang="en-US"/>
          </a:p>
        </p:txBody>
      </p:sp>
      <p:sp>
        <p:nvSpPr>
          <p:cNvPr id="10" name="Evento del conflicto"/>
          <p:cNvSpPr/>
          <p:nvPr/>
        </p:nvSpPr>
        <p:spPr>
          <a:xfrm>
            <a:off x="3797201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Evento del conflicto</a:t>
            </a:r>
          </a:p>
        </p:txBody>
      </p:sp>
      <p:sp>
        <p:nvSpPr>
          <p:cNvPr id="11" name="Lado / Grupo B"/>
          <p:cNvSpPr/>
          <p:nvPr/>
        </p:nvSpPr>
        <p:spPr>
          <a:xfrm>
            <a:off x="6352431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Lado / Grupo B</a:t>
            </a:r>
          </a:p>
          <a:p>
            <a:pPr algn="l"/>
            <a:endParaRPr lang="en-US"/>
          </a:p>
        </p:txBody>
      </p:sp>
      <p:sp>
        <p:nvSpPr>
          <p:cNvPr id="12" name="Meta del lado B"/>
          <p:cNvSpPr/>
          <p:nvPr/>
        </p:nvSpPr>
        <p:spPr>
          <a:xfrm>
            <a:off x="6352431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Meta del lado B</a:t>
            </a:r>
          </a:p>
          <a:p>
            <a:pPr algn="l"/>
            <a:endParaRPr lang="en-US"/>
          </a:p>
        </p:txBody>
      </p:sp>
      <p:sp>
        <p:nvSpPr>
          <p:cNvPr id="13" name="Acción del lado B"/>
          <p:cNvSpPr/>
          <p:nvPr/>
        </p:nvSpPr>
        <p:spPr>
          <a:xfrm>
            <a:off x="6352431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Acción del lado B</a:t>
            </a:r>
          </a:p>
          <a:p>
            <a:pPr algn="l"/>
            <a:endParaRPr lang="en-US"/>
          </a:p>
        </p:txBody>
      </p:sp>
      <p:sp>
        <p:nvSpPr>
          <p:cNvPr id="14" name="Resolución"/>
          <p:cNvSpPr/>
          <p:nvPr/>
        </p:nvSpPr>
        <p:spPr>
          <a:xfrm>
            <a:off x="420886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Resolución</a:t>
            </a:r>
          </a:p>
          <a:p>
            <a:pPr algn="l"/>
            <a:endParaRPr lang="en-US"/>
          </a:p>
        </p:txBody>
      </p:sp>
      <p:sp>
        <p:nvSpPr>
          <p:cNvPr id="15" name="Resultado"/>
          <p:cNvSpPr/>
          <p:nvPr/>
        </p:nvSpPr>
        <p:spPr>
          <a:xfrm>
            <a:off x="5074741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Reacción en cadena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cción 1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Acción 1</a:t>
            </a:r>
          </a:p>
          <a:p>
            <a:pPr algn="l"/>
            <a:endParaRPr lang="en-US"/>
          </a:p>
        </p:txBody>
      </p:sp>
      <p:sp>
        <p:nvSpPr>
          <p:cNvPr id="8" name="Reacción 1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Reacción 1</a:t>
            </a:r>
          </a:p>
          <a:p>
            <a:pPr algn="l"/>
            <a:endParaRPr lang="en-US"/>
          </a:p>
        </p:txBody>
      </p:sp>
      <p:sp>
        <p:nvSpPr>
          <p:cNvPr id="9" name="Acción 2"/>
          <p:cNvSpPr/>
          <p:nvPr/>
        </p:nvSpPr>
        <p:spPr>
          <a:xfrm>
            <a:off x="3614738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Acción 2</a:t>
            </a:r>
          </a:p>
          <a:p>
            <a:pPr algn="l"/>
            <a:endParaRPr lang="en-US"/>
          </a:p>
        </p:txBody>
      </p:sp>
      <p:sp>
        <p:nvSpPr>
          <p:cNvPr id="10" name="Reacción 2"/>
          <p:cNvSpPr/>
          <p:nvPr/>
        </p:nvSpPr>
        <p:spPr>
          <a:xfrm>
            <a:off x="5230713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Reacción 2</a:t>
            </a:r>
          </a:p>
          <a:p>
            <a:pPr algn="l"/>
            <a:endParaRPr lang="en-US"/>
          </a:p>
        </p:txBody>
      </p:sp>
      <p:sp>
        <p:nvSpPr>
          <p:cNvPr id="11" name="Crisis / Punto de inflexión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Crisis / Punto de inflexión</a:t>
            </a:r>
          </a:p>
          <a:p>
            <a:pPr algn="l"/>
            <a:endParaRPr lang="en-US"/>
          </a:p>
        </p:txBody>
      </p:sp>
      <p:sp>
        <p:nvSpPr>
          <p:cNvPr id="12" name="Resultado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</a:t>
            </a:r>
          </a:p>
          <a:p>
            <a:pPr algn="l"/>
            <a:endParaRPr lang="en-US"/>
          </a:p>
        </p:txBody>
      </p:sp>
      <p:sp>
        <p:nvSpPr>
          <p:cNvPr id="13" name="Eslabón más importante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Eslabón más importante</a:t>
            </a:r>
          </a:p>
          <a:p>
            <a:pPr algn="l"/>
            <a:endParaRPr lang="en-US"/>
          </a:p>
        </p:txBody>
      </p:sp>
      <p:sp>
        <p:nvSpPr>
          <p:cNvPr id="14" name="Evidencia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Evidencia</a:t>
            </a:r>
          </a:p>
          <a:p>
            <a:pPr algn="l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8726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Geografía de un evento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Geografía física"/>
          <p:cNvSpPr/>
          <p:nvPr/>
        </p:nvSpPr>
        <p:spPr>
          <a:xfrm>
            <a:off x="420886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Geografía física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621584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9" name="Geografía humana"/>
          <p:cNvSpPr/>
          <p:nvPr/>
        </p:nvSpPr>
        <p:spPr>
          <a:xfrm>
            <a:off x="6509742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Geografía humana</a:t>
            </a:r>
          </a:p>
          <a:p>
            <a:pPr algn="l"/>
            <a:endParaRPr lang="en-US"/>
          </a:p>
        </p:txBody>
      </p:sp>
      <p:sp>
        <p:nvSpPr>
          <p:cNvPr id="10" name="Recursos"/>
          <p:cNvSpPr/>
          <p:nvPr/>
        </p:nvSpPr>
        <p:spPr>
          <a:xfrm>
            <a:off x="420886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Recursos</a:t>
            </a:r>
          </a:p>
          <a:p>
            <a:pPr algn="l"/>
            <a:endParaRPr lang="en-US"/>
          </a:p>
        </p:txBody>
      </p:sp>
      <p:sp>
        <p:nvSpPr>
          <p:cNvPr id="11" name="Movimiento / Rutas"/>
          <p:cNvSpPr/>
          <p:nvPr/>
        </p:nvSpPr>
        <p:spPr>
          <a:xfrm>
            <a:off x="6509742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Movimiento / Rutas</a:t>
            </a:r>
          </a:p>
          <a:p>
            <a:pPr algn="l"/>
            <a:endParaRPr lang="en-US"/>
          </a:p>
        </p:txBody>
      </p:sp>
      <p:sp>
        <p:nvSpPr>
          <p:cNvPr id="12" name="¿Por qué importó la ubicación?"/>
          <p:cNvSpPr/>
          <p:nvPr/>
        </p:nvSpPr>
        <p:spPr>
          <a:xfrm>
            <a:off x="420886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importó la ubicación?</a:t>
            </a:r>
          </a:p>
          <a:p>
            <a:pPr algn="l"/>
            <a:endParaRPr lang="en-US"/>
          </a:p>
        </p:txBody>
      </p:sp>
      <p:sp>
        <p:nvSpPr>
          <p:cNvPr id="13" name="Efecto geográfico"/>
          <p:cNvSpPr/>
          <p:nvPr/>
        </p:nvSpPr>
        <p:spPr>
          <a:xfrm>
            <a:off x="5074741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Efecto geográfico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Mapa de contexto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ontexto histórico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Contexto histórico</a:t>
            </a:r>
          </a:p>
          <a:p>
            <a:pPr algn="l"/>
            <a:endParaRPr lang="en-US"/>
          </a:p>
        </p:txBody>
      </p:sp>
      <p:sp>
        <p:nvSpPr>
          <p:cNvPr id="8" name="Causas a largo plazo"/>
          <p:cNvSpPr/>
          <p:nvPr/>
        </p:nvSpPr>
        <p:spPr>
          <a:xfrm>
            <a:off x="3373338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Causas a largo plazo</a:t>
            </a:r>
          </a:p>
          <a:p>
            <a:pPr algn="l"/>
            <a:endParaRPr lang="en-US"/>
          </a:p>
        </p:txBody>
      </p:sp>
      <p:sp>
        <p:nvSpPr>
          <p:cNvPr id="9" name="Causa inmediata"/>
          <p:cNvSpPr/>
          <p:nvPr/>
        </p:nvSpPr>
        <p:spPr>
          <a:xfrm>
            <a:off x="6757988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inmediata</a:t>
            </a:r>
          </a:p>
          <a:p>
            <a:pPr algn="l"/>
            <a:endParaRPr lang="en-US"/>
          </a:p>
        </p:txBody>
      </p:sp>
      <p:sp>
        <p:nvSpPr>
          <p:cNvPr id="10" name="Personas / grupos clave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Personas / grupos clave</a:t>
            </a:r>
          </a:p>
          <a:p>
            <a:pPr algn="l"/>
            <a:endParaRPr lang="en-US"/>
          </a:p>
        </p:txBody>
      </p:sp>
      <p:sp>
        <p:nvSpPr>
          <p:cNvPr id="11" name="¿Qué pasó?"/>
          <p:cNvSpPr/>
          <p:nvPr/>
        </p:nvSpPr>
        <p:spPr>
          <a:xfrm>
            <a:off x="6757988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pasó?</a:t>
            </a:r>
          </a:p>
          <a:p>
            <a:pPr algn="l"/>
            <a:endParaRPr lang="en-US"/>
          </a:p>
        </p:txBody>
      </p:sp>
      <p:sp>
        <p:nvSpPr>
          <p:cNvPr id="12" name="El evento"/>
          <p:cNvSpPr/>
          <p:nvPr/>
        </p:nvSpPr>
        <p:spPr>
          <a:xfrm>
            <a:off x="3373338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Resultado inmediato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 inmediato</a:t>
            </a:r>
          </a:p>
          <a:p>
            <a:pPr algn="l"/>
            <a:endParaRPr lang="en-US"/>
          </a:p>
        </p:txBody>
      </p:sp>
      <p:sp>
        <p:nvSpPr>
          <p:cNvPr id="14" name="Resultado a largo plazo"/>
          <p:cNvSpPr/>
          <p:nvPr/>
        </p:nvSpPr>
        <p:spPr>
          <a:xfrm>
            <a:off x="3373338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 a largo plazo</a:t>
            </a:r>
          </a:p>
          <a:p>
            <a:pPr algn="l"/>
            <a:endParaRPr lang="en-US"/>
          </a:p>
        </p:txBody>
      </p:sp>
      <p:sp>
        <p:nvSpPr>
          <p:cNvPr id="15" name="Importancia histórica"/>
          <p:cNvSpPr/>
          <p:nvPr/>
        </p:nvSpPr>
        <p:spPr>
          <a:xfrm>
            <a:off x="6757988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Importancia histórica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Clasificación de causas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ausa 1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1</a:t>
            </a:r>
          </a:p>
          <a:p>
            <a:pPr algn="l"/>
            <a:endParaRPr lang="en-US"/>
          </a:p>
        </p:txBody>
      </p:sp>
      <p:sp>
        <p:nvSpPr>
          <p:cNvPr id="8" name="Causa 2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2</a:t>
            </a:r>
          </a:p>
          <a:p>
            <a:pPr algn="l"/>
            <a:endParaRPr lang="en-US"/>
          </a:p>
        </p:txBody>
      </p:sp>
      <p:sp>
        <p:nvSpPr>
          <p:cNvPr id="9" name="Causa 3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3</a:t>
            </a:r>
          </a:p>
          <a:p>
            <a:pPr algn="l"/>
            <a:endParaRPr lang="en-US"/>
          </a:p>
        </p:txBody>
      </p:sp>
      <p:sp>
        <p:nvSpPr>
          <p:cNvPr id="10" name="Causa 4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4</a:t>
            </a:r>
          </a:p>
          <a:p>
            <a:pPr algn="l"/>
            <a:endParaRPr lang="en-US"/>
          </a:p>
        </p:txBody>
      </p:sp>
      <p:sp>
        <p:nvSpPr>
          <p:cNvPr id="11" name="Ordena las causas 1-4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Ordena las causas 1-4</a:t>
            </a:r>
          </a:p>
          <a:p>
            <a:pPr algn="l"/>
            <a:endParaRPr lang="en-US"/>
          </a:p>
        </p:txBody>
      </p:sp>
      <p:sp>
        <p:nvSpPr>
          <p:cNvPr id="12" name="Causa más importante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Causa más importante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Análisis de punto de inflexión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ntes"/>
          <p:cNvSpPr/>
          <p:nvPr/>
        </p:nvSpPr>
        <p:spPr>
          <a:xfrm>
            <a:off x="420886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Antes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520380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l"/>
            <a:endParaRPr lang="en-US"/>
          </a:p>
        </p:txBody>
      </p:sp>
      <p:sp>
        <p:nvSpPr>
          <p:cNvPr id="9" name="Cambio inmediato"/>
          <p:cNvSpPr/>
          <p:nvPr/>
        </p:nvSpPr>
        <p:spPr>
          <a:xfrm>
            <a:off x="6620024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Cambio inmediato</a:t>
            </a:r>
          </a:p>
          <a:p>
            <a:pPr algn="l"/>
            <a:endParaRPr lang="en-US"/>
          </a:p>
        </p:txBody>
      </p:sp>
      <p:sp>
        <p:nvSpPr>
          <p:cNvPr id="10" name="Cambio a largo plazo"/>
          <p:cNvSpPr/>
          <p:nvPr/>
        </p:nvSpPr>
        <p:spPr>
          <a:xfrm>
            <a:off x="420886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Cambio a largo plazo</a:t>
            </a:r>
          </a:p>
          <a:p>
            <a:pPr algn="l"/>
            <a:endParaRPr lang="en-US"/>
          </a:p>
        </p:txBody>
      </p:sp>
      <p:sp>
        <p:nvSpPr>
          <p:cNvPr id="11" name="¿Qué continuó?"/>
          <p:cNvSpPr/>
          <p:nvPr/>
        </p:nvSpPr>
        <p:spPr>
          <a:xfrm>
            <a:off x="3520380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continuó?</a:t>
            </a:r>
          </a:p>
          <a:p>
            <a:pPr algn="l"/>
            <a:endParaRPr lang="en-US"/>
          </a:p>
        </p:txBody>
      </p:sp>
      <p:sp>
        <p:nvSpPr>
          <p:cNvPr id="12" name="¿Fue realmente un punto de inflexión?"/>
          <p:cNvSpPr/>
          <p:nvPr/>
        </p:nvSpPr>
        <p:spPr>
          <a:xfrm>
            <a:off x="6620024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¿Fue realmente un punto de inflexión?</a:t>
            </a:r>
          </a:p>
          <a:p>
            <a:pPr algn="l"/>
            <a:endParaRPr lang="en-US"/>
          </a:p>
        </p:txBody>
      </p:sp>
      <p:sp>
        <p:nvSpPr>
          <p:cNvPr id="13" name="Evidencia"/>
          <p:cNvSpPr/>
          <p:nvPr/>
        </p:nvSpPr>
        <p:spPr>
          <a:xfrm>
            <a:off x="420886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Evidencia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Perspectivas y evidencia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erspectiva 1"/>
          <p:cNvSpPr/>
          <p:nvPr/>
        </p:nvSpPr>
        <p:spPr>
          <a:xfrm>
            <a:off x="420886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Perspectiva 1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733354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9" name="Perspectiva 2"/>
          <p:cNvSpPr/>
          <p:nvPr/>
        </p:nvSpPr>
        <p:spPr>
          <a:xfrm>
            <a:off x="6397972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Perspectiva 2</a:t>
            </a:r>
          </a:p>
          <a:p>
            <a:pPr algn="l"/>
            <a:endParaRPr lang="en-US"/>
          </a:p>
        </p:txBody>
      </p:sp>
      <p:sp>
        <p:nvSpPr>
          <p:cNvPr id="10" name="Perspectiva 3"/>
          <p:cNvSpPr/>
          <p:nvPr/>
        </p:nvSpPr>
        <p:spPr>
          <a:xfrm>
            <a:off x="420886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Perspectiva 3</a:t>
            </a:r>
          </a:p>
          <a:p>
            <a:pPr algn="l"/>
            <a:endParaRPr lang="en-US"/>
          </a:p>
        </p:txBody>
      </p:sp>
      <p:sp>
        <p:nvSpPr>
          <p:cNvPr id="11" name="Perspectiva 4"/>
          <p:cNvSpPr/>
          <p:nvPr/>
        </p:nvSpPr>
        <p:spPr>
          <a:xfrm>
            <a:off x="6397972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Perspectiva 4</a:t>
            </a:r>
          </a:p>
          <a:p>
            <a:pPr algn="l"/>
            <a:endParaRPr lang="en-US"/>
          </a:p>
        </p:txBody>
      </p:sp>
      <p:sp>
        <p:nvSpPr>
          <p:cNvPr id="12" name="Evidencia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Evidencia</a:t>
            </a:r>
          </a:p>
          <a:p>
            <a:pPr algn="l"/>
            <a:endParaRPr lang="en-US"/>
          </a:p>
        </p:txBody>
      </p:sp>
      <p:sp>
        <p:nvSpPr>
          <p:cNvPr id="13" name="¿En qué coincidieron?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¿En qué coincidieron?</a:t>
            </a:r>
          </a:p>
          <a:p>
            <a:pPr algn="l"/>
            <a:endParaRPr lang="en-US"/>
          </a:p>
        </p:txBody>
      </p:sp>
      <p:sp>
        <p:nvSpPr>
          <p:cNvPr id="14" name="¿En qué discreparon?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¿En qué discreparon?</a:t>
            </a:r>
          </a:p>
          <a:p>
            <a:pPr algn="l"/>
            <a:endParaRPr lang="en-US"/>
          </a:p>
        </p:txBody>
      </p:sp>
      <p:sp>
        <p:nvSpPr>
          <p:cNvPr id="15" name="¿Qué voz falta?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voz falta?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Cuadrantes de impacto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olítico"/>
          <p:cNvSpPr/>
          <p:nvPr/>
        </p:nvSpPr>
        <p:spPr>
          <a:xfrm>
            <a:off x="42088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Político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853309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9" name="Económico"/>
          <p:cNvSpPr/>
          <p:nvPr/>
        </p:nvSpPr>
        <p:spPr>
          <a:xfrm>
            <a:off x="6278017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Económico</a:t>
            </a:r>
          </a:p>
          <a:p>
            <a:pPr algn="l"/>
            <a:endParaRPr lang="en-US"/>
          </a:p>
        </p:txBody>
      </p:sp>
      <p:sp>
        <p:nvSpPr>
          <p:cNvPr id="10" name="Social / Cultural"/>
          <p:cNvSpPr/>
          <p:nvPr/>
        </p:nvSpPr>
        <p:spPr>
          <a:xfrm>
            <a:off x="42088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Social / Cultural</a:t>
            </a:r>
          </a:p>
          <a:p>
            <a:pPr algn="l"/>
            <a:endParaRPr lang="en-US"/>
          </a:p>
        </p:txBody>
      </p:sp>
      <p:sp>
        <p:nvSpPr>
          <p:cNvPr id="11" name="Geográfico / Ambiental"/>
          <p:cNvSpPr/>
          <p:nvPr/>
        </p:nvSpPr>
        <p:spPr>
          <a:xfrm>
            <a:off x="6278017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Geográfico / Ambiental</a:t>
            </a:r>
          </a:p>
          <a:p>
            <a:pPr algn="l"/>
            <a:endParaRPr lang="en-US"/>
          </a:p>
        </p:txBody>
      </p:sp>
      <p:sp>
        <p:nvSpPr>
          <p:cNvPr id="12" name="Inmediato"/>
          <p:cNvSpPr/>
          <p:nvPr/>
        </p:nvSpPr>
        <p:spPr>
          <a:xfrm>
            <a:off x="42088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Inmediato</a:t>
            </a:r>
          </a:p>
          <a:p>
            <a:pPr algn="l"/>
            <a:endParaRPr lang="en-US"/>
          </a:p>
        </p:txBody>
      </p:sp>
      <p:sp>
        <p:nvSpPr>
          <p:cNvPr id="13" name="A largo plazo"/>
          <p:cNvSpPr/>
          <p:nvPr/>
        </p:nvSpPr>
        <p:spPr>
          <a:xfrm>
            <a:off x="352350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 largo plazo</a:t>
            </a:r>
          </a:p>
          <a:p>
            <a:pPr algn="l"/>
            <a:endParaRPr lang="en-US"/>
          </a:p>
        </p:txBody>
      </p:sp>
      <p:sp>
        <p:nvSpPr>
          <p:cNvPr id="14" name="¿Qué impacto fue más significativo?"/>
          <p:cNvSpPr/>
          <p:nvPr/>
        </p:nvSpPr>
        <p:spPr>
          <a:xfrm>
            <a:off x="662612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impacto fue más significativo?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Continuidad y cambio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ntes"/>
          <p:cNvSpPr/>
          <p:nvPr/>
        </p:nvSpPr>
        <p:spPr>
          <a:xfrm>
            <a:off x="420886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Antes</a:t>
            </a:r>
          </a:p>
          <a:p>
            <a:pPr algn="l"/>
            <a:endParaRPr lang="en-US"/>
          </a:p>
        </p:txBody>
      </p:sp>
      <p:sp>
        <p:nvSpPr>
          <p:cNvPr id="8" name="Durante"/>
          <p:cNvSpPr/>
          <p:nvPr/>
        </p:nvSpPr>
        <p:spPr>
          <a:xfrm>
            <a:off x="3520380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Durante</a:t>
            </a:r>
          </a:p>
          <a:p>
            <a:pPr algn="l"/>
            <a:endParaRPr lang="en-US"/>
          </a:p>
        </p:txBody>
      </p:sp>
      <p:sp>
        <p:nvSpPr>
          <p:cNvPr id="9" name="Después"/>
          <p:cNvSpPr/>
          <p:nvPr/>
        </p:nvSpPr>
        <p:spPr>
          <a:xfrm>
            <a:off x="6620024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Después</a:t>
            </a:r>
          </a:p>
          <a:p>
            <a:pPr algn="l"/>
            <a:endParaRPr lang="en-US"/>
          </a:p>
        </p:txBody>
      </p:sp>
      <p:sp>
        <p:nvSpPr>
          <p:cNvPr id="10" name="Cambió mucho"/>
          <p:cNvSpPr/>
          <p:nvPr/>
        </p:nvSpPr>
        <p:spPr>
          <a:xfrm>
            <a:off x="420886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Cambió mucho</a:t>
            </a:r>
          </a:p>
          <a:p>
            <a:pPr algn="l"/>
            <a:endParaRPr lang="en-US"/>
          </a:p>
        </p:txBody>
      </p:sp>
      <p:sp>
        <p:nvSpPr>
          <p:cNvPr id="11" name="Cambió gradualmente"/>
          <p:cNvSpPr/>
          <p:nvPr/>
        </p:nvSpPr>
        <p:spPr>
          <a:xfrm>
            <a:off x="3520380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Cambió gradualmente</a:t>
            </a:r>
          </a:p>
          <a:p>
            <a:pPr algn="l"/>
            <a:endParaRPr lang="en-US"/>
          </a:p>
        </p:txBody>
      </p:sp>
      <p:sp>
        <p:nvSpPr>
          <p:cNvPr id="12" name="¿Qué permaneció igual?"/>
          <p:cNvSpPr/>
          <p:nvPr/>
        </p:nvSpPr>
        <p:spPr>
          <a:xfrm>
            <a:off x="6620024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permaneció igual?</a:t>
            </a:r>
          </a:p>
          <a:p>
            <a:pPr algn="l"/>
            <a:endParaRPr lang="en-US"/>
          </a:p>
        </p:txBody>
      </p:sp>
      <p:sp>
        <p:nvSpPr>
          <p:cNvPr id="13" name="¿Por qué?"/>
          <p:cNvSpPr/>
          <p:nvPr/>
        </p:nvSpPr>
        <p:spPr>
          <a:xfrm>
            <a:off x="420886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qué?</a:t>
            </a:r>
          </a:p>
          <a:p>
            <a:pPr algn="l"/>
            <a:endParaRPr lang="en-US"/>
          </a:p>
        </p:txBody>
      </p:sp>
      <p:sp>
        <p:nvSpPr>
          <p:cNvPr id="14" name="Tu juicio"/>
          <p:cNvSpPr/>
          <p:nvPr/>
        </p:nvSpPr>
        <p:spPr>
          <a:xfrm>
            <a:off x="5074741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Tu juicio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Expediente de evidencia histórica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regunta histórica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Pregunta histórica</a:t>
            </a:r>
          </a:p>
          <a:p>
            <a:pPr algn="l"/>
            <a:endParaRPr lang="en-US"/>
          </a:p>
        </p:txBody>
      </p:sp>
      <p:sp>
        <p:nvSpPr>
          <p:cNvPr id="8" name="Fuente 1"/>
          <p:cNvSpPr/>
          <p:nvPr/>
        </p:nvSpPr>
        <p:spPr>
          <a:xfrm>
            <a:off x="420886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Fuente 1</a:t>
            </a:r>
          </a:p>
          <a:p>
            <a:pPr algn="l"/>
            <a:endParaRPr lang="en-US"/>
          </a:p>
        </p:txBody>
      </p:sp>
      <p:sp>
        <p:nvSpPr>
          <p:cNvPr id="9" name="Evidencia de la fuente 1"/>
          <p:cNvSpPr/>
          <p:nvPr/>
        </p:nvSpPr>
        <p:spPr>
          <a:xfrm>
            <a:off x="420886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Evidencia de la fuente 1</a:t>
            </a:r>
          </a:p>
          <a:p>
            <a:pPr algn="l"/>
            <a:endParaRPr lang="en-US"/>
          </a:p>
        </p:txBody>
      </p:sp>
      <p:sp>
        <p:nvSpPr>
          <p:cNvPr id="10" name="Confiabilidad / Limitación"/>
          <p:cNvSpPr/>
          <p:nvPr/>
        </p:nvSpPr>
        <p:spPr>
          <a:xfrm>
            <a:off x="420886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Confiabilidad / Limitación</a:t>
            </a:r>
          </a:p>
          <a:p>
            <a:pPr algn="l"/>
            <a:endParaRPr lang="en-US"/>
          </a:p>
        </p:txBody>
      </p:sp>
      <p:sp>
        <p:nvSpPr>
          <p:cNvPr id="11" name="Fuente 2"/>
          <p:cNvSpPr/>
          <p:nvPr/>
        </p:nvSpPr>
        <p:spPr>
          <a:xfrm>
            <a:off x="3517404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Fuente 2</a:t>
            </a:r>
          </a:p>
          <a:p>
            <a:pPr algn="l"/>
            <a:endParaRPr lang="en-US"/>
          </a:p>
        </p:txBody>
      </p:sp>
      <p:sp>
        <p:nvSpPr>
          <p:cNvPr id="12" name="Evidencia de la fuente 2"/>
          <p:cNvSpPr/>
          <p:nvPr/>
        </p:nvSpPr>
        <p:spPr>
          <a:xfrm>
            <a:off x="3517404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Evidencia de la fuente 2</a:t>
            </a:r>
          </a:p>
          <a:p>
            <a:pPr algn="l"/>
            <a:endParaRPr lang="en-US"/>
          </a:p>
        </p:txBody>
      </p:sp>
      <p:sp>
        <p:nvSpPr>
          <p:cNvPr id="13" name="Confiabilidad / Limitación"/>
          <p:cNvSpPr/>
          <p:nvPr/>
        </p:nvSpPr>
        <p:spPr>
          <a:xfrm>
            <a:off x="3517404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Confiabilidad / Limitación</a:t>
            </a:r>
          </a:p>
          <a:p>
            <a:pPr algn="l"/>
            <a:endParaRPr lang="en-US"/>
          </a:p>
        </p:txBody>
      </p:sp>
      <p:sp>
        <p:nvSpPr>
          <p:cNvPr id="14" name="Fuente 3"/>
          <p:cNvSpPr/>
          <p:nvPr/>
        </p:nvSpPr>
        <p:spPr>
          <a:xfrm>
            <a:off x="6613922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Fuente 3</a:t>
            </a:r>
          </a:p>
          <a:p>
            <a:pPr algn="l"/>
            <a:endParaRPr lang="en-US"/>
          </a:p>
        </p:txBody>
      </p:sp>
      <p:sp>
        <p:nvSpPr>
          <p:cNvPr id="15" name="Evidencia de la fuente 3"/>
          <p:cNvSpPr/>
          <p:nvPr/>
        </p:nvSpPr>
        <p:spPr>
          <a:xfrm>
            <a:off x="6613922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Evidencia de la fuente 3</a:t>
            </a:r>
          </a:p>
          <a:p>
            <a:pPr algn="l"/>
            <a:endParaRPr lang="en-US"/>
          </a:p>
        </p:txBody>
      </p:sp>
      <p:sp>
        <p:nvSpPr>
          <p:cNvPr id="16" name="Confiabilidad / Limitación"/>
          <p:cNvSpPr/>
          <p:nvPr/>
        </p:nvSpPr>
        <p:spPr>
          <a:xfrm>
            <a:off x="6613922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Confiabilidad / Limitación</a:t>
            </a:r>
          </a:p>
          <a:p>
            <a:pPr algn="l"/>
            <a:endParaRPr lang="en-US"/>
          </a:p>
        </p:txBody>
      </p:sp>
      <p:sp>
        <p:nvSpPr>
          <p:cNvPr id="17" name="Evidencia contradictoria / faltante"/>
          <p:cNvSpPr/>
          <p:nvPr/>
        </p:nvSpPr>
        <p:spPr>
          <a:xfrm>
            <a:off x="420886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Evidencia contradictoria / faltante</a:t>
            </a:r>
          </a:p>
          <a:p>
            <a:pPr algn="l"/>
            <a:endParaRPr lang="en-US"/>
          </a:p>
        </p:txBody>
      </p:sp>
      <p:sp>
        <p:nvSpPr>
          <p:cNvPr id="18" name="Conclusión provisional"/>
          <p:cNvSpPr/>
          <p:nvPr/>
        </p:nvSpPr>
        <p:spPr>
          <a:xfrm>
            <a:off x="3517404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Conclusión provisional</a:t>
            </a:r>
          </a:p>
          <a:p>
            <a:pPr algn="l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Comparar dos eventos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Evento A"/>
          <p:cNvSpPr/>
          <p:nvPr/>
        </p:nvSpPr>
        <p:spPr>
          <a:xfrm>
            <a:off x="420886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Evento A</a:t>
            </a:r>
          </a:p>
          <a:p>
            <a:pPr algn="l"/>
            <a:endParaRPr lang="en-US"/>
          </a:p>
        </p:txBody>
      </p:sp>
      <p:sp>
        <p:nvSpPr>
          <p:cNvPr id="8" name="Evento B"/>
          <p:cNvSpPr/>
          <p:nvPr/>
        </p:nvSpPr>
        <p:spPr>
          <a:xfrm>
            <a:off x="6397972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Evento B</a:t>
            </a:r>
          </a:p>
          <a:p>
            <a:pPr algn="l"/>
            <a:endParaRPr lang="en-US"/>
          </a:p>
        </p:txBody>
      </p:sp>
      <p:sp>
        <p:nvSpPr>
          <p:cNvPr id="9" name="¿Qué lo causó?"/>
          <p:cNvSpPr/>
          <p:nvPr/>
        </p:nvSpPr>
        <p:spPr>
          <a:xfrm>
            <a:off x="420886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¿Qué lo causó?</a:t>
            </a:r>
          </a:p>
          <a:p>
            <a:pPr algn="l"/>
            <a:endParaRPr lang="en-US"/>
          </a:p>
        </p:txBody>
      </p:sp>
      <p:sp>
        <p:nvSpPr>
          <p:cNvPr id="10" name="Personas / grupos clave"/>
          <p:cNvSpPr/>
          <p:nvPr/>
        </p:nvSpPr>
        <p:spPr>
          <a:xfrm>
            <a:off x="420886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Personas / grupos clave</a:t>
            </a:r>
          </a:p>
          <a:p>
            <a:pPr algn="l"/>
            <a:endParaRPr lang="en-US"/>
          </a:p>
        </p:txBody>
      </p:sp>
      <p:sp>
        <p:nvSpPr>
          <p:cNvPr id="11" name="Similitudes"/>
          <p:cNvSpPr/>
          <p:nvPr/>
        </p:nvSpPr>
        <p:spPr>
          <a:xfrm>
            <a:off x="3733354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Similitudes</a:t>
            </a:r>
          </a:p>
          <a:p>
            <a:pPr algn="l"/>
            <a:endParaRPr lang="en-US"/>
          </a:p>
        </p:txBody>
      </p:sp>
      <p:sp>
        <p:nvSpPr>
          <p:cNvPr id="12" name="Diferencias"/>
          <p:cNvSpPr/>
          <p:nvPr/>
        </p:nvSpPr>
        <p:spPr>
          <a:xfrm>
            <a:off x="3733354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Diferencias</a:t>
            </a:r>
          </a:p>
          <a:p>
            <a:pPr algn="l"/>
            <a:endParaRPr lang="en-US"/>
          </a:p>
        </p:txBody>
      </p:sp>
      <p:sp>
        <p:nvSpPr>
          <p:cNvPr id="13" name="¿Qué lo causó?"/>
          <p:cNvSpPr/>
          <p:nvPr/>
        </p:nvSpPr>
        <p:spPr>
          <a:xfrm>
            <a:off x="6397972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¿Qué lo causó?</a:t>
            </a:r>
          </a:p>
          <a:p>
            <a:pPr algn="l"/>
            <a:endParaRPr lang="en-US"/>
          </a:p>
        </p:txBody>
      </p:sp>
      <p:sp>
        <p:nvSpPr>
          <p:cNvPr id="14" name="Personas / grupos clave"/>
          <p:cNvSpPr/>
          <p:nvPr/>
        </p:nvSpPr>
        <p:spPr>
          <a:xfrm>
            <a:off x="6397972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Personas / grupos clave</a:t>
            </a:r>
          </a:p>
          <a:p>
            <a:pPr algn="l"/>
            <a:endParaRPr lang="en-US"/>
          </a:p>
        </p:txBody>
      </p:sp>
      <p:sp>
        <p:nvSpPr>
          <p:cNvPr id="15" name="Resultados"/>
          <p:cNvSpPr/>
          <p:nvPr/>
        </p:nvSpPr>
        <p:spPr>
          <a:xfrm>
            <a:off x="420886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Resultados</a:t>
            </a:r>
          </a:p>
          <a:p>
            <a:pPr algn="l"/>
            <a:endParaRPr lang="en-US"/>
          </a:p>
        </p:txBody>
      </p:sp>
      <p:sp>
        <p:nvSpPr>
          <p:cNvPr id="16" name="Importancia histórica"/>
          <p:cNvSpPr/>
          <p:nvPr/>
        </p:nvSpPr>
        <p:spPr>
          <a:xfrm>
            <a:off x="420886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Importancia histórica</a:t>
            </a:r>
          </a:p>
          <a:p>
            <a:pPr algn="l"/>
            <a:endParaRPr lang="en-US"/>
          </a:p>
        </p:txBody>
      </p:sp>
      <p:sp>
        <p:nvSpPr>
          <p:cNvPr id="17" name="¿Qué comparación importa más?"/>
          <p:cNvSpPr/>
          <p:nvPr/>
        </p:nvSpPr>
        <p:spPr>
          <a:xfrm>
            <a:off x="3733354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¿Qué comparación importa más?</a:t>
            </a:r>
          </a:p>
          <a:p>
            <a:pPr algn="l"/>
            <a:endParaRPr lang="en-US"/>
          </a:p>
        </p:txBody>
      </p:sp>
      <p:sp>
        <p:nvSpPr>
          <p:cNvPr id="18" name="Resultados"/>
          <p:cNvSpPr/>
          <p:nvPr/>
        </p:nvSpPr>
        <p:spPr>
          <a:xfrm>
            <a:off x="6397972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Resultados</a:t>
            </a:r>
          </a:p>
          <a:p>
            <a:pPr algn="l"/>
            <a:endParaRPr lang="en-US"/>
          </a:p>
        </p:txBody>
      </p:sp>
      <p:sp>
        <p:nvSpPr>
          <p:cNvPr id="19" name="Importancia histórica"/>
          <p:cNvSpPr/>
          <p:nvPr/>
        </p:nvSpPr>
        <p:spPr>
          <a:xfrm>
            <a:off x="6397972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Importancia histórica</a:t>
            </a:r>
          </a:p>
          <a:p>
            <a:pPr algn="l"/>
            <a:endParaRPr lang="en-US"/>
          </a:p>
        </p:txBody>
      </p:sp>
      <p:sp>
        <p:nvSpPr>
          <p:cNvPr id="20" name="Evidencia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Evidencia</a:t>
            </a:r>
          </a:p>
          <a:p>
            <a:pPr algn="l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24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Mapas de Eventos Históricos</dc:title>
  <dc:creator>TCEA / Miguel Guhlin</dc:creator>
  <cp:lastModifiedBy>TCEA</cp:lastModifiedBy>
</cp:coreProperties>
</file>