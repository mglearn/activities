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0058400" cy="7772400"/>
  <p:notesSz cx="7772400" cy="100584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Event Snapshot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What caused it?"/>
          <p:cNvSpPr/>
          <p:nvPr/>
        </p:nvSpPr>
        <p:spPr>
          <a:xfrm>
            <a:off x="420886" y="1133921"/>
            <a:ext cx="287937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What caused it?</a:t>
            </a:r>
          </a:p>
          <a:p>
            <a:pPr algn="l"/>
            <a:endParaRPr lang="en-US"/>
          </a:p>
        </p:txBody>
      </p:sp>
      <p:sp>
        <p:nvSpPr>
          <p:cNvPr id="8" name="Why was it important?"/>
          <p:cNvSpPr/>
          <p:nvPr/>
        </p:nvSpPr>
        <p:spPr>
          <a:xfrm>
            <a:off x="3373338" y="1133921"/>
            <a:ext cx="3311575" cy="205055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Why was it important?</a:t>
            </a:r>
          </a:p>
          <a:p>
            <a:pPr algn="l"/>
            <a:endParaRPr lang="en-US"/>
          </a:p>
        </p:txBody>
      </p:sp>
      <p:sp>
        <p:nvSpPr>
          <p:cNvPr id="9" name="What happened in the end?"/>
          <p:cNvSpPr/>
          <p:nvPr/>
        </p:nvSpPr>
        <p:spPr>
          <a:xfrm>
            <a:off x="6757988" y="1133921"/>
            <a:ext cx="287937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What happened in the end?</a:t>
            </a:r>
          </a:p>
          <a:p>
            <a:pPr algn="l"/>
            <a:endParaRPr lang="en-US"/>
          </a:p>
        </p:txBody>
      </p:sp>
      <p:sp>
        <p:nvSpPr>
          <p:cNvPr id="10" name="How did it happen?"/>
          <p:cNvSpPr/>
          <p:nvPr/>
        </p:nvSpPr>
        <p:spPr>
          <a:xfrm>
            <a:off x="420886" y="3257550"/>
            <a:ext cx="2879378" cy="14763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How did it happen?</a:t>
            </a:r>
          </a:p>
          <a:p>
            <a:pPr algn="l"/>
            <a:endParaRPr lang="en-US"/>
          </a:p>
        </p:txBody>
      </p:sp>
      <p:sp>
        <p:nvSpPr>
          <p:cNvPr id="11" name="The Event"/>
          <p:cNvSpPr/>
          <p:nvPr/>
        </p:nvSpPr>
        <p:spPr>
          <a:xfrm>
            <a:off x="3373338" y="3257550"/>
            <a:ext cx="3311575" cy="1476375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The Event</a:t>
            </a:r>
          </a:p>
        </p:txBody>
      </p:sp>
      <p:sp>
        <p:nvSpPr>
          <p:cNvPr id="12" name="When did it happen?"/>
          <p:cNvSpPr/>
          <p:nvPr/>
        </p:nvSpPr>
        <p:spPr>
          <a:xfrm>
            <a:off x="6757988" y="3257550"/>
            <a:ext cx="2879378" cy="14763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When did it happen?</a:t>
            </a:r>
          </a:p>
          <a:p>
            <a:pPr algn="l"/>
            <a:endParaRPr lang="en-US"/>
          </a:p>
        </p:txBody>
      </p:sp>
      <p:sp>
        <p:nvSpPr>
          <p:cNvPr id="13" name="Who was involved?"/>
          <p:cNvSpPr/>
          <p:nvPr/>
        </p:nvSpPr>
        <p:spPr>
          <a:xfrm>
            <a:off x="420886" y="4807000"/>
            <a:ext cx="2879378" cy="205070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Who was involved?</a:t>
            </a:r>
          </a:p>
          <a:p>
            <a:pPr algn="l"/>
            <a:endParaRPr lang="en-US"/>
          </a:p>
        </p:txBody>
      </p:sp>
      <p:sp>
        <p:nvSpPr>
          <p:cNvPr id="14" name="Where did it happen?"/>
          <p:cNvSpPr/>
          <p:nvPr/>
        </p:nvSpPr>
        <p:spPr>
          <a:xfrm>
            <a:off x="3373338" y="4807000"/>
            <a:ext cx="3311575" cy="205070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Where did it happen?</a:t>
            </a:r>
          </a:p>
          <a:p>
            <a:pPr algn="l"/>
            <a:endParaRPr lang="en-US"/>
          </a:p>
        </p:txBody>
      </p:sp>
      <p:sp>
        <p:nvSpPr>
          <p:cNvPr id="15" name="What can you conclude?"/>
          <p:cNvSpPr/>
          <p:nvPr/>
        </p:nvSpPr>
        <p:spPr>
          <a:xfrm>
            <a:off x="6757988" y="4807000"/>
            <a:ext cx="2879378" cy="205070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What can you conclude?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3-5: chronology, cause/effect, sources, point of view, maps, graphic organizers, claims and evidence.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Cause → Event → Effect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Why was it important?"/>
          <p:cNvSpPr/>
          <p:nvPr/>
        </p:nvSpPr>
        <p:spPr>
          <a:xfrm>
            <a:off x="3379887" y="1133921"/>
            <a:ext cx="3298478" cy="68148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Why was it important?</a:t>
            </a:r>
          </a:p>
          <a:p>
            <a:pPr algn="l"/>
            <a:endParaRPr lang="en-US"/>
          </a:p>
        </p:txBody>
      </p:sp>
      <p:sp>
        <p:nvSpPr>
          <p:cNvPr id="8" name="What caused it?"/>
          <p:cNvSpPr/>
          <p:nvPr/>
        </p:nvSpPr>
        <p:spPr>
          <a:xfrm>
            <a:off x="420886" y="2849761"/>
            <a:ext cx="2885926" cy="1469975"/>
          </a:xfrm>
          <a:prstGeom prst="ellipse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What caused it?</a:t>
            </a:r>
          </a:p>
        </p:txBody>
      </p:sp>
      <p:sp>
        <p:nvSpPr>
          <p:cNvPr id="9" name="The Event"/>
          <p:cNvSpPr/>
          <p:nvPr/>
        </p:nvSpPr>
        <p:spPr>
          <a:xfrm>
            <a:off x="3379887" y="2849761"/>
            <a:ext cx="3298478" cy="1469975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The Event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0" name="Immediate Effects"/>
          <p:cNvSpPr/>
          <p:nvPr/>
        </p:nvSpPr>
        <p:spPr>
          <a:xfrm>
            <a:off x="6751439" y="2849761"/>
            <a:ext cx="2885926" cy="1469975"/>
          </a:xfrm>
          <a:prstGeom prst="ellipse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Immediate Effects</a:t>
            </a:r>
          </a:p>
        </p:txBody>
      </p:sp>
      <p:sp>
        <p:nvSpPr>
          <p:cNvPr id="11" name="Who was involved?"/>
          <p:cNvSpPr/>
          <p:nvPr/>
        </p:nvSpPr>
        <p:spPr>
          <a:xfrm>
            <a:off x="420886" y="439281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Who was involved?</a:t>
            </a:r>
          </a:p>
          <a:p>
            <a:pPr algn="l"/>
            <a:endParaRPr lang="en-US"/>
          </a:p>
        </p:txBody>
      </p:sp>
      <p:sp>
        <p:nvSpPr>
          <p:cNvPr id="12" name="Later / Long-Term Effects"/>
          <p:cNvSpPr/>
          <p:nvPr/>
        </p:nvSpPr>
        <p:spPr>
          <a:xfrm>
            <a:off x="6751439" y="439281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Later / Long-Term Effects</a:t>
            </a:r>
          </a:p>
          <a:p>
            <a:pPr algn="l"/>
            <a:endParaRPr lang="en-US"/>
          </a:p>
        </p:txBody>
      </p:sp>
      <p:sp>
        <p:nvSpPr>
          <p:cNvPr id="13" name="What can you conclude?"/>
          <p:cNvSpPr/>
          <p:nvPr/>
        </p:nvSpPr>
        <p:spPr>
          <a:xfrm>
            <a:off x="3379887" y="6195120"/>
            <a:ext cx="3298478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What can you conclude?</a:t>
            </a:r>
          </a:p>
          <a:p>
            <a:pPr algn="l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3-5: chronology, cause/effect, sources, point of view, maps, graphic organizers, claims and evidence.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Event Sequence Trail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Sequence (Order of Events)"/>
          <p:cNvSpPr/>
          <p:nvPr/>
        </p:nvSpPr>
        <p:spPr>
          <a:xfrm>
            <a:off x="420886" y="4469755"/>
            <a:ext cx="9216628" cy="2387947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Sequence (Order of Events)</a:t>
            </a:r>
          </a:p>
          <a:p>
            <a:pPr algn="ctr"/>
            <a:endParaRPr lang="en-US"/>
          </a:p>
        </p:txBody>
      </p:sp>
      <p:sp>
        <p:nvSpPr>
          <p:cNvPr id="8" name="Where did it happen?"/>
          <p:cNvSpPr/>
          <p:nvPr/>
        </p:nvSpPr>
        <p:spPr>
          <a:xfrm>
            <a:off x="420886" y="1133921"/>
            <a:ext cx="2885926" cy="68148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Where did it happen?</a:t>
            </a:r>
          </a:p>
          <a:p>
            <a:pPr algn="l"/>
            <a:endParaRPr lang="en-US"/>
          </a:p>
        </p:txBody>
      </p:sp>
      <p:sp>
        <p:nvSpPr>
          <p:cNvPr id="9" name="The Event"/>
          <p:cNvSpPr/>
          <p:nvPr/>
        </p:nvSpPr>
        <p:spPr>
          <a:xfrm>
            <a:off x="3379887" y="1133921"/>
            <a:ext cx="3298478" cy="2076599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The Event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0" name="When did it happen?"/>
          <p:cNvSpPr/>
          <p:nvPr/>
        </p:nvSpPr>
        <p:spPr>
          <a:xfrm>
            <a:off x="6751439" y="113392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When did it happen?</a:t>
            </a:r>
          </a:p>
          <a:p>
            <a:pPr algn="l"/>
            <a:endParaRPr lang="en-US"/>
          </a:p>
        </p:txBody>
      </p:sp>
      <p:sp>
        <p:nvSpPr>
          <p:cNvPr id="11" name="Beginning"/>
          <p:cNvSpPr/>
          <p:nvPr/>
        </p:nvSpPr>
        <p:spPr>
          <a:xfrm>
            <a:off x="420886" y="226427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Beginning</a:t>
            </a:r>
          </a:p>
          <a:p>
            <a:pPr algn="l"/>
            <a:endParaRPr lang="en-US"/>
          </a:p>
        </p:txBody>
      </p:sp>
      <p:sp>
        <p:nvSpPr>
          <p:cNvPr id="12" name="Who was involved?"/>
          <p:cNvSpPr/>
          <p:nvPr/>
        </p:nvSpPr>
        <p:spPr>
          <a:xfrm>
            <a:off x="6751439" y="226427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Who was involved?</a:t>
            </a:r>
          </a:p>
          <a:p>
            <a:pPr algn="l"/>
            <a:endParaRPr lang="en-US"/>
          </a:p>
        </p:txBody>
      </p:sp>
      <p:sp>
        <p:nvSpPr>
          <p:cNvPr id="13" name="Ending"/>
          <p:cNvSpPr/>
          <p:nvPr/>
        </p:nvSpPr>
        <p:spPr>
          <a:xfrm>
            <a:off x="420886" y="3283595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Ending</a:t>
            </a:r>
          </a:p>
          <a:p>
            <a:pPr algn="l"/>
            <a:endParaRPr lang="en-US"/>
          </a:p>
        </p:txBody>
      </p:sp>
      <p:sp>
        <p:nvSpPr>
          <p:cNvPr id="14" name="Why was it important?"/>
          <p:cNvSpPr/>
          <p:nvPr/>
        </p:nvSpPr>
        <p:spPr>
          <a:xfrm>
            <a:off x="3379887" y="3283595"/>
            <a:ext cx="3298478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Why was it important?</a:t>
            </a:r>
          </a:p>
          <a:p>
            <a:pPr algn="l"/>
            <a:endParaRPr lang="en-US"/>
          </a:p>
        </p:txBody>
      </p:sp>
      <p:sp>
        <p:nvSpPr>
          <p:cNvPr id="15" name="label"/>
          <p:cNvSpPr txBox="1"/>
          <p:nvPr/>
        </p:nvSpPr>
        <p:spPr>
          <a:xfrm>
            <a:off x="549473" y="4723209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1.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549473" y="4897041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2.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549473" y="5070723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3.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549473" y="5244405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4.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549473" y="5418237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5.</a:t>
            </a:r>
          </a:p>
        </p:txBody>
      </p:sp>
      <p:cxnSp>
        <p:nvCxnSpPr>
          <p:cNvPr id="20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1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22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3-5: chronology, cause/effect, sources, point of view, maps, graphic organizers, claims and evidence.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People and Groups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Important Leader"/>
          <p:cNvSpPr/>
          <p:nvPr/>
        </p:nvSpPr>
        <p:spPr>
          <a:xfrm>
            <a:off x="420886" y="1133921"/>
            <a:ext cx="3415010" cy="2768352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Important Leader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8" name="Why was this person important?"/>
          <p:cNvSpPr/>
          <p:nvPr/>
        </p:nvSpPr>
        <p:spPr>
          <a:xfrm>
            <a:off x="420886" y="3975348"/>
            <a:ext cx="3415010" cy="28823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Why was this person important?</a:t>
            </a:r>
          </a:p>
          <a:p>
            <a:pPr algn="l"/>
            <a:endParaRPr lang="en-US"/>
          </a:p>
        </p:txBody>
      </p:sp>
      <p:sp>
        <p:nvSpPr>
          <p:cNvPr id="9" name="Group 1"/>
          <p:cNvSpPr/>
          <p:nvPr/>
        </p:nvSpPr>
        <p:spPr>
          <a:xfrm>
            <a:off x="3945582" y="1133921"/>
            <a:ext cx="1848594" cy="272355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Group 1</a:t>
            </a:r>
          </a:p>
          <a:p>
            <a:pPr algn="ctr"/>
            <a:endParaRPr lang="en-US"/>
          </a:p>
        </p:txBody>
      </p:sp>
      <p:sp>
        <p:nvSpPr>
          <p:cNvPr id="10" name="What did they want?"/>
          <p:cNvSpPr/>
          <p:nvPr/>
        </p:nvSpPr>
        <p:spPr>
          <a:xfrm>
            <a:off x="3945582" y="1470273"/>
            <a:ext cx="1848594" cy="266164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What did they want?</a:t>
            </a:r>
          </a:p>
          <a:p>
            <a:pPr algn="l"/>
            <a:endParaRPr lang="en-US"/>
          </a:p>
        </p:txBody>
      </p:sp>
      <p:sp>
        <p:nvSpPr>
          <p:cNvPr id="11" name="What can you conclude?"/>
          <p:cNvSpPr/>
          <p:nvPr/>
        </p:nvSpPr>
        <p:spPr>
          <a:xfrm>
            <a:off x="3945582" y="4195911"/>
            <a:ext cx="1848594" cy="266179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What can you conclude?</a:t>
            </a:r>
          </a:p>
          <a:p>
            <a:pPr algn="l"/>
            <a:endParaRPr lang="en-US"/>
          </a:p>
        </p:txBody>
      </p:sp>
      <p:sp>
        <p:nvSpPr>
          <p:cNvPr id="12" name="Group 2"/>
          <p:cNvSpPr/>
          <p:nvPr/>
        </p:nvSpPr>
        <p:spPr>
          <a:xfrm>
            <a:off x="5867251" y="1133921"/>
            <a:ext cx="1848594" cy="272355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Group 2</a:t>
            </a:r>
          </a:p>
          <a:p>
            <a:pPr algn="ctr"/>
            <a:endParaRPr lang="en-US"/>
          </a:p>
        </p:txBody>
      </p:sp>
      <p:sp>
        <p:nvSpPr>
          <p:cNvPr id="13" name="What did they want?"/>
          <p:cNvSpPr/>
          <p:nvPr/>
        </p:nvSpPr>
        <p:spPr>
          <a:xfrm>
            <a:off x="5867251" y="1470273"/>
            <a:ext cx="1848594" cy="266164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What did they want?</a:t>
            </a:r>
          </a:p>
          <a:p>
            <a:pPr algn="l"/>
            <a:endParaRPr lang="en-US"/>
          </a:p>
        </p:txBody>
      </p:sp>
      <p:sp>
        <p:nvSpPr>
          <p:cNvPr id="14" name="Outcome"/>
          <p:cNvSpPr/>
          <p:nvPr/>
        </p:nvSpPr>
        <p:spPr>
          <a:xfrm>
            <a:off x="5867251" y="4195911"/>
            <a:ext cx="1848594" cy="266179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Outcome</a:t>
            </a:r>
          </a:p>
          <a:p>
            <a:pPr algn="l"/>
            <a:endParaRPr lang="en-US"/>
          </a:p>
        </p:txBody>
      </p:sp>
      <p:sp>
        <p:nvSpPr>
          <p:cNvPr id="15" name="Group 3"/>
          <p:cNvSpPr/>
          <p:nvPr/>
        </p:nvSpPr>
        <p:spPr>
          <a:xfrm>
            <a:off x="7788920" y="1133921"/>
            <a:ext cx="1848594" cy="272355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Group 3</a:t>
            </a:r>
          </a:p>
          <a:p>
            <a:pPr algn="ctr"/>
            <a:endParaRPr lang="en-US"/>
          </a:p>
        </p:txBody>
      </p:sp>
      <p:sp>
        <p:nvSpPr>
          <p:cNvPr id="16" name="What did they want?"/>
          <p:cNvSpPr/>
          <p:nvPr/>
        </p:nvSpPr>
        <p:spPr>
          <a:xfrm>
            <a:off x="7788920" y="1470273"/>
            <a:ext cx="1848594" cy="266164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What did they want?</a:t>
            </a:r>
          </a:p>
          <a:p>
            <a:pPr algn="l"/>
            <a:endParaRPr lang="en-US"/>
          </a:p>
        </p:txBody>
      </p:sp>
      <p:sp>
        <p:nvSpPr>
          <p:cNvPr id="17" name="Result"/>
          <p:cNvSpPr/>
          <p:nvPr/>
        </p:nvSpPr>
        <p:spPr>
          <a:xfrm>
            <a:off x="7788920" y="4195911"/>
            <a:ext cx="1848594" cy="266179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Result</a:t>
            </a:r>
          </a:p>
          <a:p>
            <a:pPr algn="l"/>
            <a:endParaRPr lang="en-US"/>
          </a:p>
        </p:txBody>
      </p:sp>
      <p:cxnSp>
        <p:nvCxnSpPr>
          <p:cNvPr id="18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9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20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3-5: chronology, cause/effect, sources, point of view, maps, graphic organizers, claims and evidence.</a:t>
            </a:r>
          </a:p>
        </p:txBody>
      </p:sp>
      <p:sp>
        <p:nvSpPr>
          <p:cNvPr id="21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Place Matters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Physical Features"/>
          <p:cNvSpPr/>
          <p:nvPr/>
        </p:nvSpPr>
        <p:spPr>
          <a:xfrm>
            <a:off x="420886" y="1133921"/>
            <a:ext cx="3169741" cy="281612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Physical Features</a:t>
            </a:r>
          </a:p>
          <a:p>
            <a:pPr algn="l"/>
            <a:endParaRPr lang="en-US"/>
          </a:p>
        </p:txBody>
      </p:sp>
      <p:sp>
        <p:nvSpPr>
          <p:cNvPr id="8" name="The Event"/>
          <p:cNvSpPr/>
          <p:nvPr/>
        </p:nvSpPr>
        <p:spPr>
          <a:xfrm>
            <a:off x="3682008" y="1133921"/>
            <a:ext cx="2694236" cy="2816126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The Event</a:t>
            </a:r>
          </a:p>
        </p:txBody>
      </p:sp>
      <p:sp>
        <p:nvSpPr>
          <p:cNvPr id="9" name="Human Features"/>
          <p:cNvSpPr/>
          <p:nvPr/>
        </p:nvSpPr>
        <p:spPr>
          <a:xfrm>
            <a:off x="6467624" y="1133921"/>
            <a:ext cx="3169890" cy="2816126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Human Features</a:t>
            </a:r>
          </a:p>
          <a:p>
            <a:pPr algn="l"/>
            <a:endParaRPr lang="en-US"/>
          </a:p>
        </p:txBody>
      </p:sp>
      <p:sp>
        <p:nvSpPr>
          <p:cNvPr id="10" name="Why did it happen here?"/>
          <p:cNvSpPr/>
          <p:nvPr/>
        </p:nvSpPr>
        <p:spPr>
          <a:xfrm>
            <a:off x="420886" y="4041428"/>
            <a:ext cx="3169741" cy="28162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Why did it happen here?</a:t>
            </a:r>
          </a:p>
          <a:p>
            <a:pPr algn="l"/>
            <a:endParaRPr lang="en-US"/>
          </a:p>
        </p:txBody>
      </p:sp>
      <p:sp>
        <p:nvSpPr>
          <p:cNvPr id="11" name="Movement / Routes"/>
          <p:cNvSpPr/>
          <p:nvPr/>
        </p:nvSpPr>
        <p:spPr>
          <a:xfrm>
            <a:off x="3682008" y="4041428"/>
            <a:ext cx="2694236" cy="28162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Movement / Routes</a:t>
            </a:r>
          </a:p>
          <a:p>
            <a:pPr algn="l"/>
            <a:endParaRPr lang="en-US"/>
          </a:p>
        </p:txBody>
      </p:sp>
      <p:sp>
        <p:nvSpPr>
          <p:cNvPr id="12" name="How did place affect the event?"/>
          <p:cNvSpPr/>
          <p:nvPr/>
        </p:nvSpPr>
        <p:spPr>
          <a:xfrm>
            <a:off x="6467624" y="4041428"/>
            <a:ext cx="3169890" cy="28162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How did place affect the event?</a:t>
            </a:r>
          </a:p>
          <a:p>
            <a:pPr algn="l"/>
            <a:endParaRPr lang="en-US"/>
          </a:p>
        </p:txBody>
      </p:sp>
      <p:cxnSp>
        <p:nvCxnSpPr>
          <p:cNvPr id="13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4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15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3-5: chronology, cause/effect, sources, point of view, maps, graphic organizers, claims and evidence.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Then and Now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Before"/>
          <p:cNvSpPr/>
          <p:nvPr/>
        </p:nvSpPr>
        <p:spPr>
          <a:xfrm>
            <a:off x="420886" y="1133921"/>
            <a:ext cx="2809875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Before</a:t>
            </a:r>
          </a:p>
          <a:p>
            <a:pPr algn="l"/>
            <a:endParaRPr lang="en-US"/>
          </a:p>
        </p:txBody>
      </p:sp>
      <p:sp>
        <p:nvSpPr>
          <p:cNvPr id="8" name="The Event"/>
          <p:cNvSpPr/>
          <p:nvPr/>
        </p:nvSpPr>
        <p:spPr>
          <a:xfrm>
            <a:off x="3614738" y="1133921"/>
            <a:ext cx="2809875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The Event</a:t>
            </a:r>
          </a:p>
          <a:p>
            <a:pPr algn="l"/>
            <a:endParaRPr lang="en-US"/>
          </a:p>
        </p:txBody>
      </p:sp>
      <p:sp>
        <p:nvSpPr>
          <p:cNvPr id="9" name="After"/>
          <p:cNvSpPr/>
          <p:nvPr/>
        </p:nvSpPr>
        <p:spPr>
          <a:xfrm>
            <a:off x="6808589" y="1133921"/>
            <a:ext cx="2828925" cy="28116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After</a:t>
            </a:r>
          </a:p>
          <a:p>
            <a:pPr algn="l"/>
            <a:endParaRPr lang="en-US"/>
          </a:p>
        </p:txBody>
      </p:sp>
      <p:sp>
        <p:nvSpPr>
          <p:cNvPr id="10" name="What changed?"/>
          <p:cNvSpPr/>
          <p:nvPr/>
        </p:nvSpPr>
        <p:spPr>
          <a:xfrm>
            <a:off x="420886" y="4046041"/>
            <a:ext cx="4562624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What changed?</a:t>
            </a:r>
          </a:p>
          <a:p>
            <a:pPr algn="l"/>
            <a:endParaRPr lang="en-US"/>
          </a:p>
        </p:txBody>
      </p:sp>
      <p:sp>
        <p:nvSpPr>
          <p:cNvPr id="11" name="What stayed the same?"/>
          <p:cNvSpPr/>
          <p:nvPr/>
        </p:nvSpPr>
        <p:spPr>
          <a:xfrm>
            <a:off x="5074890" y="4046041"/>
            <a:ext cx="4562624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What stayed the same?</a:t>
            </a:r>
          </a:p>
          <a:p>
            <a:pPr algn="l"/>
            <a:endParaRPr lang="en-US"/>
          </a:p>
        </p:txBody>
      </p:sp>
      <p:sp>
        <p:nvSpPr>
          <p:cNvPr id="12" name="arrow"/>
          <p:cNvSpPr txBox="1"/>
          <p:nvPr/>
        </p:nvSpPr>
        <p:spPr>
          <a:xfrm>
            <a:off x="3171289" y="1133921"/>
            <a:ext cx="502920" cy="2811661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3" name="arrow"/>
          <p:cNvSpPr txBox="1"/>
          <p:nvPr/>
        </p:nvSpPr>
        <p:spPr>
          <a:xfrm>
            <a:off x="6365141" y="1133921"/>
            <a:ext cx="502920" cy="2811661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3-5: chronology, cause/effect, sources, point of view, maps, graphic organizers, claims and evidence.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Event Evidence Map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Source 1"/>
          <p:cNvSpPr/>
          <p:nvPr/>
        </p:nvSpPr>
        <p:spPr>
          <a:xfrm>
            <a:off x="420886" y="1133921"/>
            <a:ext cx="3011239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Source 1</a:t>
            </a:r>
          </a:p>
          <a:p>
            <a:pPr algn="l"/>
            <a:endParaRPr lang="en-US"/>
          </a:p>
        </p:txBody>
      </p:sp>
      <p:sp>
        <p:nvSpPr>
          <p:cNvPr id="8" name="Useful fact or evidence"/>
          <p:cNvSpPr/>
          <p:nvPr/>
        </p:nvSpPr>
        <p:spPr>
          <a:xfrm>
            <a:off x="420886" y="2913757"/>
            <a:ext cx="3011239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Useful fact or evidence</a:t>
            </a:r>
          </a:p>
          <a:p>
            <a:pPr algn="l"/>
            <a:endParaRPr lang="en-US"/>
          </a:p>
        </p:txBody>
      </p:sp>
      <p:sp>
        <p:nvSpPr>
          <p:cNvPr id="9" name="Source 2"/>
          <p:cNvSpPr/>
          <p:nvPr/>
        </p:nvSpPr>
        <p:spPr>
          <a:xfrm>
            <a:off x="3523506" y="1133921"/>
            <a:ext cx="3011239" cy="1716286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Source 2</a:t>
            </a:r>
          </a:p>
          <a:p>
            <a:pPr algn="l"/>
            <a:endParaRPr lang="en-US"/>
          </a:p>
        </p:txBody>
      </p:sp>
      <p:sp>
        <p:nvSpPr>
          <p:cNvPr id="10" name="Useful fact or evidence"/>
          <p:cNvSpPr/>
          <p:nvPr/>
        </p:nvSpPr>
        <p:spPr>
          <a:xfrm>
            <a:off x="3523506" y="2923282"/>
            <a:ext cx="3011239" cy="169723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Useful fact or evidence</a:t>
            </a:r>
          </a:p>
          <a:p>
            <a:pPr algn="l"/>
            <a:endParaRPr lang="en-US"/>
          </a:p>
        </p:txBody>
      </p:sp>
      <p:sp>
        <p:nvSpPr>
          <p:cNvPr id="11" name="Source 3"/>
          <p:cNvSpPr/>
          <p:nvPr/>
        </p:nvSpPr>
        <p:spPr>
          <a:xfrm>
            <a:off x="6626126" y="1133921"/>
            <a:ext cx="3011388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Source 3</a:t>
            </a:r>
          </a:p>
          <a:p>
            <a:pPr algn="l"/>
            <a:endParaRPr lang="en-US"/>
          </a:p>
        </p:txBody>
      </p:sp>
      <p:sp>
        <p:nvSpPr>
          <p:cNvPr id="12" name="Useful fact or evidence"/>
          <p:cNvSpPr/>
          <p:nvPr/>
        </p:nvSpPr>
        <p:spPr>
          <a:xfrm>
            <a:off x="6626126" y="2913757"/>
            <a:ext cx="3011388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Useful fact or evidence</a:t>
            </a:r>
          </a:p>
          <a:p>
            <a:pPr algn="l"/>
            <a:endParaRPr lang="en-US"/>
          </a:p>
        </p:txBody>
      </p:sp>
      <p:sp>
        <p:nvSpPr>
          <p:cNvPr id="13" name="What can you conclude?"/>
          <p:cNvSpPr/>
          <p:nvPr/>
        </p:nvSpPr>
        <p:spPr>
          <a:xfrm>
            <a:off x="420886" y="4711898"/>
            <a:ext cx="9216628" cy="214580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What can you conclude?</a:t>
            </a:r>
          </a:p>
          <a:p>
            <a:pPr algn="l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3-5: chronology, cause/effect, sources, point of view, maps, graphic organizers, claims and evidence.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Why It Mattered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The Event"/>
          <p:cNvSpPr/>
          <p:nvPr/>
        </p:nvSpPr>
        <p:spPr>
          <a:xfrm>
            <a:off x="420886" y="1133921"/>
            <a:ext cx="2580977" cy="4969966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The Event</a:t>
            </a:r>
          </a:p>
        </p:txBody>
      </p:sp>
      <p:sp>
        <p:nvSpPr>
          <p:cNvPr id="8" name="Effect on People"/>
          <p:cNvSpPr/>
          <p:nvPr/>
        </p:nvSpPr>
        <p:spPr>
          <a:xfrm>
            <a:off x="3093244" y="1133921"/>
            <a:ext cx="3226445" cy="2439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Effect on People</a:t>
            </a:r>
          </a:p>
          <a:p>
            <a:pPr algn="l"/>
            <a:endParaRPr lang="en-US"/>
          </a:p>
        </p:txBody>
      </p:sp>
      <p:sp>
        <p:nvSpPr>
          <p:cNvPr id="9" name="Effect on Government"/>
          <p:cNvSpPr/>
          <p:nvPr/>
        </p:nvSpPr>
        <p:spPr>
          <a:xfrm>
            <a:off x="6411069" y="1133921"/>
            <a:ext cx="3226445" cy="243929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Effect on Government</a:t>
            </a:r>
          </a:p>
          <a:p>
            <a:pPr algn="l"/>
            <a:endParaRPr lang="en-US"/>
          </a:p>
        </p:txBody>
      </p:sp>
      <p:sp>
        <p:nvSpPr>
          <p:cNvPr id="10" name="Effect on Economy"/>
          <p:cNvSpPr/>
          <p:nvPr/>
        </p:nvSpPr>
        <p:spPr>
          <a:xfrm>
            <a:off x="3093244" y="3664595"/>
            <a:ext cx="3226445" cy="2439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Effect on Economy</a:t>
            </a:r>
          </a:p>
          <a:p>
            <a:pPr algn="l"/>
            <a:endParaRPr lang="en-US"/>
          </a:p>
        </p:txBody>
      </p:sp>
      <p:sp>
        <p:nvSpPr>
          <p:cNvPr id="11" name="Effect on Community / Culture"/>
          <p:cNvSpPr/>
          <p:nvPr/>
        </p:nvSpPr>
        <p:spPr>
          <a:xfrm>
            <a:off x="6411069" y="3664595"/>
            <a:ext cx="3226445" cy="2439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Effect on Community / Culture</a:t>
            </a:r>
          </a:p>
          <a:p>
            <a:pPr algn="l"/>
            <a:endParaRPr lang="en-US"/>
          </a:p>
        </p:txBody>
      </p:sp>
      <p:sp>
        <p:nvSpPr>
          <p:cNvPr id="12" name="Which change mattered most?"/>
          <p:cNvSpPr/>
          <p:nvPr/>
        </p:nvSpPr>
        <p:spPr>
          <a:xfrm>
            <a:off x="420886" y="6195268"/>
            <a:ext cx="2580977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Which change mattered most?</a:t>
            </a:r>
          </a:p>
          <a:p>
            <a:pPr algn="l"/>
            <a:endParaRPr lang="en-US"/>
          </a:p>
        </p:txBody>
      </p:sp>
      <p:cxnSp>
        <p:nvCxnSpPr>
          <p:cNvPr id="13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4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15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3-5: chronology, cause/effect, sources, point of view, maps, graphic organizers, claims and evidence.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Event Investigator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What caused it?"/>
          <p:cNvSpPr/>
          <p:nvPr/>
        </p:nvSpPr>
        <p:spPr>
          <a:xfrm>
            <a:off x="420886" y="1133921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What caused it?</a:t>
            </a:r>
          </a:p>
          <a:p>
            <a:pPr algn="l"/>
            <a:endParaRPr lang="en-US"/>
          </a:p>
        </p:txBody>
      </p:sp>
      <p:sp>
        <p:nvSpPr>
          <p:cNvPr id="8" name="Why was it important?"/>
          <p:cNvSpPr/>
          <p:nvPr/>
        </p:nvSpPr>
        <p:spPr>
          <a:xfrm>
            <a:off x="3373338" y="1133921"/>
            <a:ext cx="3311426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Why was it important?</a:t>
            </a:r>
          </a:p>
          <a:p>
            <a:pPr algn="l"/>
            <a:endParaRPr lang="en-US"/>
          </a:p>
        </p:txBody>
      </p:sp>
      <p:sp>
        <p:nvSpPr>
          <p:cNvPr id="9" name="Outcome"/>
          <p:cNvSpPr/>
          <p:nvPr/>
        </p:nvSpPr>
        <p:spPr>
          <a:xfrm>
            <a:off x="6757839" y="1133921"/>
            <a:ext cx="2879527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Outcome</a:t>
            </a:r>
          </a:p>
          <a:p>
            <a:pPr algn="l"/>
            <a:endParaRPr lang="en-US"/>
          </a:p>
        </p:txBody>
      </p:sp>
      <p:sp>
        <p:nvSpPr>
          <p:cNvPr id="10" name="How did it happen?"/>
          <p:cNvSpPr/>
          <p:nvPr/>
        </p:nvSpPr>
        <p:spPr>
          <a:xfrm>
            <a:off x="420886" y="3066157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How did it happen?</a:t>
            </a:r>
          </a:p>
          <a:p>
            <a:pPr algn="l"/>
            <a:endParaRPr lang="en-US"/>
          </a:p>
        </p:txBody>
      </p:sp>
      <p:sp>
        <p:nvSpPr>
          <p:cNvPr id="11" name="The Event"/>
          <p:cNvSpPr/>
          <p:nvPr/>
        </p:nvSpPr>
        <p:spPr>
          <a:xfrm>
            <a:off x="3373338" y="3066157"/>
            <a:ext cx="3311426" cy="1859161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The Event</a:t>
            </a:r>
          </a:p>
        </p:txBody>
      </p:sp>
      <p:sp>
        <p:nvSpPr>
          <p:cNvPr id="12" name="When did it happen?"/>
          <p:cNvSpPr/>
          <p:nvPr/>
        </p:nvSpPr>
        <p:spPr>
          <a:xfrm>
            <a:off x="6757839" y="3066157"/>
            <a:ext cx="2879527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When did it happen?</a:t>
            </a:r>
          </a:p>
          <a:p>
            <a:pPr algn="l"/>
            <a:endParaRPr lang="en-US"/>
          </a:p>
        </p:txBody>
      </p:sp>
      <p:sp>
        <p:nvSpPr>
          <p:cNvPr id="13" name="Groups Involved"/>
          <p:cNvSpPr/>
          <p:nvPr/>
        </p:nvSpPr>
        <p:spPr>
          <a:xfrm>
            <a:off x="420886" y="4998393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Groups Involved</a:t>
            </a:r>
          </a:p>
          <a:p>
            <a:pPr algn="l"/>
            <a:endParaRPr lang="en-US"/>
          </a:p>
        </p:txBody>
      </p:sp>
      <p:sp>
        <p:nvSpPr>
          <p:cNvPr id="14" name="Where did it happen?"/>
          <p:cNvSpPr/>
          <p:nvPr/>
        </p:nvSpPr>
        <p:spPr>
          <a:xfrm>
            <a:off x="3373338" y="4998393"/>
            <a:ext cx="3311426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Where did it happen?</a:t>
            </a:r>
          </a:p>
          <a:p>
            <a:pPr algn="l"/>
            <a:endParaRPr lang="en-US"/>
          </a:p>
        </p:txBody>
      </p:sp>
      <p:sp>
        <p:nvSpPr>
          <p:cNvPr id="15" name="Important Leader"/>
          <p:cNvSpPr/>
          <p:nvPr/>
        </p:nvSpPr>
        <p:spPr>
          <a:xfrm>
            <a:off x="6757839" y="4998393"/>
            <a:ext cx="2879527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Important Leader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6-8: research, chronology, cause/effect, comparison, historical context, perspective, source evaluation, visual communication.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Causes Under Pressure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Long-Term Causes"/>
          <p:cNvSpPr/>
          <p:nvPr/>
        </p:nvSpPr>
        <p:spPr>
          <a:xfrm>
            <a:off x="420886" y="1133921"/>
            <a:ext cx="2011412" cy="296435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Long-Term Causes</a:t>
            </a:r>
          </a:p>
          <a:p>
            <a:pPr algn="l"/>
            <a:endParaRPr lang="en-US"/>
          </a:p>
        </p:txBody>
      </p:sp>
      <p:sp>
        <p:nvSpPr>
          <p:cNvPr id="8" name="Short-Term Causes"/>
          <p:cNvSpPr/>
          <p:nvPr/>
        </p:nvSpPr>
        <p:spPr>
          <a:xfrm>
            <a:off x="2816275" y="1133921"/>
            <a:ext cx="2011412" cy="296435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Short-Term Causes</a:t>
            </a:r>
          </a:p>
          <a:p>
            <a:pPr algn="l"/>
            <a:endParaRPr lang="en-US"/>
          </a:p>
        </p:txBody>
      </p:sp>
      <p:sp>
        <p:nvSpPr>
          <p:cNvPr id="9" name="Trigger / Spark"/>
          <p:cNvSpPr/>
          <p:nvPr/>
        </p:nvSpPr>
        <p:spPr>
          <a:xfrm>
            <a:off x="5211663" y="1133921"/>
            <a:ext cx="2030462" cy="2964359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Trigger / Spark</a:t>
            </a:r>
          </a:p>
          <a:p>
            <a:pPr algn="l"/>
            <a:endParaRPr lang="en-US"/>
          </a:p>
        </p:txBody>
      </p:sp>
      <p:sp>
        <p:nvSpPr>
          <p:cNvPr id="10" name="The Event"/>
          <p:cNvSpPr/>
          <p:nvPr/>
        </p:nvSpPr>
        <p:spPr>
          <a:xfrm>
            <a:off x="7626102" y="1133921"/>
            <a:ext cx="2011412" cy="296435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The Event</a:t>
            </a:r>
          </a:p>
          <a:p>
            <a:pPr algn="l"/>
            <a:endParaRPr lang="en-US"/>
          </a:p>
        </p:txBody>
      </p:sp>
      <p:sp>
        <p:nvSpPr>
          <p:cNvPr id="11" name="Immediate Effects"/>
          <p:cNvSpPr/>
          <p:nvPr/>
        </p:nvSpPr>
        <p:spPr>
          <a:xfrm>
            <a:off x="420886" y="4189661"/>
            <a:ext cx="4562624" cy="266804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Immediate Effects</a:t>
            </a:r>
          </a:p>
          <a:p>
            <a:pPr algn="l"/>
            <a:endParaRPr lang="en-US"/>
          </a:p>
        </p:txBody>
      </p:sp>
      <p:sp>
        <p:nvSpPr>
          <p:cNvPr id="12" name="Later / Long-Term Effects"/>
          <p:cNvSpPr/>
          <p:nvPr/>
        </p:nvSpPr>
        <p:spPr>
          <a:xfrm>
            <a:off x="5074890" y="4189661"/>
            <a:ext cx="4562624" cy="266804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Later / Long-Term Effects</a:t>
            </a:r>
          </a:p>
          <a:p>
            <a:pPr algn="l"/>
            <a:endParaRPr lang="en-US"/>
          </a:p>
        </p:txBody>
      </p:sp>
      <p:sp>
        <p:nvSpPr>
          <p:cNvPr id="13" name="arrow"/>
          <p:cNvSpPr txBox="1"/>
          <p:nvPr/>
        </p:nvSpPr>
        <p:spPr>
          <a:xfrm>
            <a:off x="2372826" y="1133921"/>
            <a:ext cx="502920" cy="296435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4" name="arrow"/>
          <p:cNvSpPr txBox="1"/>
          <p:nvPr/>
        </p:nvSpPr>
        <p:spPr>
          <a:xfrm>
            <a:off x="4768215" y="1133921"/>
            <a:ext cx="502920" cy="296435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5" name="arrow"/>
          <p:cNvSpPr txBox="1"/>
          <p:nvPr/>
        </p:nvSpPr>
        <p:spPr>
          <a:xfrm>
            <a:off x="7182654" y="1133921"/>
            <a:ext cx="502920" cy="296435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6-8: research, chronology, cause/effect, comparison, historical context, perspective, source evaluation, visual communication.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Turning Point Map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Before"/>
          <p:cNvSpPr/>
          <p:nvPr/>
        </p:nvSpPr>
        <p:spPr>
          <a:xfrm>
            <a:off x="420886" y="1133921"/>
            <a:ext cx="2411909" cy="313923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Before</a:t>
            </a:r>
          </a:p>
          <a:p>
            <a:pPr algn="l"/>
            <a:endParaRPr lang="en-US"/>
          </a:p>
        </p:txBody>
      </p:sp>
      <p:sp>
        <p:nvSpPr>
          <p:cNvPr id="8" name="Turning Point"/>
          <p:cNvSpPr/>
          <p:nvPr/>
        </p:nvSpPr>
        <p:spPr>
          <a:xfrm>
            <a:off x="3823097" y="1133921"/>
            <a:ext cx="2412057" cy="313923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Turning Point</a:t>
            </a:r>
          </a:p>
          <a:p>
            <a:pPr algn="l"/>
            <a:endParaRPr lang="en-US"/>
          </a:p>
        </p:txBody>
      </p:sp>
      <p:sp>
        <p:nvSpPr>
          <p:cNvPr id="9" name="After"/>
          <p:cNvSpPr/>
          <p:nvPr/>
        </p:nvSpPr>
        <p:spPr>
          <a:xfrm>
            <a:off x="7225457" y="1133921"/>
            <a:ext cx="2412057" cy="313923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After</a:t>
            </a:r>
          </a:p>
          <a:p>
            <a:pPr algn="l"/>
            <a:endParaRPr lang="en-US"/>
          </a:p>
        </p:txBody>
      </p:sp>
      <p:sp>
        <p:nvSpPr>
          <p:cNvPr id="10" name="Pressures Building"/>
          <p:cNvSpPr/>
          <p:nvPr/>
        </p:nvSpPr>
        <p:spPr>
          <a:xfrm>
            <a:off x="420886" y="4346228"/>
            <a:ext cx="332913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Pressures Building</a:t>
            </a:r>
          </a:p>
          <a:p>
            <a:pPr algn="l"/>
            <a:endParaRPr lang="en-US"/>
          </a:p>
        </p:txBody>
      </p:sp>
      <p:sp>
        <p:nvSpPr>
          <p:cNvPr id="11" name="Long-Term Change"/>
          <p:cNvSpPr/>
          <p:nvPr/>
        </p:nvSpPr>
        <p:spPr>
          <a:xfrm>
            <a:off x="3823097" y="4346228"/>
            <a:ext cx="2861518" cy="25114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Long-Term Change</a:t>
            </a:r>
          </a:p>
          <a:p>
            <a:pPr algn="l"/>
            <a:endParaRPr lang="en-US"/>
          </a:p>
        </p:txBody>
      </p:sp>
      <p:sp>
        <p:nvSpPr>
          <p:cNvPr id="12" name="Why was this a turning point?"/>
          <p:cNvSpPr/>
          <p:nvPr/>
        </p:nvSpPr>
        <p:spPr>
          <a:xfrm>
            <a:off x="6775996" y="4346228"/>
            <a:ext cx="2861518" cy="2511475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Why was this a turning point?</a:t>
            </a:r>
          </a:p>
          <a:p>
            <a:pPr algn="l"/>
            <a:endParaRPr lang="en-US"/>
          </a:p>
        </p:txBody>
      </p:sp>
      <p:sp>
        <p:nvSpPr>
          <p:cNvPr id="13" name="arrow"/>
          <p:cNvSpPr txBox="1"/>
          <p:nvPr/>
        </p:nvSpPr>
        <p:spPr>
          <a:xfrm>
            <a:off x="2905869" y="1133921"/>
            <a:ext cx="844153" cy="313923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4" name="arrow"/>
          <p:cNvSpPr txBox="1"/>
          <p:nvPr/>
        </p:nvSpPr>
        <p:spPr>
          <a:xfrm>
            <a:off x="6308229" y="1133921"/>
            <a:ext cx="844153" cy="313923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6-8: research, chronology, cause/effect, comparison, historical context, perspective, source evaluation, visual communication.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Multiple Perspectives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Group 1"/>
          <p:cNvSpPr/>
          <p:nvPr/>
        </p:nvSpPr>
        <p:spPr>
          <a:xfrm>
            <a:off x="420886" y="1133921"/>
            <a:ext cx="3298329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Group 1</a:t>
            </a:r>
          </a:p>
          <a:p>
            <a:pPr algn="l"/>
            <a:endParaRPr lang="en-US"/>
          </a:p>
        </p:txBody>
      </p:sp>
      <p:sp>
        <p:nvSpPr>
          <p:cNvPr id="8" name="The Event"/>
          <p:cNvSpPr/>
          <p:nvPr/>
        </p:nvSpPr>
        <p:spPr>
          <a:xfrm>
            <a:off x="3792289" y="1133921"/>
            <a:ext cx="2473672" cy="4204543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The Event</a:t>
            </a:r>
          </a:p>
        </p:txBody>
      </p:sp>
      <p:sp>
        <p:nvSpPr>
          <p:cNvPr id="9" name="Group 2"/>
          <p:cNvSpPr/>
          <p:nvPr/>
        </p:nvSpPr>
        <p:spPr>
          <a:xfrm>
            <a:off x="6339036" y="1133921"/>
            <a:ext cx="3298478" cy="206573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Group 2</a:t>
            </a:r>
          </a:p>
          <a:p>
            <a:pPr algn="l"/>
            <a:endParaRPr lang="en-US"/>
          </a:p>
        </p:txBody>
      </p:sp>
      <p:sp>
        <p:nvSpPr>
          <p:cNvPr id="10" name="Group 3"/>
          <p:cNvSpPr/>
          <p:nvPr/>
        </p:nvSpPr>
        <p:spPr>
          <a:xfrm>
            <a:off x="420886" y="3272730"/>
            <a:ext cx="3298329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Group 3</a:t>
            </a:r>
          </a:p>
          <a:p>
            <a:pPr algn="l"/>
            <a:endParaRPr lang="en-US"/>
          </a:p>
        </p:txBody>
      </p:sp>
      <p:sp>
        <p:nvSpPr>
          <p:cNvPr id="11" name="Group 4"/>
          <p:cNvSpPr/>
          <p:nvPr/>
        </p:nvSpPr>
        <p:spPr>
          <a:xfrm>
            <a:off x="6339036" y="3272730"/>
            <a:ext cx="3298478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Group 4</a:t>
            </a:r>
          </a:p>
          <a:p>
            <a:pPr algn="l"/>
            <a:endParaRPr lang="en-US"/>
          </a:p>
        </p:txBody>
      </p:sp>
      <p:sp>
        <p:nvSpPr>
          <p:cNvPr id="12" name="Where did they agree?"/>
          <p:cNvSpPr/>
          <p:nvPr/>
        </p:nvSpPr>
        <p:spPr>
          <a:xfrm>
            <a:off x="420886" y="5411539"/>
            <a:ext cx="3011239" cy="144601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Where did they agree?</a:t>
            </a:r>
          </a:p>
          <a:p>
            <a:pPr algn="l"/>
            <a:endParaRPr lang="en-US"/>
          </a:p>
        </p:txBody>
      </p:sp>
      <p:sp>
        <p:nvSpPr>
          <p:cNvPr id="13" name="Where did they conflict?"/>
          <p:cNvSpPr/>
          <p:nvPr/>
        </p:nvSpPr>
        <p:spPr>
          <a:xfrm>
            <a:off x="3523506" y="5411539"/>
            <a:ext cx="3011239" cy="144601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Where did they conflict?</a:t>
            </a:r>
          </a:p>
          <a:p>
            <a:pPr algn="l"/>
            <a:endParaRPr lang="en-US"/>
          </a:p>
        </p:txBody>
      </p:sp>
      <p:sp>
        <p:nvSpPr>
          <p:cNvPr id="14" name="Whose voice is missing?"/>
          <p:cNvSpPr/>
          <p:nvPr/>
        </p:nvSpPr>
        <p:spPr>
          <a:xfrm>
            <a:off x="6626126" y="5411539"/>
            <a:ext cx="3011388" cy="144601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Whose voice is missing?</a:t>
            </a:r>
          </a:p>
          <a:p>
            <a:pPr algn="l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6-8: research, chronology, cause/effect, comparison, historical context, perspective, source evaluation, visual communication.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Leader and Event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Important Leader"/>
          <p:cNvSpPr/>
          <p:nvPr/>
        </p:nvSpPr>
        <p:spPr>
          <a:xfrm>
            <a:off x="420886" y="1133921"/>
            <a:ext cx="3415010" cy="1776859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Important Leader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8" name="Impact"/>
          <p:cNvSpPr/>
          <p:nvPr/>
        </p:nvSpPr>
        <p:spPr>
          <a:xfrm>
            <a:off x="420886" y="2983855"/>
            <a:ext cx="3415010" cy="190976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Impact</a:t>
            </a:r>
          </a:p>
          <a:p>
            <a:pPr algn="l"/>
            <a:endParaRPr lang="en-US"/>
          </a:p>
        </p:txBody>
      </p:sp>
      <p:sp>
        <p:nvSpPr>
          <p:cNvPr id="9" name="Evidence"/>
          <p:cNvSpPr/>
          <p:nvPr/>
        </p:nvSpPr>
        <p:spPr>
          <a:xfrm>
            <a:off x="420886" y="4966692"/>
            <a:ext cx="3415010" cy="18908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Evidence</a:t>
            </a:r>
          </a:p>
          <a:p>
            <a:pPr algn="l"/>
            <a:endParaRPr lang="en-US"/>
          </a:p>
        </p:txBody>
      </p:sp>
      <p:sp>
        <p:nvSpPr>
          <p:cNvPr id="10" name="The Event"/>
          <p:cNvSpPr/>
          <p:nvPr/>
        </p:nvSpPr>
        <p:spPr>
          <a:xfrm>
            <a:off x="3945582" y="1133921"/>
            <a:ext cx="5691783" cy="1776859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The Event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1" name="Leader's Goals"/>
          <p:cNvSpPr/>
          <p:nvPr/>
        </p:nvSpPr>
        <p:spPr>
          <a:xfrm>
            <a:off x="3945582" y="2983855"/>
            <a:ext cx="2800201" cy="190976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Leader's Goals</a:t>
            </a:r>
          </a:p>
          <a:p>
            <a:pPr algn="l"/>
            <a:endParaRPr lang="en-US"/>
          </a:p>
        </p:txBody>
      </p:sp>
      <p:sp>
        <p:nvSpPr>
          <p:cNvPr id="12" name="Key Decisions"/>
          <p:cNvSpPr/>
          <p:nvPr/>
        </p:nvSpPr>
        <p:spPr>
          <a:xfrm>
            <a:off x="6837164" y="2983855"/>
            <a:ext cx="2800201" cy="190976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Key Decisions</a:t>
            </a:r>
          </a:p>
          <a:p>
            <a:pPr algn="l"/>
            <a:endParaRPr lang="en-US"/>
          </a:p>
        </p:txBody>
      </p:sp>
      <p:sp>
        <p:nvSpPr>
          <p:cNvPr id="13" name="Allies / Supporters"/>
          <p:cNvSpPr/>
          <p:nvPr/>
        </p:nvSpPr>
        <p:spPr>
          <a:xfrm>
            <a:off x="3945582" y="4966692"/>
            <a:ext cx="2800201" cy="18908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Allies / Supporters</a:t>
            </a:r>
          </a:p>
          <a:p>
            <a:pPr algn="l"/>
            <a:endParaRPr lang="en-US"/>
          </a:p>
        </p:txBody>
      </p:sp>
      <p:sp>
        <p:nvSpPr>
          <p:cNvPr id="14" name="Opponents"/>
          <p:cNvSpPr/>
          <p:nvPr/>
        </p:nvSpPr>
        <p:spPr>
          <a:xfrm>
            <a:off x="6837164" y="4966692"/>
            <a:ext cx="2800201" cy="18908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Opponents</a:t>
            </a:r>
          </a:p>
          <a:p>
            <a:pPr algn="l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6-8: research, chronology, cause/effect, comparison, historical context, perspective, source evaluation, visual communication.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Conflict Map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Side / Group A"/>
          <p:cNvSpPr/>
          <p:nvPr/>
        </p:nvSpPr>
        <p:spPr>
          <a:xfrm>
            <a:off x="420886" y="1133921"/>
            <a:ext cx="3284934" cy="11370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Side / Group A</a:t>
            </a:r>
          </a:p>
          <a:p>
            <a:pPr algn="l"/>
            <a:endParaRPr lang="en-US"/>
          </a:p>
        </p:txBody>
      </p:sp>
      <p:sp>
        <p:nvSpPr>
          <p:cNvPr id="8" name="Goal"/>
          <p:cNvSpPr/>
          <p:nvPr/>
        </p:nvSpPr>
        <p:spPr>
          <a:xfrm>
            <a:off x="420886" y="2344043"/>
            <a:ext cx="3284934" cy="11370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Goal</a:t>
            </a:r>
          </a:p>
          <a:p>
            <a:pPr algn="l"/>
            <a:endParaRPr lang="en-US"/>
          </a:p>
        </p:txBody>
      </p:sp>
      <p:sp>
        <p:nvSpPr>
          <p:cNvPr id="9" name="Actions"/>
          <p:cNvSpPr/>
          <p:nvPr/>
        </p:nvSpPr>
        <p:spPr>
          <a:xfrm>
            <a:off x="420886" y="3554164"/>
            <a:ext cx="3284934" cy="11370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Actions</a:t>
            </a:r>
          </a:p>
          <a:p>
            <a:pPr algn="l"/>
            <a:endParaRPr lang="en-US"/>
          </a:p>
        </p:txBody>
      </p:sp>
      <p:sp>
        <p:nvSpPr>
          <p:cNvPr id="10" name="Key Conflict / Event"/>
          <p:cNvSpPr/>
          <p:nvPr/>
        </p:nvSpPr>
        <p:spPr>
          <a:xfrm>
            <a:off x="3797201" y="1133921"/>
            <a:ext cx="2463850" cy="3557290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Key Conflict / Event</a:t>
            </a:r>
          </a:p>
        </p:txBody>
      </p:sp>
      <p:sp>
        <p:nvSpPr>
          <p:cNvPr id="11" name="Side / Group B"/>
          <p:cNvSpPr/>
          <p:nvPr/>
        </p:nvSpPr>
        <p:spPr>
          <a:xfrm>
            <a:off x="6352431" y="1133921"/>
            <a:ext cx="3284934" cy="1149697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Side / Group B</a:t>
            </a:r>
          </a:p>
          <a:p>
            <a:pPr algn="l"/>
            <a:endParaRPr lang="en-US"/>
          </a:p>
        </p:txBody>
      </p:sp>
      <p:sp>
        <p:nvSpPr>
          <p:cNvPr id="12" name="Goal"/>
          <p:cNvSpPr/>
          <p:nvPr/>
        </p:nvSpPr>
        <p:spPr>
          <a:xfrm>
            <a:off x="6352431" y="2356693"/>
            <a:ext cx="3284934" cy="11306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Goal</a:t>
            </a:r>
          </a:p>
          <a:p>
            <a:pPr algn="l"/>
            <a:endParaRPr lang="en-US"/>
          </a:p>
        </p:txBody>
      </p:sp>
      <p:sp>
        <p:nvSpPr>
          <p:cNvPr id="13" name="Actions"/>
          <p:cNvSpPr/>
          <p:nvPr/>
        </p:nvSpPr>
        <p:spPr>
          <a:xfrm>
            <a:off x="6352431" y="3560415"/>
            <a:ext cx="3284934" cy="113079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Actions</a:t>
            </a:r>
          </a:p>
          <a:p>
            <a:pPr algn="l"/>
            <a:endParaRPr lang="en-US"/>
          </a:p>
        </p:txBody>
      </p:sp>
      <p:sp>
        <p:nvSpPr>
          <p:cNvPr id="14" name="Resolution"/>
          <p:cNvSpPr/>
          <p:nvPr/>
        </p:nvSpPr>
        <p:spPr>
          <a:xfrm>
            <a:off x="420886" y="4782592"/>
            <a:ext cx="4562475" cy="207496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Resolution</a:t>
            </a:r>
          </a:p>
          <a:p>
            <a:pPr algn="l"/>
            <a:endParaRPr lang="en-US"/>
          </a:p>
        </p:txBody>
      </p:sp>
      <p:sp>
        <p:nvSpPr>
          <p:cNvPr id="15" name="Result"/>
          <p:cNvSpPr/>
          <p:nvPr/>
        </p:nvSpPr>
        <p:spPr>
          <a:xfrm>
            <a:off x="5074741" y="4782592"/>
            <a:ext cx="4562624" cy="207496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Result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6-8: research, chronology, cause/effect, comparison, historical context, perspective, source evaluation, visual communication.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Event Chain Reaction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Action 1"/>
          <p:cNvSpPr/>
          <p:nvPr/>
        </p:nvSpPr>
        <p:spPr>
          <a:xfrm>
            <a:off x="420886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Action 1</a:t>
            </a:r>
          </a:p>
          <a:p>
            <a:pPr algn="l"/>
            <a:endParaRPr lang="en-US"/>
          </a:p>
        </p:txBody>
      </p:sp>
      <p:sp>
        <p:nvSpPr>
          <p:cNvPr id="8" name="Reaction 1"/>
          <p:cNvSpPr/>
          <p:nvPr/>
        </p:nvSpPr>
        <p:spPr>
          <a:xfrm>
            <a:off x="2017812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Reaction 1</a:t>
            </a:r>
          </a:p>
          <a:p>
            <a:pPr algn="l"/>
            <a:endParaRPr lang="en-US"/>
          </a:p>
        </p:txBody>
      </p:sp>
      <p:sp>
        <p:nvSpPr>
          <p:cNvPr id="9" name="Action 2"/>
          <p:cNvSpPr/>
          <p:nvPr/>
        </p:nvSpPr>
        <p:spPr>
          <a:xfrm>
            <a:off x="3614738" y="1133921"/>
            <a:ext cx="1231999" cy="3218408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Action 2</a:t>
            </a:r>
          </a:p>
          <a:p>
            <a:pPr algn="l"/>
            <a:endParaRPr lang="en-US"/>
          </a:p>
        </p:txBody>
      </p:sp>
      <p:sp>
        <p:nvSpPr>
          <p:cNvPr id="10" name="Reaction 2"/>
          <p:cNvSpPr/>
          <p:nvPr/>
        </p:nvSpPr>
        <p:spPr>
          <a:xfrm>
            <a:off x="5230713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Reaction 2</a:t>
            </a:r>
          </a:p>
          <a:p>
            <a:pPr algn="l"/>
            <a:endParaRPr lang="en-US"/>
          </a:p>
        </p:txBody>
      </p:sp>
      <p:sp>
        <p:nvSpPr>
          <p:cNvPr id="11" name="Crisis / Turning Point"/>
          <p:cNvSpPr/>
          <p:nvPr/>
        </p:nvSpPr>
        <p:spPr>
          <a:xfrm>
            <a:off x="6827639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Crisis / Turning Point</a:t>
            </a:r>
          </a:p>
          <a:p>
            <a:pPr algn="l"/>
            <a:endParaRPr lang="en-US"/>
          </a:p>
        </p:txBody>
      </p:sp>
      <p:sp>
        <p:nvSpPr>
          <p:cNvPr id="12" name="Result"/>
          <p:cNvSpPr/>
          <p:nvPr/>
        </p:nvSpPr>
        <p:spPr>
          <a:xfrm>
            <a:off x="8424565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Result</a:t>
            </a:r>
          </a:p>
          <a:p>
            <a:pPr algn="l"/>
            <a:endParaRPr lang="en-US"/>
          </a:p>
        </p:txBody>
      </p:sp>
      <p:sp>
        <p:nvSpPr>
          <p:cNvPr id="13" name="Which link mattered most?"/>
          <p:cNvSpPr/>
          <p:nvPr/>
        </p:nvSpPr>
        <p:spPr>
          <a:xfrm>
            <a:off x="420886" y="4443710"/>
            <a:ext cx="4562624" cy="241399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Which link mattered most?</a:t>
            </a:r>
          </a:p>
          <a:p>
            <a:pPr algn="l"/>
            <a:endParaRPr lang="en-US"/>
          </a:p>
        </p:txBody>
      </p:sp>
      <p:sp>
        <p:nvSpPr>
          <p:cNvPr id="14" name="Evidence"/>
          <p:cNvSpPr/>
          <p:nvPr/>
        </p:nvSpPr>
        <p:spPr>
          <a:xfrm>
            <a:off x="5074890" y="4443710"/>
            <a:ext cx="4562624" cy="241399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Evidence</a:t>
            </a:r>
          </a:p>
          <a:p>
            <a:pPr algn="l"/>
            <a:endParaRPr lang="en-US"/>
          </a:p>
        </p:txBody>
      </p:sp>
      <p:sp>
        <p:nvSpPr>
          <p:cNvPr id="15" name="arrow"/>
          <p:cNvSpPr txBox="1"/>
          <p:nvPr/>
        </p:nvSpPr>
        <p:spPr>
          <a:xfrm>
            <a:off x="1574363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6" name="arrow"/>
          <p:cNvSpPr txBox="1"/>
          <p:nvPr/>
        </p:nvSpPr>
        <p:spPr>
          <a:xfrm>
            <a:off x="3171289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7" name="arrow"/>
          <p:cNvSpPr txBox="1"/>
          <p:nvPr/>
        </p:nvSpPr>
        <p:spPr>
          <a:xfrm>
            <a:off x="4787265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8" name="arrow"/>
          <p:cNvSpPr txBox="1"/>
          <p:nvPr/>
        </p:nvSpPr>
        <p:spPr>
          <a:xfrm>
            <a:off x="6384191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9" name="arrow"/>
          <p:cNvSpPr txBox="1"/>
          <p:nvPr/>
        </p:nvSpPr>
        <p:spPr>
          <a:xfrm>
            <a:off x="7981117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20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1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22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6-8: research, chronology, cause/effect, comparison, historical context, perspective, source evaluation, visual communication.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Geography of an Event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Physical Geography"/>
          <p:cNvSpPr/>
          <p:nvPr/>
        </p:nvSpPr>
        <p:spPr>
          <a:xfrm>
            <a:off x="420886" y="1133921"/>
            <a:ext cx="3127623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Physical Geography</a:t>
            </a:r>
          </a:p>
          <a:p>
            <a:pPr algn="l"/>
            <a:endParaRPr lang="en-US"/>
          </a:p>
        </p:txBody>
      </p:sp>
      <p:sp>
        <p:nvSpPr>
          <p:cNvPr id="8" name="The Event"/>
          <p:cNvSpPr/>
          <p:nvPr/>
        </p:nvSpPr>
        <p:spPr>
          <a:xfrm>
            <a:off x="3621584" y="1133921"/>
            <a:ext cx="2815084" cy="4204543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The Event</a:t>
            </a:r>
          </a:p>
        </p:txBody>
      </p:sp>
      <p:sp>
        <p:nvSpPr>
          <p:cNvPr id="9" name="Human Geography"/>
          <p:cNvSpPr/>
          <p:nvPr/>
        </p:nvSpPr>
        <p:spPr>
          <a:xfrm>
            <a:off x="6509742" y="1133921"/>
            <a:ext cx="3127623" cy="206573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Human Geography</a:t>
            </a:r>
          </a:p>
          <a:p>
            <a:pPr algn="l"/>
            <a:endParaRPr lang="en-US"/>
          </a:p>
        </p:txBody>
      </p:sp>
      <p:sp>
        <p:nvSpPr>
          <p:cNvPr id="10" name="Resources"/>
          <p:cNvSpPr/>
          <p:nvPr/>
        </p:nvSpPr>
        <p:spPr>
          <a:xfrm>
            <a:off x="420886" y="3272730"/>
            <a:ext cx="3127623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Resources</a:t>
            </a:r>
          </a:p>
          <a:p>
            <a:pPr algn="l"/>
            <a:endParaRPr lang="en-US"/>
          </a:p>
        </p:txBody>
      </p:sp>
      <p:sp>
        <p:nvSpPr>
          <p:cNvPr id="11" name="Movement / Routes"/>
          <p:cNvSpPr/>
          <p:nvPr/>
        </p:nvSpPr>
        <p:spPr>
          <a:xfrm>
            <a:off x="6509742" y="3272730"/>
            <a:ext cx="3127623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Movement / Routes</a:t>
            </a:r>
          </a:p>
          <a:p>
            <a:pPr algn="l"/>
            <a:endParaRPr lang="en-US"/>
          </a:p>
        </p:txBody>
      </p:sp>
      <p:sp>
        <p:nvSpPr>
          <p:cNvPr id="12" name="Why did location matter?"/>
          <p:cNvSpPr/>
          <p:nvPr/>
        </p:nvSpPr>
        <p:spPr>
          <a:xfrm>
            <a:off x="420886" y="5411539"/>
            <a:ext cx="4562475" cy="144601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Why did location matter?</a:t>
            </a:r>
          </a:p>
          <a:p>
            <a:pPr algn="l"/>
            <a:endParaRPr lang="en-US"/>
          </a:p>
        </p:txBody>
      </p:sp>
      <p:sp>
        <p:nvSpPr>
          <p:cNvPr id="13" name="Geographic Effect"/>
          <p:cNvSpPr/>
          <p:nvPr/>
        </p:nvSpPr>
        <p:spPr>
          <a:xfrm>
            <a:off x="5074741" y="5411539"/>
            <a:ext cx="4562624" cy="144601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Geographic Effect</a:t>
            </a:r>
          </a:p>
          <a:p>
            <a:pPr algn="l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6-8: research, chronology, cause/effect, comparison, historical context, perspective, source evaluation, visual communication.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Event Context Map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Historical Context"/>
          <p:cNvSpPr/>
          <p:nvPr/>
        </p:nvSpPr>
        <p:spPr>
          <a:xfrm>
            <a:off x="420886" y="1133921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Historical Context</a:t>
            </a:r>
          </a:p>
          <a:p>
            <a:pPr algn="l"/>
            <a:endParaRPr lang="en-US"/>
          </a:p>
        </p:txBody>
      </p:sp>
      <p:sp>
        <p:nvSpPr>
          <p:cNvPr id="8" name="Long-Term Causes"/>
          <p:cNvSpPr/>
          <p:nvPr/>
        </p:nvSpPr>
        <p:spPr>
          <a:xfrm>
            <a:off x="3373338" y="1133921"/>
            <a:ext cx="3311575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Long-Term Causes</a:t>
            </a:r>
          </a:p>
          <a:p>
            <a:pPr algn="l"/>
            <a:endParaRPr lang="en-US"/>
          </a:p>
        </p:txBody>
      </p:sp>
      <p:sp>
        <p:nvSpPr>
          <p:cNvPr id="9" name="Immediate Cause / Trigger"/>
          <p:cNvSpPr/>
          <p:nvPr/>
        </p:nvSpPr>
        <p:spPr>
          <a:xfrm>
            <a:off x="6757988" y="1133921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Immediate Cause / Trigger</a:t>
            </a:r>
          </a:p>
          <a:p>
            <a:pPr algn="l"/>
            <a:endParaRPr lang="en-US"/>
          </a:p>
        </p:txBody>
      </p:sp>
      <p:sp>
        <p:nvSpPr>
          <p:cNvPr id="10" name="Key People / Groups"/>
          <p:cNvSpPr/>
          <p:nvPr/>
        </p:nvSpPr>
        <p:spPr>
          <a:xfrm>
            <a:off x="420886" y="3066157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Key People / Groups</a:t>
            </a:r>
          </a:p>
          <a:p>
            <a:pPr algn="l"/>
            <a:endParaRPr lang="en-US"/>
          </a:p>
        </p:txBody>
      </p:sp>
      <p:sp>
        <p:nvSpPr>
          <p:cNvPr id="11" name="What happened?"/>
          <p:cNvSpPr/>
          <p:nvPr/>
        </p:nvSpPr>
        <p:spPr>
          <a:xfrm>
            <a:off x="6757988" y="3066157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What happened?</a:t>
            </a:r>
          </a:p>
          <a:p>
            <a:pPr algn="l"/>
            <a:endParaRPr lang="en-US"/>
          </a:p>
        </p:txBody>
      </p:sp>
      <p:sp>
        <p:nvSpPr>
          <p:cNvPr id="12" name="The Event"/>
          <p:cNvSpPr/>
          <p:nvPr/>
        </p:nvSpPr>
        <p:spPr>
          <a:xfrm>
            <a:off x="3373338" y="3066157"/>
            <a:ext cx="3311575" cy="1859161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The Event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3" name="Immediate Outcome"/>
          <p:cNvSpPr/>
          <p:nvPr/>
        </p:nvSpPr>
        <p:spPr>
          <a:xfrm>
            <a:off x="420886" y="4998393"/>
            <a:ext cx="2879378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Immediate Outcome</a:t>
            </a:r>
          </a:p>
          <a:p>
            <a:pPr algn="l"/>
            <a:endParaRPr lang="en-US"/>
          </a:p>
        </p:txBody>
      </p:sp>
      <p:sp>
        <p:nvSpPr>
          <p:cNvPr id="14" name="Long-Term Outcome"/>
          <p:cNvSpPr/>
          <p:nvPr/>
        </p:nvSpPr>
        <p:spPr>
          <a:xfrm>
            <a:off x="3373338" y="4998393"/>
            <a:ext cx="3311575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Long-Term Outcome</a:t>
            </a:r>
          </a:p>
          <a:p>
            <a:pPr algn="l"/>
            <a:endParaRPr lang="en-US"/>
          </a:p>
        </p:txBody>
      </p:sp>
      <p:sp>
        <p:nvSpPr>
          <p:cNvPr id="15" name="Historical Significance"/>
          <p:cNvSpPr/>
          <p:nvPr/>
        </p:nvSpPr>
        <p:spPr>
          <a:xfrm>
            <a:off x="6757988" y="4998393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Historical Significance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9-12: historical inquiry, chronology, causation, perspective, source evaluation, claims/evidence, geographic interpretation, visual communication.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Cause Ranking Map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Cause 1"/>
          <p:cNvSpPr/>
          <p:nvPr/>
        </p:nvSpPr>
        <p:spPr>
          <a:xfrm>
            <a:off x="420886" y="1133921"/>
            <a:ext cx="4567238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Cause 1</a:t>
            </a:r>
          </a:p>
          <a:p>
            <a:pPr algn="l"/>
            <a:endParaRPr lang="en-US"/>
          </a:p>
        </p:txBody>
      </p:sp>
      <p:sp>
        <p:nvSpPr>
          <p:cNvPr id="8" name="Cause 2"/>
          <p:cNvSpPr/>
          <p:nvPr/>
        </p:nvSpPr>
        <p:spPr>
          <a:xfrm>
            <a:off x="5070277" y="1133921"/>
            <a:ext cx="4567238" cy="2059037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Cause 2</a:t>
            </a:r>
          </a:p>
          <a:p>
            <a:pPr algn="l"/>
            <a:endParaRPr lang="en-US"/>
          </a:p>
        </p:txBody>
      </p:sp>
      <p:sp>
        <p:nvSpPr>
          <p:cNvPr id="9" name="Cause 3"/>
          <p:cNvSpPr/>
          <p:nvPr/>
        </p:nvSpPr>
        <p:spPr>
          <a:xfrm>
            <a:off x="420886" y="3275112"/>
            <a:ext cx="4567238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Cause 3</a:t>
            </a:r>
          </a:p>
          <a:p>
            <a:pPr algn="l"/>
            <a:endParaRPr lang="en-US"/>
          </a:p>
        </p:txBody>
      </p:sp>
      <p:sp>
        <p:nvSpPr>
          <p:cNvPr id="10" name="Cause 4"/>
          <p:cNvSpPr/>
          <p:nvPr/>
        </p:nvSpPr>
        <p:spPr>
          <a:xfrm>
            <a:off x="5070277" y="3275112"/>
            <a:ext cx="4567238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Cause 4</a:t>
            </a:r>
          </a:p>
          <a:p>
            <a:pPr algn="l"/>
            <a:endParaRPr lang="en-US"/>
          </a:p>
        </p:txBody>
      </p:sp>
      <p:sp>
        <p:nvSpPr>
          <p:cNvPr id="11" name="Rank the causes 1-4"/>
          <p:cNvSpPr/>
          <p:nvPr/>
        </p:nvSpPr>
        <p:spPr>
          <a:xfrm>
            <a:off x="420886" y="5416302"/>
            <a:ext cx="4562624" cy="14412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Rank the causes 1-4</a:t>
            </a:r>
          </a:p>
          <a:p>
            <a:pPr algn="l"/>
            <a:endParaRPr lang="en-US"/>
          </a:p>
        </p:txBody>
      </p:sp>
      <p:sp>
        <p:nvSpPr>
          <p:cNvPr id="12" name="Most Important Cause"/>
          <p:cNvSpPr/>
          <p:nvPr/>
        </p:nvSpPr>
        <p:spPr>
          <a:xfrm>
            <a:off x="5074890" y="5416302"/>
            <a:ext cx="4562624" cy="144125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Most Important Cause</a:t>
            </a:r>
          </a:p>
          <a:p>
            <a:pPr algn="l"/>
            <a:endParaRPr lang="en-US"/>
          </a:p>
        </p:txBody>
      </p:sp>
      <p:cxnSp>
        <p:nvCxnSpPr>
          <p:cNvPr id="13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4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15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9-12: historical inquiry, chronology, causation, perspective, source evaluation, claims/evidence, geographic interpretation, visual communication.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Turning Point Analysis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Before"/>
          <p:cNvSpPr/>
          <p:nvPr/>
        </p:nvSpPr>
        <p:spPr>
          <a:xfrm>
            <a:off x="420886" y="1133921"/>
            <a:ext cx="3017341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Before</a:t>
            </a:r>
          </a:p>
          <a:p>
            <a:pPr algn="l"/>
            <a:endParaRPr lang="en-US"/>
          </a:p>
        </p:txBody>
      </p:sp>
      <p:sp>
        <p:nvSpPr>
          <p:cNvPr id="8" name="The Event"/>
          <p:cNvSpPr/>
          <p:nvPr/>
        </p:nvSpPr>
        <p:spPr>
          <a:xfrm>
            <a:off x="3520380" y="1133921"/>
            <a:ext cx="3017490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The Event</a:t>
            </a:r>
          </a:p>
          <a:p>
            <a:pPr algn="l"/>
            <a:endParaRPr lang="en-US"/>
          </a:p>
        </p:txBody>
      </p:sp>
      <p:sp>
        <p:nvSpPr>
          <p:cNvPr id="9" name="Immediate Change"/>
          <p:cNvSpPr/>
          <p:nvPr/>
        </p:nvSpPr>
        <p:spPr>
          <a:xfrm>
            <a:off x="6620024" y="1133921"/>
            <a:ext cx="3017341" cy="2059037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Immediate Change</a:t>
            </a:r>
          </a:p>
          <a:p>
            <a:pPr algn="l"/>
            <a:endParaRPr lang="en-US"/>
          </a:p>
        </p:txBody>
      </p:sp>
      <p:sp>
        <p:nvSpPr>
          <p:cNvPr id="10" name="Long-Term Change"/>
          <p:cNvSpPr/>
          <p:nvPr/>
        </p:nvSpPr>
        <p:spPr>
          <a:xfrm>
            <a:off x="420886" y="3275112"/>
            <a:ext cx="3017341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Long-Term Change</a:t>
            </a:r>
          </a:p>
          <a:p>
            <a:pPr algn="l"/>
            <a:endParaRPr lang="en-US"/>
          </a:p>
        </p:txBody>
      </p:sp>
      <p:sp>
        <p:nvSpPr>
          <p:cNvPr id="11" name="What continued?"/>
          <p:cNvSpPr/>
          <p:nvPr/>
        </p:nvSpPr>
        <p:spPr>
          <a:xfrm>
            <a:off x="3520380" y="3275112"/>
            <a:ext cx="3017490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What continued?</a:t>
            </a:r>
          </a:p>
          <a:p>
            <a:pPr algn="l"/>
            <a:endParaRPr lang="en-US"/>
          </a:p>
        </p:txBody>
      </p:sp>
      <p:sp>
        <p:nvSpPr>
          <p:cNvPr id="12" name="Was it truly a turning point?"/>
          <p:cNvSpPr/>
          <p:nvPr/>
        </p:nvSpPr>
        <p:spPr>
          <a:xfrm>
            <a:off x="6620024" y="3275112"/>
            <a:ext cx="3017341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Was it truly a turning point?</a:t>
            </a:r>
          </a:p>
          <a:p>
            <a:pPr algn="l"/>
            <a:endParaRPr lang="en-US"/>
          </a:p>
        </p:txBody>
      </p:sp>
      <p:sp>
        <p:nvSpPr>
          <p:cNvPr id="13" name="Evidence"/>
          <p:cNvSpPr/>
          <p:nvPr/>
        </p:nvSpPr>
        <p:spPr>
          <a:xfrm>
            <a:off x="420886" y="5416302"/>
            <a:ext cx="9216479" cy="68148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Evidence</a:t>
            </a:r>
          </a:p>
          <a:p>
            <a:pPr algn="l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9-12: historical inquiry, chronology, causation, perspective, source evaluation, claims/evidence, geographic interpretation, visual communication.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Perspectives and Evidence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Perspective 1"/>
          <p:cNvSpPr/>
          <p:nvPr/>
        </p:nvSpPr>
        <p:spPr>
          <a:xfrm>
            <a:off x="420886" y="1133921"/>
            <a:ext cx="3239393" cy="20282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Perspective 1</a:t>
            </a:r>
          </a:p>
          <a:p>
            <a:pPr algn="l"/>
            <a:endParaRPr lang="en-US"/>
          </a:p>
        </p:txBody>
      </p:sp>
      <p:sp>
        <p:nvSpPr>
          <p:cNvPr id="8" name="The Event"/>
          <p:cNvSpPr/>
          <p:nvPr/>
        </p:nvSpPr>
        <p:spPr>
          <a:xfrm>
            <a:off x="3733354" y="1133921"/>
            <a:ext cx="2591544" cy="4129534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The Event</a:t>
            </a:r>
          </a:p>
        </p:txBody>
      </p:sp>
      <p:sp>
        <p:nvSpPr>
          <p:cNvPr id="9" name="Perspective 2"/>
          <p:cNvSpPr/>
          <p:nvPr/>
        </p:nvSpPr>
        <p:spPr>
          <a:xfrm>
            <a:off x="6397972" y="1133921"/>
            <a:ext cx="3239542" cy="202823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Perspective 2</a:t>
            </a:r>
          </a:p>
          <a:p>
            <a:pPr algn="l"/>
            <a:endParaRPr lang="en-US"/>
          </a:p>
        </p:txBody>
      </p:sp>
      <p:sp>
        <p:nvSpPr>
          <p:cNvPr id="10" name="Perspective 3"/>
          <p:cNvSpPr/>
          <p:nvPr/>
        </p:nvSpPr>
        <p:spPr>
          <a:xfrm>
            <a:off x="420886" y="3235226"/>
            <a:ext cx="3239393" cy="20282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Perspective 3</a:t>
            </a:r>
          </a:p>
          <a:p>
            <a:pPr algn="l"/>
            <a:endParaRPr lang="en-US"/>
          </a:p>
        </p:txBody>
      </p:sp>
      <p:sp>
        <p:nvSpPr>
          <p:cNvPr id="11" name="Perspective 4"/>
          <p:cNvSpPr/>
          <p:nvPr/>
        </p:nvSpPr>
        <p:spPr>
          <a:xfrm>
            <a:off x="6397972" y="3235226"/>
            <a:ext cx="3239542" cy="20282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Perspective 4</a:t>
            </a:r>
          </a:p>
          <a:p>
            <a:pPr algn="l"/>
            <a:endParaRPr lang="en-US"/>
          </a:p>
        </p:txBody>
      </p:sp>
      <p:sp>
        <p:nvSpPr>
          <p:cNvPr id="12" name="Evidence"/>
          <p:cNvSpPr/>
          <p:nvPr/>
        </p:nvSpPr>
        <p:spPr>
          <a:xfrm>
            <a:off x="420886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Evidence</a:t>
            </a:r>
          </a:p>
          <a:p>
            <a:pPr algn="l"/>
            <a:endParaRPr lang="en-US"/>
          </a:p>
        </p:txBody>
      </p:sp>
      <p:sp>
        <p:nvSpPr>
          <p:cNvPr id="13" name="Where did they agree?"/>
          <p:cNvSpPr/>
          <p:nvPr/>
        </p:nvSpPr>
        <p:spPr>
          <a:xfrm>
            <a:off x="2745581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Where did they agree?</a:t>
            </a:r>
          </a:p>
          <a:p>
            <a:pPr algn="l"/>
            <a:endParaRPr lang="en-US"/>
          </a:p>
        </p:txBody>
      </p:sp>
      <p:sp>
        <p:nvSpPr>
          <p:cNvPr id="14" name="Where did they conflict?"/>
          <p:cNvSpPr/>
          <p:nvPr/>
        </p:nvSpPr>
        <p:spPr>
          <a:xfrm>
            <a:off x="5070277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Where did they conflict?</a:t>
            </a:r>
          </a:p>
          <a:p>
            <a:pPr algn="l"/>
            <a:endParaRPr lang="en-US"/>
          </a:p>
        </p:txBody>
      </p:sp>
      <p:sp>
        <p:nvSpPr>
          <p:cNvPr id="15" name="Whose voice is missing?"/>
          <p:cNvSpPr/>
          <p:nvPr/>
        </p:nvSpPr>
        <p:spPr>
          <a:xfrm>
            <a:off x="7394972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Whose voice is missing?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9-12: historical inquiry, chronology, causation, perspective, source evaluation, claims/evidence, geographic interpretation, visual communication.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Event Impact Quadrants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Political"/>
          <p:cNvSpPr/>
          <p:nvPr/>
        </p:nvSpPr>
        <p:spPr>
          <a:xfrm>
            <a:off x="420886" y="1133921"/>
            <a:ext cx="335934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Political</a:t>
            </a:r>
          </a:p>
          <a:p>
            <a:pPr algn="l"/>
            <a:endParaRPr lang="en-US"/>
          </a:p>
        </p:txBody>
      </p:sp>
      <p:sp>
        <p:nvSpPr>
          <p:cNvPr id="8" name="The Event"/>
          <p:cNvSpPr/>
          <p:nvPr/>
        </p:nvSpPr>
        <p:spPr>
          <a:xfrm>
            <a:off x="3853309" y="1133921"/>
            <a:ext cx="2351633" cy="4174182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The Event</a:t>
            </a:r>
          </a:p>
        </p:txBody>
      </p:sp>
      <p:sp>
        <p:nvSpPr>
          <p:cNvPr id="9" name="Economic"/>
          <p:cNvSpPr/>
          <p:nvPr/>
        </p:nvSpPr>
        <p:spPr>
          <a:xfrm>
            <a:off x="6278017" y="1133921"/>
            <a:ext cx="3359348" cy="205055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Economic</a:t>
            </a:r>
          </a:p>
          <a:p>
            <a:pPr algn="l"/>
            <a:endParaRPr lang="en-US"/>
          </a:p>
        </p:txBody>
      </p:sp>
      <p:sp>
        <p:nvSpPr>
          <p:cNvPr id="10" name="Social / Cultural"/>
          <p:cNvSpPr/>
          <p:nvPr/>
        </p:nvSpPr>
        <p:spPr>
          <a:xfrm>
            <a:off x="420886" y="3257550"/>
            <a:ext cx="335934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Social / Cultural</a:t>
            </a:r>
          </a:p>
          <a:p>
            <a:pPr algn="l"/>
            <a:endParaRPr lang="en-US"/>
          </a:p>
        </p:txBody>
      </p:sp>
      <p:sp>
        <p:nvSpPr>
          <p:cNvPr id="11" name="Geographic / Environmental"/>
          <p:cNvSpPr/>
          <p:nvPr/>
        </p:nvSpPr>
        <p:spPr>
          <a:xfrm>
            <a:off x="6278017" y="3257550"/>
            <a:ext cx="335934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Geographic / Environmental</a:t>
            </a:r>
          </a:p>
          <a:p>
            <a:pPr algn="l"/>
            <a:endParaRPr lang="en-US"/>
          </a:p>
        </p:txBody>
      </p:sp>
      <p:sp>
        <p:nvSpPr>
          <p:cNvPr id="12" name="Immediate"/>
          <p:cNvSpPr/>
          <p:nvPr/>
        </p:nvSpPr>
        <p:spPr>
          <a:xfrm>
            <a:off x="420886" y="5381179"/>
            <a:ext cx="3011239" cy="147652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Immediate</a:t>
            </a:r>
          </a:p>
          <a:p>
            <a:pPr algn="l"/>
            <a:endParaRPr lang="en-US"/>
          </a:p>
        </p:txBody>
      </p:sp>
      <p:sp>
        <p:nvSpPr>
          <p:cNvPr id="13" name="Long-Term"/>
          <p:cNvSpPr/>
          <p:nvPr/>
        </p:nvSpPr>
        <p:spPr>
          <a:xfrm>
            <a:off x="3523506" y="5381179"/>
            <a:ext cx="3011239" cy="147652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Long-Term</a:t>
            </a:r>
          </a:p>
          <a:p>
            <a:pPr algn="l"/>
            <a:endParaRPr lang="en-US"/>
          </a:p>
        </p:txBody>
      </p:sp>
      <p:sp>
        <p:nvSpPr>
          <p:cNvPr id="14" name="Which impact was most significant?"/>
          <p:cNvSpPr/>
          <p:nvPr/>
        </p:nvSpPr>
        <p:spPr>
          <a:xfrm>
            <a:off x="6626126" y="5381179"/>
            <a:ext cx="3011239" cy="147652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Which impact was most significant?</a:t>
            </a:r>
          </a:p>
          <a:p>
            <a:pPr algn="l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9-12: historical inquiry, chronology, causation, perspective, source evaluation, claims/evidence, geographic interpretation, visual communication.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Continuity and Change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Before"/>
          <p:cNvSpPr/>
          <p:nvPr/>
        </p:nvSpPr>
        <p:spPr>
          <a:xfrm>
            <a:off x="420886" y="1133921"/>
            <a:ext cx="3017341" cy="218018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Before</a:t>
            </a:r>
          </a:p>
          <a:p>
            <a:pPr algn="l"/>
            <a:endParaRPr lang="en-US"/>
          </a:p>
        </p:txBody>
      </p:sp>
      <p:sp>
        <p:nvSpPr>
          <p:cNvPr id="8" name="During"/>
          <p:cNvSpPr/>
          <p:nvPr/>
        </p:nvSpPr>
        <p:spPr>
          <a:xfrm>
            <a:off x="3520380" y="1133921"/>
            <a:ext cx="3017490" cy="218018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During</a:t>
            </a:r>
          </a:p>
          <a:p>
            <a:pPr algn="l"/>
            <a:endParaRPr lang="en-US"/>
          </a:p>
        </p:txBody>
      </p:sp>
      <p:sp>
        <p:nvSpPr>
          <p:cNvPr id="9" name="After"/>
          <p:cNvSpPr/>
          <p:nvPr/>
        </p:nvSpPr>
        <p:spPr>
          <a:xfrm>
            <a:off x="6620024" y="1133921"/>
            <a:ext cx="3017341" cy="218018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After</a:t>
            </a:r>
          </a:p>
          <a:p>
            <a:pPr algn="l"/>
            <a:endParaRPr lang="en-US"/>
          </a:p>
        </p:txBody>
      </p:sp>
      <p:sp>
        <p:nvSpPr>
          <p:cNvPr id="10" name="Changed Significantly"/>
          <p:cNvSpPr/>
          <p:nvPr/>
        </p:nvSpPr>
        <p:spPr>
          <a:xfrm>
            <a:off x="420886" y="3396258"/>
            <a:ext cx="3017341" cy="196215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Changed Significantly</a:t>
            </a:r>
          </a:p>
          <a:p>
            <a:pPr algn="l"/>
            <a:endParaRPr lang="en-US"/>
          </a:p>
        </p:txBody>
      </p:sp>
      <p:sp>
        <p:nvSpPr>
          <p:cNvPr id="11" name="Changed Gradually"/>
          <p:cNvSpPr/>
          <p:nvPr/>
        </p:nvSpPr>
        <p:spPr>
          <a:xfrm>
            <a:off x="3520380" y="3396258"/>
            <a:ext cx="3017490" cy="196215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Changed Gradually</a:t>
            </a:r>
          </a:p>
          <a:p>
            <a:pPr algn="l"/>
            <a:endParaRPr lang="en-US"/>
          </a:p>
        </p:txBody>
      </p:sp>
      <p:sp>
        <p:nvSpPr>
          <p:cNvPr id="12" name="What stayed the same?"/>
          <p:cNvSpPr/>
          <p:nvPr/>
        </p:nvSpPr>
        <p:spPr>
          <a:xfrm>
            <a:off x="6620024" y="3396258"/>
            <a:ext cx="3017341" cy="196215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What stayed the same?</a:t>
            </a:r>
          </a:p>
          <a:p>
            <a:pPr algn="l"/>
            <a:endParaRPr lang="en-US"/>
          </a:p>
        </p:txBody>
      </p:sp>
      <p:sp>
        <p:nvSpPr>
          <p:cNvPr id="13" name="Why?"/>
          <p:cNvSpPr/>
          <p:nvPr/>
        </p:nvSpPr>
        <p:spPr>
          <a:xfrm>
            <a:off x="420886" y="5440561"/>
            <a:ext cx="4562475" cy="14169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Why?</a:t>
            </a:r>
          </a:p>
          <a:p>
            <a:pPr algn="l"/>
            <a:endParaRPr lang="en-US"/>
          </a:p>
        </p:txBody>
      </p:sp>
      <p:sp>
        <p:nvSpPr>
          <p:cNvPr id="14" name="Your Judgment"/>
          <p:cNvSpPr/>
          <p:nvPr/>
        </p:nvSpPr>
        <p:spPr>
          <a:xfrm>
            <a:off x="5074741" y="5440561"/>
            <a:ext cx="4562624" cy="14169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Your Judgment</a:t>
            </a:r>
          </a:p>
          <a:p>
            <a:pPr algn="l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9-12: historical inquiry, chronology, causation, perspective, source evaluation, claims/evidence, geographic interpretation, visual communication.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Historical Evidence Dossier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Historical Question"/>
          <p:cNvSpPr/>
          <p:nvPr/>
        </p:nvSpPr>
        <p:spPr>
          <a:xfrm>
            <a:off x="420886" y="1133921"/>
            <a:ext cx="9216628" cy="60855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Historical Question</a:t>
            </a:r>
          </a:p>
          <a:p>
            <a:pPr algn="l"/>
            <a:endParaRPr lang="en-US"/>
          </a:p>
        </p:txBody>
      </p:sp>
      <p:sp>
        <p:nvSpPr>
          <p:cNvPr id="8" name="Source 1"/>
          <p:cNvSpPr/>
          <p:nvPr/>
        </p:nvSpPr>
        <p:spPr>
          <a:xfrm>
            <a:off x="420886" y="2343150"/>
            <a:ext cx="3023443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Source 1</a:t>
            </a:r>
          </a:p>
          <a:p>
            <a:pPr algn="l"/>
            <a:endParaRPr lang="en-US"/>
          </a:p>
        </p:txBody>
      </p:sp>
      <p:sp>
        <p:nvSpPr>
          <p:cNvPr id="9" name="Evidence from Source 1"/>
          <p:cNvSpPr/>
          <p:nvPr/>
        </p:nvSpPr>
        <p:spPr>
          <a:xfrm>
            <a:off x="420886" y="3331518"/>
            <a:ext cx="3023443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Evidence from Source 1</a:t>
            </a:r>
          </a:p>
          <a:p>
            <a:pPr algn="l"/>
            <a:endParaRPr lang="en-US"/>
          </a:p>
        </p:txBody>
      </p:sp>
      <p:sp>
        <p:nvSpPr>
          <p:cNvPr id="10" name="Reliability / Limitation"/>
          <p:cNvSpPr/>
          <p:nvPr/>
        </p:nvSpPr>
        <p:spPr>
          <a:xfrm>
            <a:off x="420886" y="4319885"/>
            <a:ext cx="3023443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Reliability / Limitation</a:t>
            </a:r>
          </a:p>
          <a:p>
            <a:pPr algn="l"/>
            <a:endParaRPr lang="en-US"/>
          </a:p>
        </p:txBody>
      </p:sp>
      <p:sp>
        <p:nvSpPr>
          <p:cNvPr id="11" name="Source 2"/>
          <p:cNvSpPr/>
          <p:nvPr/>
        </p:nvSpPr>
        <p:spPr>
          <a:xfrm>
            <a:off x="3517404" y="2343150"/>
            <a:ext cx="3023443" cy="92794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Source 2</a:t>
            </a:r>
          </a:p>
          <a:p>
            <a:pPr algn="l"/>
            <a:endParaRPr lang="en-US"/>
          </a:p>
        </p:txBody>
      </p:sp>
      <p:sp>
        <p:nvSpPr>
          <p:cNvPr id="12" name="Evidence from Source 2"/>
          <p:cNvSpPr/>
          <p:nvPr/>
        </p:nvSpPr>
        <p:spPr>
          <a:xfrm>
            <a:off x="3517404" y="3344168"/>
            <a:ext cx="3023443" cy="9088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Evidence from Source 2</a:t>
            </a:r>
          </a:p>
          <a:p>
            <a:pPr algn="l"/>
            <a:endParaRPr lang="en-US"/>
          </a:p>
        </p:txBody>
      </p:sp>
      <p:sp>
        <p:nvSpPr>
          <p:cNvPr id="13" name="Reliability / Limitation"/>
          <p:cNvSpPr/>
          <p:nvPr/>
        </p:nvSpPr>
        <p:spPr>
          <a:xfrm>
            <a:off x="3517404" y="4326136"/>
            <a:ext cx="3023443" cy="90904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Reliability / Limitation</a:t>
            </a:r>
          </a:p>
          <a:p>
            <a:pPr algn="l"/>
            <a:endParaRPr lang="en-US"/>
          </a:p>
        </p:txBody>
      </p:sp>
      <p:sp>
        <p:nvSpPr>
          <p:cNvPr id="14" name="Source 3"/>
          <p:cNvSpPr/>
          <p:nvPr/>
        </p:nvSpPr>
        <p:spPr>
          <a:xfrm>
            <a:off x="6613922" y="2343150"/>
            <a:ext cx="3023592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Source 3</a:t>
            </a:r>
          </a:p>
          <a:p>
            <a:pPr algn="l"/>
            <a:endParaRPr lang="en-US"/>
          </a:p>
        </p:txBody>
      </p:sp>
      <p:sp>
        <p:nvSpPr>
          <p:cNvPr id="15" name="Evidence from Source 3"/>
          <p:cNvSpPr/>
          <p:nvPr/>
        </p:nvSpPr>
        <p:spPr>
          <a:xfrm>
            <a:off x="6613922" y="3331518"/>
            <a:ext cx="3023592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Evidence from Source 3</a:t>
            </a:r>
          </a:p>
          <a:p>
            <a:pPr algn="l"/>
            <a:endParaRPr lang="en-US"/>
          </a:p>
        </p:txBody>
      </p:sp>
      <p:sp>
        <p:nvSpPr>
          <p:cNvPr id="16" name="Reliability / Limitation"/>
          <p:cNvSpPr/>
          <p:nvPr/>
        </p:nvSpPr>
        <p:spPr>
          <a:xfrm>
            <a:off x="6613922" y="4319885"/>
            <a:ext cx="3023592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Reliability / Limitation</a:t>
            </a:r>
          </a:p>
          <a:p>
            <a:pPr algn="l"/>
            <a:endParaRPr lang="en-US"/>
          </a:p>
        </p:txBody>
      </p:sp>
      <p:sp>
        <p:nvSpPr>
          <p:cNvPr id="17" name="Conflicting / Missing Evidence"/>
          <p:cNvSpPr/>
          <p:nvPr/>
        </p:nvSpPr>
        <p:spPr>
          <a:xfrm>
            <a:off x="420886" y="5308253"/>
            <a:ext cx="3023443" cy="60855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Conflicting / Missing Evidence</a:t>
            </a:r>
          </a:p>
          <a:p>
            <a:pPr algn="l"/>
            <a:endParaRPr lang="en-US"/>
          </a:p>
        </p:txBody>
      </p:sp>
      <p:sp>
        <p:nvSpPr>
          <p:cNvPr id="18" name="Working Conclusion"/>
          <p:cNvSpPr/>
          <p:nvPr/>
        </p:nvSpPr>
        <p:spPr>
          <a:xfrm>
            <a:off x="3517404" y="5308253"/>
            <a:ext cx="6120110" cy="60855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Working Conclusion</a:t>
            </a:r>
          </a:p>
          <a:p>
            <a:pPr algn="l"/>
            <a:endParaRPr lang="en-US"/>
          </a:p>
        </p:txBody>
      </p:sp>
      <p:cxnSp>
        <p:nvCxnSpPr>
          <p:cNvPr id="19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0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21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9-12: historical inquiry, chronology, causation, perspective, source evaluation, claims/evidence, geographic interpretation, visual communication.</a:t>
            </a:r>
          </a:p>
        </p:txBody>
      </p:sp>
      <p:sp>
        <p:nvSpPr>
          <p:cNvPr id="22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Name: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Date: __________ Class/Period: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Compare Two Events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Grade Band: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Topic / Event: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Event A"/>
          <p:cNvSpPr/>
          <p:nvPr/>
        </p:nvSpPr>
        <p:spPr>
          <a:xfrm>
            <a:off x="420886" y="1133921"/>
            <a:ext cx="3239393" cy="9550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Event A</a:t>
            </a:r>
          </a:p>
          <a:p>
            <a:pPr algn="l"/>
            <a:endParaRPr lang="en-US"/>
          </a:p>
        </p:txBody>
      </p:sp>
      <p:sp>
        <p:nvSpPr>
          <p:cNvPr id="8" name="Event B"/>
          <p:cNvSpPr/>
          <p:nvPr/>
        </p:nvSpPr>
        <p:spPr>
          <a:xfrm>
            <a:off x="6397972" y="1133921"/>
            <a:ext cx="3239542" cy="95503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Event B</a:t>
            </a:r>
          </a:p>
          <a:p>
            <a:pPr algn="l"/>
            <a:endParaRPr lang="en-US"/>
          </a:p>
        </p:txBody>
      </p:sp>
      <p:sp>
        <p:nvSpPr>
          <p:cNvPr id="9" name="What caused it?"/>
          <p:cNvSpPr/>
          <p:nvPr/>
        </p:nvSpPr>
        <p:spPr>
          <a:xfrm>
            <a:off x="420886" y="2162026"/>
            <a:ext cx="3239393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What caused it?</a:t>
            </a:r>
          </a:p>
          <a:p>
            <a:pPr algn="l"/>
            <a:endParaRPr lang="en-US"/>
          </a:p>
        </p:txBody>
      </p:sp>
      <p:sp>
        <p:nvSpPr>
          <p:cNvPr id="10" name="Key People / Groups"/>
          <p:cNvSpPr/>
          <p:nvPr/>
        </p:nvSpPr>
        <p:spPr>
          <a:xfrm>
            <a:off x="420886" y="3066752"/>
            <a:ext cx="3239393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Key People / Groups</a:t>
            </a:r>
          </a:p>
          <a:p>
            <a:pPr algn="l"/>
            <a:endParaRPr lang="en-US"/>
          </a:p>
        </p:txBody>
      </p:sp>
      <p:sp>
        <p:nvSpPr>
          <p:cNvPr id="11" name="Similarities"/>
          <p:cNvSpPr/>
          <p:nvPr/>
        </p:nvSpPr>
        <p:spPr>
          <a:xfrm>
            <a:off x="3733354" y="2162026"/>
            <a:ext cx="2591544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Similarities</a:t>
            </a:r>
          </a:p>
          <a:p>
            <a:pPr algn="l"/>
            <a:endParaRPr lang="en-US"/>
          </a:p>
        </p:txBody>
      </p:sp>
      <p:sp>
        <p:nvSpPr>
          <p:cNvPr id="12" name="Differences"/>
          <p:cNvSpPr/>
          <p:nvPr/>
        </p:nvSpPr>
        <p:spPr>
          <a:xfrm>
            <a:off x="3733354" y="3066752"/>
            <a:ext cx="2591544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Differences</a:t>
            </a:r>
          </a:p>
          <a:p>
            <a:pPr algn="l"/>
            <a:endParaRPr lang="en-US"/>
          </a:p>
        </p:txBody>
      </p:sp>
      <p:sp>
        <p:nvSpPr>
          <p:cNvPr id="13" name="What caused it?"/>
          <p:cNvSpPr/>
          <p:nvPr/>
        </p:nvSpPr>
        <p:spPr>
          <a:xfrm>
            <a:off x="6397972" y="2162026"/>
            <a:ext cx="3239542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What caused it?</a:t>
            </a:r>
          </a:p>
          <a:p>
            <a:pPr algn="l"/>
            <a:endParaRPr lang="en-US"/>
          </a:p>
        </p:txBody>
      </p:sp>
      <p:sp>
        <p:nvSpPr>
          <p:cNvPr id="14" name="Key People / Groups"/>
          <p:cNvSpPr/>
          <p:nvPr/>
        </p:nvSpPr>
        <p:spPr>
          <a:xfrm>
            <a:off x="6397972" y="3066752"/>
            <a:ext cx="3239542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Key People / Groups</a:t>
            </a:r>
          </a:p>
          <a:p>
            <a:pPr algn="l"/>
            <a:endParaRPr lang="en-US"/>
          </a:p>
        </p:txBody>
      </p:sp>
      <p:sp>
        <p:nvSpPr>
          <p:cNvPr id="15" name="Outcomes"/>
          <p:cNvSpPr/>
          <p:nvPr/>
        </p:nvSpPr>
        <p:spPr>
          <a:xfrm>
            <a:off x="420886" y="3971479"/>
            <a:ext cx="3239393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Outcomes</a:t>
            </a:r>
          </a:p>
          <a:p>
            <a:pPr algn="l"/>
            <a:endParaRPr lang="en-US"/>
          </a:p>
        </p:txBody>
      </p:sp>
      <p:sp>
        <p:nvSpPr>
          <p:cNvPr id="16" name="Historical Significance"/>
          <p:cNvSpPr/>
          <p:nvPr/>
        </p:nvSpPr>
        <p:spPr>
          <a:xfrm>
            <a:off x="420886" y="4876205"/>
            <a:ext cx="3239393" cy="83180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Historical Significance</a:t>
            </a:r>
          </a:p>
          <a:p>
            <a:pPr algn="l"/>
            <a:endParaRPr lang="en-US"/>
          </a:p>
        </p:txBody>
      </p:sp>
      <p:sp>
        <p:nvSpPr>
          <p:cNvPr id="17" name="Which comparison matters most?"/>
          <p:cNvSpPr/>
          <p:nvPr/>
        </p:nvSpPr>
        <p:spPr>
          <a:xfrm>
            <a:off x="3733354" y="3971479"/>
            <a:ext cx="2591544" cy="173652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Which comparison matters most?</a:t>
            </a:r>
          </a:p>
          <a:p>
            <a:pPr algn="l"/>
            <a:endParaRPr lang="en-US"/>
          </a:p>
        </p:txBody>
      </p:sp>
      <p:sp>
        <p:nvSpPr>
          <p:cNvPr id="18" name="Outcomes"/>
          <p:cNvSpPr/>
          <p:nvPr/>
        </p:nvSpPr>
        <p:spPr>
          <a:xfrm>
            <a:off x="6397972" y="3971479"/>
            <a:ext cx="3239542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Outcomes</a:t>
            </a:r>
          </a:p>
          <a:p>
            <a:pPr algn="l"/>
            <a:endParaRPr lang="en-US"/>
          </a:p>
        </p:txBody>
      </p:sp>
      <p:sp>
        <p:nvSpPr>
          <p:cNvPr id="19" name="Historical Significance"/>
          <p:cNvSpPr/>
          <p:nvPr/>
        </p:nvSpPr>
        <p:spPr>
          <a:xfrm>
            <a:off x="6397972" y="4876205"/>
            <a:ext cx="3239542" cy="83180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Historical Significance</a:t>
            </a:r>
          </a:p>
          <a:p>
            <a:pPr algn="l"/>
            <a:endParaRPr lang="en-US"/>
          </a:p>
        </p:txBody>
      </p:sp>
      <p:sp>
        <p:nvSpPr>
          <p:cNvPr id="20" name="Evidence"/>
          <p:cNvSpPr/>
          <p:nvPr/>
        </p:nvSpPr>
        <p:spPr>
          <a:xfrm>
            <a:off x="420886" y="5781080"/>
            <a:ext cx="9216628" cy="627608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Evidence</a:t>
            </a:r>
          </a:p>
          <a:p>
            <a:pPr algn="l"/>
            <a:endParaRPr lang="en-US"/>
          </a:p>
        </p:txBody>
      </p:sp>
      <p:cxnSp>
        <p:nvCxnSpPr>
          <p:cNvPr id="21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2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Sources Used: 1.________________ 2.________________ 3.________________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Skill Focus: Grades 9-12: historical inquiry, chronology, causation, perspective, source evaluation, claims/evidence, geographic interpretation, visual communication.</a:t>
            </a:r>
          </a:p>
        </p:txBody>
      </p:sp>
      <p:sp>
        <p:nvSpPr>
          <p:cNvPr id="24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23266"/>
      </a:dk2>
      <a:lt2>
        <a:srgbClr val="F4F8FC"/>
      </a:lt2>
      <a:accent1>
        <a:srgbClr val="054C8C"/>
      </a:accent1>
      <a:accent2>
        <a:srgbClr val="FBD239"/>
      </a:accent2>
      <a:accent3>
        <a:srgbClr val="238A8D"/>
      </a:accent3>
      <a:accent4>
        <a:srgbClr val="6D5AA8"/>
      </a:accent4>
      <a:accent5>
        <a:srgbClr val="D97A28"/>
      </a:accent5>
      <a:accent6>
        <a:srgbClr val="5A8F52"/>
      </a:accent6>
      <a:hlink>
        <a:srgbClr val="054C8C"/>
      </a:hlink>
      <a:folHlink>
        <a:srgbClr val="6D5AA8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History Event Maps</Application>
  <Slides>24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History Event Maps</dc:title>
  <dc:creator>TCEA / Miguel Guhlin</dc:creator>
  <cp:lastModifiedBy>TCEA</cp:lastModifiedBy>
</cp:coreProperties>
</file>