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0058400" cy="7772400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Ảnh chụp sự kiện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Điều gì gây ra?"/>
          <p:cNvSpPr/>
          <p:nvPr/>
        </p:nvSpPr>
        <p:spPr>
          <a:xfrm>
            <a:off x="420886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Điều gì gây ra?</a:t>
            </a:r>
          </a:p>
          <a:p>
            <a:pPr algn="l"/>
            <a:endParaRPr lang="en-US"/>
          </a:p>
        </p:txBody>
      </p:sp>
      <p:sp>
        <p:nvSpPr>
          <p:cNvPr id="8" name="Vì sao quan trọng?"/>
          <p:cNvSpPr/>
          <p:nvPr/>
        </p:nvSpPr>
        <p:spPr>
          <a:xfrm>
            <a:off x="3373338" y="1133921"/>
            <a:ext cx="3311575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 quan trọng?</a:t>
            </a:r>
          </a:p>
          <a:p>
            <a:pPr algn="l"/>
            <a:endParaRPr lang="en-US"/>
          </a:p>
        </p:txBody>
      </p:sp>
      <p:sp>
        <p:nvSpPr>
          <p:cNvPr id="9" name="Cuối cùng điều gì xảy ra?"/>
          <p:cNvSpPr/>
          <p:nvPr/>
        </p:nvSpPr>
        <p:spPr>
          <a:xfrm>
            <a:off x="6757988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Cuối cùng điều gì xảy ra?</a:t>
            </a:r>
          </a:p>
          <a:p>
            <a:pPr algn="l"/>
            <a:endParaRPr lang="en-US"/>
          </a:p>
        </p:txBody>
      </p:sp>
      <p:sp>
        <p:nvSpPr>
          <p:cNvPr id="10" name="Xảy ra như thế nào?"/>
          <p:cNvSpPr/>
          <p:nvPr/>
        </p:nvSpPr>
        <p:spPr>
          <a:xfrm>
            <a:off x="420886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Xảy ra như thế nào?</a:t>
            </a:r>
          </a:p>
          <a:p>
            <a:pPr algn="l"/>
            <a:endParaRPr lang="en-US"/>
          </a:p>
        </p:txBody>
      </p:sp>
      <p:sp>
        <p:nvSpPr>
          <p:cNvPr id="11" name="Sự kiện"/>
          <p:cNvSpPr/>
          <p:nvPr/>
        </p:nvSpPr>
        <p:spPr>
          <a:xfrm>
            <a:off x="3373338" y="3257550"/>
            <a:ext cx="3311575" cy="1476375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</p:txBody>
      </p:sp>
      <p:sp>
        <p:nvSpPr>
          <p:cNvPr id="12" name="Xảy ra khi nào?"/>
          <p:cNvSpPr/>
          <p:nvPr/>
        </p:nvSpPr>
        <p:spPr>
          <a:xfrm>
            <a:off x="6757988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Xảy ra khi nào?</a:t>
            </a:r>
          </a:p>
          <a:p>
            <a:pPr algn="l"/>
            <a:endParaRPr lang="en-US"/>
          </a:p>
        </p:txBody>
      </p:sp>
      <p:sp>
        <p:nvSpPr>
          <p:cNvPr id="13" name="Ai tham gia?"/>
          <p:cNvSpPr/>
          <p:nvPr/>
        </p:nvSpPr>
        <p:spPr>
          <a:xfrm>
            <a:off x="420886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Ai tham gia?</a:t>
            </a:r>
          </a:p>
          <a:p>
            <a:pPr algn="l"/>
            <a:endParaRPr lang="en-US"/>
          </a:p>
        </p:txBody>
      </p:sp>
      <p:sp>
        <p:nvSpPr>
          <p:cNvPr id="14" name="Xảy ra ở đâu?"/>
          <p:cNvSpPr/>
          <p:nvPr/>
        </p:nvSpPr>
        <p:spPr>
          <a:xfrm>
            <a:off x="3373338" y="4807000"/>
            <a:ext cx="3311575" cy="205070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Xảy ra ở đâu?</a:t>
            </a:r>
          </a:p>
          <a:p>
            <a:pPr algn="l"/>
            <a:endParaRPr lang="en-US"/>
          </a:p>
        </p:txBody>
      </p:sp>
      <p:sp>
        <p:nvSpPr>
          <p:cNvPr id="15" name="Bạn có thể kết luận gì?"/>
          <p:cNvSpPr/>
          <p:nvPr/>
        </p:nvSpPr>
        <p:spPr>
          <a:xfrm>
            <a:off x="6757988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Bạn có thể kết luận gì?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3–5: trình tự thời gian, nguyên nhân/kết quả, nguồn tư liệu, quan điểm, bản đồ, sơ đồ tổ chức, nhận định và bằng chứng.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Nguyên nhân → Sự kiện → Hệ quả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Vì sao quan trọng?"/>
          <p:cNvSpPr/>
          <p:nvPr/>
        </p:nvSpPr>
        <p:spPr>
          <a:xfrm>
            <a:off x="3379887" y="1133921"/>
            <a:ext cx="3298478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 quan trọng?</a:t>
            </a:r>
          </a:p>
          <a:p>
            <a:pPr algn="l"/>
            <a:endParaRPr lang="en-US"/>
          </a:p>
        </p:txBody>
      </p:sp>
      <p:sp>
        <p:nvSpPr>
          <p:cNvPr id="8" name="Điều gì gây ra?"/>
          <p:cNvSpPr/>
          <p:nvPr/>
        </p:nvSpPr>
        <p:spPr>
          <a:xfrm>
            <a:off x="420886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Điều gì gây ra?</a:t>
            </a:r>
          </a:p>
        </p:txBody>
      </p:sp>
      <p:sp>
        <p:nvSpPr>
          <p:cNvPr id="9" name="Sự kiện"/>
          <p:cNvSpPr/>
          <p:nvPr/>
        </p:nvSpPr>
        <p:spPr>
          <a:xfrm>
            <a:off x="3379887" y="2849761"/>
            <a:ext cx="3298478" cy="1469975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Tác động ngay"/>
          <p:cNvSpPr/>
          <p:nvPr/>
        </p:nvSpPr>
        <p:spPr>
          <a:xfrm>
            <a:off x="6751439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ngay</a:t>
            </a:r>
          </a:p>
        </p:txBody>
      </p:sp>
      <p:sp>
        <p:nvSpPr>
          <p:cNvPr id="11" name="Ai tham gia?"/>
          <p:cNvSpPr/>
          <p:nvPr/>
        </p:nvSpPr>
        <p:spPr>
          <a:xfrm>
            <a:off x="420886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Ai tham gia?</a:t>
            </a:r>
          </a:p>
          <a:p>
            <a:pPr algn="l"/>
            <a:endParaRPr lang="en-US"/>
          </a:p>
        </p:txBody>
      </p:sp>
      <p:sp>
        <p:nvSpPr>
          <p:cNvPr id="12" name="Tác động về sau / lâu dài"/>
          <p:cNvSpPr/>
          <p:nvPr/>
        </p:nvSpPr>
        <p:spPr>
          <a:xfrm>
            <a:off x="6751439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về sau / lâu dài</a:t>
            </a:r>
          </a:p>
          <a:p>
            <a:pPr algn="l"/>
            <a:endParaRPr lang="en-US"/>
          </a:p>
        </p:txBody>
      </p:sp>
      <p:sp>
        <p:nvSpPr>
          <p:cNvPr id="13" name="Bạn có thể kết luận gì?"/>
          <p:cNvSpPr/>
          <p:nvPr/>
        </p:nvSpPr>
        <p:spPr>
          <a:xfrm>
            <a:off x="3379887" y="6195120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Bạn có thể kết luận gì?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3–5: trình tự thời gian, nguyên nhân/kết quả, nguồn tư liệu, quan điểm, bản đồ, sơ đồ tổ chức, nhận định và bằng chứng.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Đường trình tự sự kiện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Trình tự (thứ tự các sự kiện)"/>
          <p:cNvSpPr/>
          <p:nvPr/>
        </p:nvSpPr>
        <p:spPr>
          <a:xfrm>
            <a:off x="420886" y="4469755"/>
            <a:ext cx="9216628" cy="2387947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Trình tự (thứ tự các sự kiện)</a:t>
            </a:r>
          </a:p>
          <a:p>
            <a:pPr algn="ctr"/>
            <a:endParaRPr lang="en-US"/>
          </a:p>
        </p:txBody>
      </p:sp>
      <p:sp>
        <p:nvSpPr>
          <p:cNvPr id="8" name="Xảy ra ở đâu?"/>
          <p:cNvSpPr/>
          <p:nvPr/>
        </p:nvSpPr>
        <p:spPr>
          <a:xfrm>
            <a:off x="420886" y="1133921"/>
            <a:ext cx="2885926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Xảy ra ở đâu?</a:t>
            </a:r>
          </a:p>
          <a:p>
            <a:pPr algn="l"/>
            <a:endParaRPr lang="en-US"/>
          </a:p>
        </p:txBody>
      </p:sp>
      <p:sp>
        <p:nvSpPr>
          <p:cNvPr id="9" name="Sự kiện"/>
          <p:cNvSpPr/>
          <p:nvPr/>
        </p:nvSpPr>
        <p:spPr>
          <a:xfrm>
            <a:off x="3379887" y="1133921"/>
            <a:ext cx="3298478" cy="207659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Xảy ra khi nào?"/>
          <p:cNvSpPr/>
          <p:nvPr/>
        </p:nvSpPr>
        <p:spPr>
          <a:xfrm>
            <a:off x="6751439" y="113392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Xảy ra khi nào?</a:t>
            </a:r>
          </a:p>
          <a:p>
            <a:pPr algn="l"/>
            <a:endParaRPr lang="en-US"/>
          </a:p>
        </p:txBody>
      </p:sp>
      <p:sp>
        <p:nvSpPr>
          <p:cNvPr id="11" name="Bắt đầu"/>
          <p:cNvSpPr/>
          <p:nvPr/>
        </p:nvSpPr>
        <p:spPr>
          <a:xfrm>
            <a:off x="420886" y="226427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Bắt đầu</a:t>
            </a:r>
          </a:p>
          <a:p>
            <a:pPr algn="l"/>
            <a:endParaRPr lang="en-US"/>
          </a:p>
        </p:txBody>
      </p:sp>
      <p:sp>
        <p:nvSpPr>
          <p:cNvPr id="12" name="Ai tham gia?"/>
          <p:cNvSpPr/>
          <p:nvPr/>
        </p:nvSpPr>
        <p:spPr>
          <a:xfrm>
            <a:off x="6751439" y="226427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Ai tham gia?</a:t>
            </a:r>
          </a:p>
          <a:p>
            <a:pPr algn="l"/>
            <a:endParaRPr lang="en-US"/>
          </a:p>
        </p:txBody>
      </p:sp>
      <p:sp>
        <p:nvSpPr>
          <p:cNvPr id="13" name="Kết thúc"/>
          <p:cNvSpPr/>
          <p:nvPr/>
        </p:nvSpPr>
        <p:spPr>
          <a:xfrm>
            <a:off x="420886" y="3283595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Kết thúc</a:t>
            </a:r>
          </a:p>
          <a:p>
            <a:pPr algn="l"/>
            <a:endParaRPr lang="en-US"/>
          </a:p>
        </p:txBody>
      </p:sp>
      <p:sp>
        <p:nvSpPr>
          <p:cNvPr id="14" name="Vì sao quan trọng?"/>
          <p:cNvSpPr/>
          <p:nvPr/>
        </p:nvSpPr>
        <p:spPr>
          <a:xfrm>
            <a:off x="3379887" y="3283595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 quan trọng?</a:t>
            </a:r>
          </a:p>
          <a:p>
            <a:pPr algn="l"/>
            <a:endParaRPr lang="en-US"/>
          </a:p>
        </p:txBody>
      </p:sp>
      <p:sp>
        <p:nvSpPr>
          <p:cNvPr id="15" name="label"/>
          <p:cNvSpPr txBox="1"/>
          <p:nvPr/>
        </p:nvSpPr>
        <p:spPr>
          <a:xfrm>
            <a:off x="549473" y="4723209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1.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549473" y="4897041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2.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549473" y="5070723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3.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549473" y="5244405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4.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549473" y="5418237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5.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3–5: trình tự thời gian, nguyên nhân/kết quả, nguồn tư liệu, quan điểm, bản đồ, sơ đồ tổ chức, nhận định và bằng chứng.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Con người và nhóm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Lãnh đạo quan trọng"/>
          <p:cNvSpPr/>
          <p:nvPr/>
        </p:nvSpPr>
        <p:spPr>
          <a:xfrm>
            <a:off x="420886" y="1133921"/>
            <a:ext cx="3415010" cy="2768352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Lãnh đạo quan trọng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Vì sao người này quan trọng?"/>
          <p:cNvSpPr/>
          <p:nvPr/>
        </p:nvSpPr>
        <p:spPr>
          <a:xfrm>
            <a:off x="420886" y="3975348"/>
            <a:ext cx="3415010" cy="28823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 người này quan trọng?</a:t>
            </a:r>
          </a:p>
          <a:p>
            <a:pPr algn="l"/>
            <a:endParaRPr lang="en-US"/>
          </a:p>
        </p:txBody>
      </p:sp>
      <p:sp>
        <p:nvSpPr>
          <p:cNvPr id="9" name="Nhóm 1"/>
          <p:cNvSpPr/>
          <p:nvPr/>
        </p:nvSpPr>
        <p:spPr>
          <a:xfrm>
            <a:off x="3945582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Nhóm 1</a:t>
            </a:r>
          </a:p>
          <a:p>
            <a:pPr algn="ctr"/>
            <a:endParaRPr lang="en-US"/>
          </a:p>
        </p:txBody>
      </p:sp>
      <p:sp>
        <p:nvSpPr>
          <p:cNvPr id="10" name="Nhóm 1 muốn gì?"/>
          <p:cNvSpPr/>
          <p:nvPr/>
        </p:nvSpPr>
        <p:spPr>
          <a:xfrm>
            <a:off x="3945582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Nhóm 1 muốn gì?</a:t>
            </a:r>
          </a:p>
          <a:p>
            <a:pPr algn="l"/>
            <a:endParaRPr lang="en-US"/>
          </a:p>
        </p:txBody>
      </p:sp>
      <p:sp>
        <p:nvSpPr>
          <p:cNvPr id="11" name="Bạn có thể kết luận gì?"/>
          <p:cNvSpPr/>
          <p:nvPr/>
        </p:nvSpPr>
        <p:spPr>
          <a:xfrm>
            <a:off x="3945582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Bạn có thể kết luận gì?</a:t>
            </a:r>
          </a:p>
          <a:p>
            <a:pPr algn="l"/>
            <a:endParaRPr lang="en-US"/>
          </a:p>
        </p:txBody>
      </p:sp>
      <p:sp>
        <p:nvSpPr>
          <p:cNvPr id="12" name="Nhóm 2"/>
          <p:cNvSpPr/>
          <p:nvPr/>
        </p:nvSpPr>
        <p:spPr>
          <a:xfrm>
            <a:off x="5867251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Nhóm 2</a:t>
            </a:r>
          </a:p>
          <a:p>
            <a:pPr algn="ctr"/>
            <a:endParaRPr lang="en-US"/>
          </a:p>
        </p:txBody>
      </p:sp>
      <p:sp>
        <p:nvSpPr>
          <p:cNvPr id="13" name="Nhóm 2 muốn gì?"/>
          <p:cNvSpPr/>
          <p:nvPr/>
        </p:nvSpPr>
        <p:spPr>
          <a:xfrm>
            <a:off x="5867251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Nhóm 2 muốn gì?</a:t>
            </a:r>
          </a:p>
          <a:p>
            <a:pPr algn="l"/>
            <a:endParaRPr lang="en-US"/>
          </a:p>
        </p:txBody>
      </p:sp>
      <p:sp>
        <p:nvSpPr>
          <p:cNvPr id="14" name="Kết quả"/>
          <p:cNvSpPr/>
          <p:nvPr/>
        </p:nvSpPr>
        <p:spPr>
          <a:xfrm>
            <a:off x="5867251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Kết quả</a:t>
            </a:r>
          </a:p>
          <a:p>
            <a:pPr algn="l"/>
            <a:endParaRPr lang="en-US"/>
          </a:p>
        </p:txBody>
      </p:sp>
      <p:sp>
        <p:nvSpPr>
          <p:cNvPr id="15" name="Nhóm 3"/>
          <p:cNvSpPr/>
          <p:nvPr/>
        </p:nvSpPr>
        <p:spPr>
          <a:xfrm>
            <a:off x="7788920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Nhóm 3</a:t>
            </a:r>
          </a:p>
          <a:p>
            <a:pPr algn="ctr"/>
            <a:endParaRPr lang="en-US"/>
          </a:p>
        </p:txBody>
      </p:sp>
      <p:sp>
        <p:nvSpPr>
          <p:cNvPr id="16" name="Nhóm 3 muốn gì?"/>
          <p:cNvSpPr/>
          <p:nvPr/>
        </p:nvSpPr>
        <p:spPr>
          <a:xfrm>
            <a:off x="7788920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Nhóm 3 muốn gì?</a:t>
            </a:r>
          </a:p>
          <a:p>
            <a:pPr algn="l"/>
            <a:endParaRPr lang="en-US"/>
          </a:p>
        </p:txBody>
      </p:sp>
      <p:sp>
        <p:nvSpPr>
          <p:cNvPr id="17" name="Kết quả"/>
          <p:cNvSpPr/>
          <p:nvPr/>
        </p:nvSpPr>
        <p:spPr>
          <a:xfrm>
            <a:off x="7788920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Kết quả</a:t>
            </a:r>
          </a:p>
          <a:p>
            <a:pPr algn="l"/>
            <a:endParaRPr lang="en-US"/>
          </a:p>
        </p:txBody>
      </p:sp>
      <p:cxnSp>
        <p:nvCxnSpPr>
          <p:cNvPr id="18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9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20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3–5: trình tự thời gian, nguyên nhân/kết quả, nguồn tư liệu, quan điểm, bản đồ, sơ đồ tổ chức, nhận định và bằng chứng.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Địa điểm quan trọng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Đặc điểm tự nhiên"/>
          <p:cNvSpPr/>
          <p:nvPr/>
        </p:nvSpPr>
        <p:spPr>
          <a:xfrm>
            <a:off x="420886" y="1133921"/>
            <a:ext cx="3169741" cy="281612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Đặc điểm tự nhiên</a:t>
            </a:r>
          </a:p>
          <a:p>
            <a:pPr algn="l"/>
            <a:endParaRPr lang="en-US"/>
          </a:p>
        </p:txBody>
      </p:sp>
      <p:sp>
        <p:nvSpPr>
          <p:cNvPr id="8" name="Sự kiện"/>
          <p:cNvSpPr/>
          <p:nvPr/>
        </p:nvSpPr>
        <p:spPr>
          <a:xfrm>
            <a:off x="3682008" y="1133921"/>
            <a:ext cx="2694236" cy="281612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</p:txBody>
      </p:sp>
      <p:sp>
        <p:nvSpPr>
          <p:cNvPr id="9" name="Đặc điểm con người"/>
          <p:cNvSpPr/>
          <p:nvPr/>
        </p:nvSpPr>
        <p:spPr>
          <a:xfrm>
            <a:off x="6467624" y="1133921"/>
            <a:ext cx="3169890" cy="281612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Đặc điểm con người</a:t>
            </a:r>
          </a:p>
          <a:p>
            <a:pPr algn="l"/>
            <a:endParaRPr lang="en-US"/>
          </a:p>
        </p:txBody>
      </p:sp>
      <p:sp>
        <p:nvSpPr>
          <p:cNvPr id="10" name="Vì sao xảy ra ở đây?"/>
          <p:cNvSpPr/>
          <p:nvPr/>
        </p:nvSpPr>
        <p:spPr>
          <a:xfrm>
            <a:off x="420886" y="4041428"/>
            <a:ext cx="3169741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 xảy ra ở đây?</a:t>
            </a:r>
          </a:p>
          <a:p>
            <a:pPr algn="l"/>
            <a:endParaRPr lang="en-US"/>
          </a:p>
        </p:txBody>
      </p:sp>
      <p:sp>
        <p:nvSpPr>
          <p:cNvPr id="11" name="Di chuyển / Tuyến đường"/>
          <p:cNvSpPr/>
          <p:nvPr/>
        </p:nvSpPr>
        <p:spPr>
          <a:xfrm>
            <a:off x="3682008" y="4041428"/>
            <a:ext cx="2694236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Di chuyển / Tuyến đường</a:t>
            </a:r>
          </a:p>
          <a:p>
            <a:pPr algn="l"/>
            <a:endParaRPr lang="en-US"/>
          </a:p>
        </p:txBody>
      </p:sp>
      <p:sp>
        <p:nvSpPr>
          <p:cNvPr id="12" name="Địa điểm ảnh hưởng thế nào?"/>
          <p:cNvSpPr/>
          <p:nvPr/>
        </p:nvSpPr>
        <p:spPr>
          <a:xfrm>
            <a:off x="6467624" y="4041428"/>
            <a:ext cx="3169890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Địa điểm ảnh hưởng thế nào?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3–5: trình tự thời gian, nguyên nhân/kết quả, nguồn tư liệu, quan điểm, bản đồ, sơ đồ tổ chức, nhận định và bằng chứng.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Trước và Sau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Trước"/>
          <p:cNvSpPr/>
          <p:nvPr/>
        </p:nvSpPr>
        <p:spPr>
          <a:xfrm>
            <a:off x="420886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Trước</a:t>
            </a:r>
          </a:p>
          <a:p>
            <a:pPr algn="l"/>
            <a:endParaRPr lang="en-US"/>
          </a:p>
        </p:txBody>
      </p:sp>
      <p:sp>
        <p:nvSpPr>
          <p:cNvPr id="8" name="Sự kiện"/>
          <p:cNvSpPr/>
          <p:nvPr/>
        </p:nvSpPr>
        <p:spPr>
          <a:xfrm>
            <a:off x="3614738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  <a:p>
            <a:pPr algn="l"/>
            <a:endParaRPr lang="en-US"/>
          </a:p>
        </p:txBody>
      </p:sp>
      <p:sp>
        <p:nvSpPr>
          <p:cNvPr id="9" name="Sau"/>
          <p:cNvSpPr/>
          <p:nvPr/>
        </p:nvSpPr>
        <p:spPr>
          <a:xfrm>
            <a:off x="6808589" y="1133921"/>
            <a:ext cx="2828925" cy="28116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Sau</a:t>
            </a:r>
          </a:p>
          <a:p>
            <a:pPr algn="l"/>
            <a:endParaRPr lang="en-US"/>
          </a:p>
        </p:txBody>
      </p:sp>
      <p:sp>
        <p:nvSpPr>
          <p:cNvPr id="10" name="Điều gì thay đổi?"/>
          <p:cNvSpPr/>
          <p:nvPr/>
        </p:nvSpPr>
        <p:spPr>
          <a:xfrm>
            <a:off x="420886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Điều gì thay đổi?</a:t>
            </a:r>
          </a:p>
          <a:p>
            <a:pPr algn="l"/>
            <a:endParaRPr lang="en-US"/>
          </a:p>
        </p:txBody>
      </p:sp>
      <p:sp>
        <p:nvSpPr>
          <p:cNvPr id="11" name="Điều gì vẫn như cũ?"/>
          <p:cNvSpPr/>
          <p:nvPr/>
        </p:nvSpPr>
        <p:spPr>
          <a:xfrm>
            <a:off x="5074890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Điều gì vẫn như cũ?</a:t>
            </a:r>
          </a:p>
          <a:p>
            <a:pPr algn="l"/>
            <a:endParaRPr lang="en-US"/>
          </a:p>
        </p:txBody>
      </p:sp>
      <p:sp>
        <p:nvSpPr>
          <p:cNvPr id="12" name="arrow"/>
          <p:cNvSpPr txBox="1"/>
          <p:nvPr/>
        </p:nvSpPr>
        <p:spPr>
          <a:xfrm>
            <a:off x="3171289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3" name="arrow"/>
          <p:cNvSpPr txBox="1"/>
          <p:nvPr/>
        </p:nvSpPr>
        <p:spPr>
          <a:xfrm>
            <a:off x="6365141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3–5: trình tự thời gian, nguyên nhân/kết quả, nguồn tư liệu, quan điểm, bản đồ, sơ đồ tổ chức, nhận định và bằng chứng.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Bản đồ bằng chứng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Nguồn 1"/>
          <p:cNvSpPr/>
          <p:nvPr/>
        </p:nvSpPr>
        <p:spPr>
          <a:xfrm>
            <a:off x="420886" y="1133921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Nguồn 1</a:t>
            </a:r>
          </a:p>
          <a:p>
            <a:pPr algn="l"/>
            <a:endParaRPr lang="en-US"/>
          </a:p>
        </p:txBody>
      </p:sp>
      <p:sp>
        <p:nvSpPr>
          <p:cNvPr id="8" name="Chi tiết hoặc bằng chứng hữu ích"/>
          <p:cNvSpPr/>
          <p:nvPr/>
        </p:nvSpPr>
        <p:spPr>
          <a:xfrm>
            <a:off x="420886" y="2913757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Chi tiết hoặc bằng chứng hữu ích</a:t>
            </a:r>
          </a:p>
          <a:p>
            <a:pPr algn="l"/>
            <a:endParaRPr lang="en-US"/>
          </a:p>
        </p:txBody>
      </p:sp>
      <p:sp>
        <p:nvSpPr>
          <p:cNvPr id="9" name="Nguồn 2"/>
          <p:cNvSpPr/>
          <p:nvPr/>
        </p:nvSpPr>
        <p:spPr>
          <a:xfrm>
            <a:off x="3523506" y="1133921"/>
            <a:ext cx="3011239" cy="171628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Nguồn 2</a:t>
            </a:r>
          </a:p>
          <a:p>
            <a:pPr algn="l"/>
            <a:endParaRPr lang="en-US"/>
          </a:p>
        </p:txBody>
      </p:sp>
      <p:sp>
        <p:nvSpPr>
          <p:cNvPr id="10" name="Chi tiết hoặc bằng chứng hữu ích"/>
          <p:cNvSpPr/>
          <p:nvPr/>
        </p:nvSpPr>
        <p:spPr>
          <a:xfrm>
            <a:off x="3523506" y="2923282"/>
            <a:ext cx="3011239" cy="169723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Chi tiết hoặc bằng chứng hữu ích</a:t>
            </a:r>
          </a:p>
          <a:p>
            <a:pPr algn="l"/>
            <a:endParaRPr lang="en-US"/>
          </a:p>
        </p:txBody>
      </p:sp>
      <p:sp>
        <p:nvSpPr>
          <p:cNvPr id="11" name="Nguồn 3"/>
          <p:cNvSpPr/>
          <p:nvPr/>
        </p:nvSpPr>
        <p:spPr>
          <a:xfrm>
            <a:off x="6626126" y="1133921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Nguồn 3</a:t>
            </a:r>
          </a:p>
          <a:p>
            <a:pPr algn="l"/>
            <a:endParaRPr lang="en-US"/>
          </a:p>
        </p:txBody>
      </p:sp>
      <p:sp>
        <p:nvSpPr>
          <p:cNvPr id="12" name="Chi tiết hoặc bằng chứng hữu ích"/>
          <p:cNvSpPr/>
          <p:nvPr/>
        </p:nvSpPr>
        <p:spPr>
          <a:xfrm>
            <a:off x="6626126" y="2913757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Chi tiết hoặc bằng chứng hữu ích</a:t>
            </a:r>
          </a:p>
          <a:p>
            <a:pPr algn="l"/>
            <a:endParaRPr lang="en-US"/>
          </a:p>
        </p:txBody>
      </p:sp>
      <p:sp>
        <p:nvSpPr>
          <p:cNvPr id="13" name="Bạn có thể kết luận gì?"/>
          <p:cNvSpPr/>
          <p:nvPr/>
        </p:nvSpPr>
        <p:spPr>
          <a:xfrm>
            <a:off x="420886" y="4711898"/>
            <a:ext cx="9216628" cy="214580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Bạn có thể kết luận gì?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3–5: trình tự thời gian, nguyên nhân/kết quả, nguồn tư liệu, quan điểm, bản đồ, sơ đồ tổ chức, nhận định và bằng chứng.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Vì sao quan trọng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Sự kiện"/>
          <p:cNvSpPr/>
          <p:nvPr/>
        </p:nvSpPr>
        <p:spPr>
          <a:xfrm>
            <a:off x="420886" y="1133921"/>
            <a:ext cx="2580977" cy="496996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</p:txBody>
      </p:sp>
      <p:sp>
        <p:nvSpPr>
          <p:cNvPr id="8" name="Tác động đến con người"/>
          <p:cNvSpPr/>
          <p:nvPr/>
        </p:nvSpPr>
        <p:spPr>
          <a:xfrm>
            <a:off x="3093244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đến con người</a:t>
            </a:r>
          </a:p>
          <a:p>
            <a:pPr algn="l"/>
            <a:endParaRPr lang="en-US"/>
          </a:p>
        </p:txBody>
      </p:sp>
      <p:sp>
        <p:nvSpPr>
          <p:cNvPr id="9" name="Tác động đến chính quyền"/>
          <p:cNvSpPr/>
          <p:nvPr/>
        </p:nvSpPr>
        <p:spPr>
          <a:xfrm>
            <a:off x="6411069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đến chính quyền</a:t>
            </a:r>
          </a:p>
          <a:p>
            <a:pPr algn="l"/>
            <a:endParaRPr lang="en-US"/>
          </a:p>
        </p:txBody>
      </p:sp>
      <p:sp>
        <p:nvSpPr>
          <p:cNvPr id="10" name="Tác động đến kinh tế"/>
          <p:cNvSpPr/>
          <p:nvPr/>
        </p:nvSpPr>
        <p:spPr>
          <a:xfrm>
            <a:off x="3093244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đến kinh tế</a:t>
            </a:r>
          </a:p>
          <a:p>
            <a:pPr algn="l"/>
            <a:endParaRPr lang="en-US"/>
          </a:p>
        </p:txBody>
      </p:sp>
      <p:sp>
        <p:nvSpPr>
          <p:cNvPr id="11" name="Tác động đến cộng đồng / văn hóa"/>
          <p:cNvSpPr/>
          <p:nvPr/>
        </p:nvSpPr>
        <p:spPr>
          <a:xfrm>
            <a:off x="6411069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đến cộng đồng / văn hóa</a:t>
            </a:r>
          </a:p>
          <a:p>
            <a:pPr algn="l"/>
            <a:endParaRPr lang="en-US"/>
          </a:p>
        </p:txBody>
      </p:sp>
      <p:sp>
        <p:nvSpPr>
          <p:cNvPr id="12" name="Thay đổi nào quan trọng nhất?"/>
          <p:cNvSpPr/>
          <p:nvPr/>
        </p:nvSpPr>
        <p:spPr>
          <a:xfrm>
            <a:off x="420886" y="6195268"/>
            <a:ext cx="2580977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Thay đổi nào quan trọng nhất?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3–5: trình tự thời gian, nguyên nhân/kết quả, nguồn tư liệu, quan điểm, bản đồ, sơ đồ tổ chức, nhận định và bằng chứng.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Điều tra sự kiện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Điều gì gây ra?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Điều gì gây ra?</a:t>
            </a:r>
          </a:p>
          <a:p>
            <a:pPr algn="l"/>
            <a:endParaRPr lang="en-US"/>
          </a:p>
        </p:txBody>
      </p:sp>
      <p:sp>
        <p:nvSpPr>
          <p:cNvPr id="8" name="Vì sao quan trọng?"/>
          <p:cNvSpPr/>
          <p:nvPr/>
        </p:nvSpPr>
        <p:spPr>
          <a:xfrm>
            <a:off x="3373338" y="1133921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 quan trọng?</a:t>
            </a:r>
          </a:p>
          <a:p>
            <a:pPr algn="l"/>
            <a:endParaRPr lang="en-US"/>
          </a:p>
        </p:txBody>
      </p:sp>
      <p:sp>
        <p:nvSpPr>
          <p:cNvPr id="9" name="Kết quả"/>
          <p:cNvSpPr/>
          <p:nvPr/>
        </p:nvSpPr>
        <p:spPr>
          <a:xfrm>
            <a:off x="6757839" y="1133921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Kết quả</a:t>
            </a:r>
          </a:p>
          <a:p>
            <a:pPr algn="l"/>
            <a:endParaRPr lang="en-US"/>
          </a:p>
        </p:txBody>
      </p:sp>
      <p:sp>
        <p:nvSpPr>
          <p:cNvPr id="10" name="Xảy ra như thế nào?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Xảy ra như thế nào?</a:t>
            </a:r>
          </a:p>
          <a:p>
            <a:pPr algn="l"/>
            <a:endParaRPr lang="en-US"/>
          </a:p>
        </p:txBody>
      </p:sp>
      <p:sp>
        <p:nvSpPr>
          <p:cNvPr id="11" name="Sự kiện"/>
          <p:cNvSpPr/>
          <p:nvPr/>
        </p:nvSpPr>
        <p:spPr>
          <a:xfrm>
            <a:off x="3373338" y="3066157"/>
            <a:ext cx="3311426" cy="1859161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</p:txBody>
      </p:sp>
      <p:sp>
        <p:nvSpPr>
          <p:cNvPr id="12" name="Xảy ra khi nào?"/>
          <p:cNvSpPr/>
          <p:nvPr/>
        </p:nvSpPr>
        <p:spPr>
          <a:xfrm>
            <a:off x="6757839" y="3066157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Xảy ra khi nào?</a:t>
            </a:r>
          </a:p>
          <a:p>
            <a:pPr algn="l"/>
            <a:endParaRPr lang="en-US"/>
          </a:p>
        </p:txBody>
      </p:sp>
      <p:sp>
        <p:nvSpPr>
          <p:cNvPr id="13" name="Các nhóm tham gia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Các nhóm tham gia</a:t>
            </a:r>
          </a:p>
          <a:p>
            <a:pPr algn="l"/>
            <a:endParaRPr lang="en-US"/>
          </a:p>
        </p:txBody>
      </p:sp>
      <p:sp>
        <p:nvSpPr>
          <p:cNvPr id="14" name="Xảy ra ở đâu?"/>
          <p:cNvSpPr/>
          <p:nvPr/>
        </p:nvSpPr>
        <p:spPr>
          <a:xfrm>
            <a:off x="3373338" y="4998393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Xảy ra ở đâu?</a:t>
            </a:r>
          </a:p>
          <a:p>
            <a:pPr algn="l"/>
            <a:endParaRPr lang="en-US"/>
          </a:p>
        </p:txBody>
      </p:sp>
      <p:sp>
        <p:nvSpPr>
          <p:cNvPr id="15" name="Lãnh đạo quan trọng"/>
          <p:cNvSpPr/>
          <p:nvPr/>
        </p:nvSpPr>
        <p:spPr>
          <a:xfrm>
            <a:off x="6757839" y="4998393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Lãnh đạo quan trọng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6–8: nghiên cứu, trình tự thời gian, nguyên nhân/kết quả, so sánh, bối cảnh lịch sử, góc nhìn, đánh giá nguồn tư liệu và trình bày trực quan.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Nguyên nhân dưới áp lực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Nguyên nhân dài hạn"/>
          <p:cNvSpPr/>
          <p:nvPr/>
        </p:nvSpPr>
        <p:spPr>
          <a:xfrm>
            <a:off x="420886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dài hạn</a:t>
            </a:r>
          </a:p>
          <a:p>
            <a:pPr algn="l"/>
            <a:endParaRPr lang="en-US"/>
          </a:p>
        </p:txBody>
      </p:sp>
      <p:sp>
        <p:nvSpPr>
          <p:cNvPr id="8" name="Nguyên nhân ngắn hạn"/>
          <p:cNvSpPr/>
          <p:nvPr/>
        </p:nvSpPr>
        <p:spPr>
          <a:xfrm>
            <a:off x="2816275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ngắn hạn</a:t>
            </a:r>
          </a:p>
          <a:p>
            <a:pPr algn="l"/>
            <a:endParaRPr lang="en-US"/>
          </a:p>
        </p:txBody>
      </p:sp>
      <p:sp>
        <p:nvSpPr>
          <p:cNvPr id="9" name="Tác nhân khởi phát"/>
          <p:cNvSpPr/>
          <p:nvPr/>
        </p:nvSpPr>
        <p:spPr>
          <a:xfrm>
            <a:off x="5211663" y="1133921"/>
            <a:ext cx="2030462" cy="2964359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nhân khởi phát</a:t>
            </a:r>
          </a:p>
          <a:p>
            <a:pPr algn="l"/>
            <a:endParaRPr lang="en-US"/>
          </a:p>
        </p:txBody>
      </p:sp>
      <p:sp>
        <p:nvSpPr>
          <p:cNvPr id="10" name="Sự kiện"/>
          <p:cNvSpPr/>
          <p:nvPr/>
        </p:nvSpPr>
        <p:spPr>
          <a:xfrm>
            <a:off x="7626102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  <a:p>
            <a:pPr algn="l"/>
            <a:endParaRPr lang="en-US"/>
          </a:p>
        </p:txBody>
      </p:sp>
      <p:sp>
        <p:nvSpPr>
          <p:cNvPr id="11" name="Tác động ngay"/>
          <p:cNvSpPr/>
          <p:nvPr/>
        </p:nvSpPr>
        <p:spPr>
          <a:xfrm>
            <a:off x="420886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ngay</a:t>
            </a:r>
          </a:p>
          <a:p>
            <a:pPr algn="l"/>
            <a:endParaRPr lang="en-US"/>
          </a:p>
        </p:txBody>
      </p:sp>
      <p:sp>
        <p:nvSpPr>
          <p:cNvPr id="12" name="Tác động về sau / lâu dài"/>
          <p:cNvSpPr/>
          <p:nvPr/>
        </p:nvSpPr>
        <p:spPr>
          <a:xfrm>
            <a:off x="5074890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về sau / lâu dài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372826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4768215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5" name="arrow"/>
          <p:cNvSpPr txBox="1"/>
          <p:nvPr/>
        </p:nvSpPr>
        <p:spPr>
          <a:xfrm>
            <a:off x="7182654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6–8: nghiên cứu, trình tự thời gian, nguyên nhân/kết quả, so sánh, bối cảnh lịch sử, góc nhìn, đánh giá nguồn tư liệu và trình bày trực quan.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Bản đồ bước ngoặt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Trước"/>
          <p:cNvSpPr/>
          <p:nvPr/>
        </p:nvSpPr>
        <p:spPr>
          <a:xfrm>
            <a:off x="420886" y="1133921"/>
            <a:ext cx="2411909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Trước</a:t>
            </a:r>
          </a:p>
          <a:p>
            <a:pPr algn="l"/>
            <a:endParaRPr lang="en-US"/>
          </a:p>
        </p:txBody>
      </p:sp>
      <p:sp>
        <p:nvSpPr>
          <p:cNvPr id="8" name="Bước ngoặt"/>
          <p:cNvSpPr/>
          <p:nvPr/>
        </p:nvSpPr>
        <p:spPr>
          <a:xfrm>
            <a:off x="382309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Bước ngoặt</a:t>
            </a:r>
          </a:p>
          <a:p>
            <a:pPr algn="l"/>
            <a:endParaRPr lang="en-US"/>
          </a:p>
        </p:txBody>
      </p:sp>
      <p:sp>
        <p:nvSpPr>
          <p:cNvPr id="9" name="Sau"/>
          <p:cNvSpPr/>
          <p:nvPr/>
        </p:nvSpPr>
        <p:spPr>
          <a:xfrm>
            <a:off x="722545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Sau</a:t>
            </a:r>
          </a:p>
          <a:p>
            <a:pPr algn="l"/>
            <a:endParaRPr lang="en-US"/>
          </a:p>
        </p:txBody>
      </p:sp>
      <p:sp>
        <p:nvSpPr>
          <p:cNvPr id="10" name="Áp lực tích tụ"/>
          <p:cNvSpPr/>
          <p:nvPr/>
        </p:nvSpPr>
        <p:spPr>
          <a:xfrm>
            <a:off x="420886" y="4346228"/>
            <a:ext cx="332913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Áp lực tích tụ</a:t>
            </a:r>
          </a:p>
          <a:p>
            <a:pPr algn="l"/>
            <a:endParaRPr lang="en-US"/>
          </a:p>
        </p:txBody>
      </p:sp>
      <p:sp>
        <p:nvSpPr>
          <p:cNvPr id="11" name="Thay đổi dài hạn"/>
          <p:cNvSpPr/>
          <p:nvPr/>
        </p:nvSpPr>
        <p:spPr>
          <a:xfrm>
            <a:off x="3823097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Thay đổi dài hạn</a:t>
            </a:r>
          </a:p>
          <a:p>
            <a:pPr algn="l"/>
            <a:endParaRPr lang="en-US"/>
          </a:p>
        </p:txBody>
      </p:sp>
      <p:sp>
        <p:nvSpPr>
          <p:cNvPr id="12" name="Vì sao đây là bước ngoặt?"/>
          <p:cNvSpPr/>
          <p:nvPr/>
        </p:nvSpPr>
        <p:spPr>
          <a:xfrm>
            <a:off x="6775996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 đây là bước ngoặt?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90586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630822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6–8: nghiên cứu, trình tự thời gian, nguyên nhân/kết quả, so sánh, bối cảnh lịch sử, góc nhìn, đánh giá nguồn tư liệu và trình bày trực quan.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Nhiều góc nhìn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Nhóm 1"/>
          <p:cNvSpPr/>
          <p:nvPr/>
        </p:nvSpPr>
        <p:spPr>
          <a:xfrm>
            <a:off x="420886" y="1133921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Nhóm 1</a:t>
            </a:r>
          </a:p>
          <a:p>
            <a:pPr algn="l"/>
            <a:endParaRPr lang="en-US"/>
          </a:p>
        </p:txBody>
      </p:sp>
      <p:sp>
        <p:nvSpPr>
          <p:cNvPr id="8" name="Sự kiện"/>
          <p:cNvSpPr/>
          <p:nvPr/>
        </p:nvSpPr>
        <p:spPr>
          <a:xfrm>
            <a:off x="3792289" y="1133921"/>
            <a:ext cx="2473672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</p:txBody>
      </p:sp>
      <p:sp>
        <p:nvSpPr>
          <p:cNvPr id="9" name="Nhóm 2"/>
          <p:cNvSpPr/>
          <p:nvPr/>
        </p:nvSpPr>
        <p:spPr>
          <a:xfrm>
            <a:off x="6339036" y="1133921"/>
            <a:ext cx="3298478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Nhóm 2</a:t>
            </a:r>
          </a:p>
          <a:p>
            <a:pPr algn="l"/>
            <a:endParaRPr lang="en-US"/>
          </a:p>
        </p:txBody>
      </p:sp>
      <p:sp>
        <p:nvSpPr>
          <p:cNvPr id="10" name="Nhóm 3"/>
          <p:cNvSpPr/>
          <p:nvPr/>
        </p:nvSpPr>
        <p:spPr>
          <a:xfrm>
            <a:off x="420886" y="3272730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Nhóm 3</a:t>
            </a:r>
          </a:p>
          <a:p>
            <a:pPr algn="l"/>
            <a:endParaRPr lang="en-US"/>
          </a:p>
        </p:txBody>
      </p:sp>
      <p:sp>
        <p:nvSpPr>
          <p:cNvPr id="11" name="Nhóm 4"/>
          <p:cNvSpPr/>
          <p:nvPr/>
        </p:nvSpPr>
        <p:spPr>
          <a:xfrm>
            <a:off x="6339036" y="3272730"/>
            <a:ext cx="3298478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Nhóm 4</a:t>
            </a:r>
          </a:p>
          <a:p>
            <a:pPr algn="l"/>
            <a:endParaRPr lang="en-US"/>
          </a:p>
        </p:txBody>
      </p:sp>
      <p:sp>
        <p:nvSpPr>
          <p:cNvPr id="12" name="Họ đồng ý ở điểm nào?"/>
          <p:cNvSpPr/>
          <p:nvPr/>
        </p:nvSpPr>
        <p:spPr>
          <a:xfrm>
            <a:off x="42088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Họ đồng ý ở điểm nào?</a:t>
            </a:r>
          </a:p>
          <a:p>
            <a:pPr algn="l"/>
            <a:endParaRPr lang="en-US"/>
          </a:p>
        </p:txBody>
      </p:sp>
      <p:sp>
        <p:nvSpPr>
          <p:cNvPr id="13" name="Họ bất đồng ở điểm nào?"/>
          <p:cNvSpPr/>
          <p:nvPr/>
        </p:nvSpPr>
        <p:spPr>
          <a:xfrm>
            <a:off x="352350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Họ bất đồng ở điểm nào?</a:t>
            </a:r>
          </a:p>
          <a:p>
            <a:pPr algn="l"/>
            <a:endParaRPr lang="en-US"/>
          </a:p>
        </p:txBody>
      </p:sp>
      <p:sp>
        <p:nvSpPr>
          <p:cNvPr id="14" name="Tiếng nói nào còn thiếu?"/>
          <p:cNvSpPr/>
          <p:nvPr/>
        </p:nvSpPr>
        <p:spPr>
          <a:xfrm>
            <a:off x="6626126" y="5411539"/>
            <a:ext cx="3011388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Tiếng nói nào còn thiếu?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6–8: nghiên cứu, trình tự thời gian, nguyên nhân/kết quả, so sánh, bối cảnh lịch sử, góc nhìn, đánh giá nguồn tư liệu và trình bày trực quan.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Lãnh đạo và sự kiện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Lãnh đạo quan trọng"/>
          <p:cNvSpPr/>
          <p:nvPr/>
        </p:nvSpPr>
        <p:spPr>
          <a:xfrm>
            <a:off x="420886" y="1133921"/>
            <a:ext cx="3415010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Lãnh đạo quan trọng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Tác động"/>
          <p:cNvSpPr/>
          <p:nvPr/>
        </p:nvSpPr>
        <p:spPr>
          <a:xfrm>
            <a:off x="420886" y="2983855"/>
            <a:ext cx="3415010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</a:t>
            </a:r>
          </a:p>
          <a:p>
            <a:pPr algn="l"/>
            <a:endParaRPr lang="en-US"/>
          </a:p>
        </p:txBody>
      </p:sp>
      <p:sp>
        <p:nvSpPr>
          <p:cNvPr id="9" name="Bằng chứng"/>
          <p:cNvSpPr/>
          <p:nvPr/>
        </p:nvSpPr>
        <p:spPr>
          <a:xfrm>
            <a:off x="420886" y="4966692"/>
            <a:ext cx="3415010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Bằng chứng</a:t>
            </a:r>
          </a:p>
          <a:p>
            <a:pPr algn="l"/>
            <a:endParaRPr lang="en-US"/>
          </a:p>
        </p:txBody>
      </p:sp>
      <p:sp>
        <p:nvSpPr>
          <p:cNvPr id="10" name="Sự kiện"/>
          <p:cNvSpPr/>
          <p:nvPr/>
        </p:nvSpPr>
        <p:spPr>
          <a:xfrm>
            <a:off x="3945582" y="1133921"/>
            <a:ext cx="5691783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1" name="Mục tiêu của lãnh đạo"/>
          <p:cNvSpPr/>
          <p:nvPr/>
        </p:nvSpPr>
        <p:spPr>
          <a:xfrm>
            <a:off x="3945582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Mục tiêu của lãnh đạo</a:t>
            </a:r>
          </a:p>
          <a:p>
            <a:pPr algn="l"/>
            <a:endParaRPr lang="en-US"/>
          </a:p>
        </p:txBody>
      </p:sp>
      <p:sp>
        <p:nvSpPr>
          <p:cNvPr id="12" name="Quyết định chính"/>
          <p:cNvSpPr/>
          <p:nvPr/>
        </p:nvSpPr>
        <p:spPr>
          <a:xfrm>
            <a:off x="6837164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Quyết định chính</a:t>
            </a:r>
          </a:p>
          <a:p>
            <a:pPr algn="l"/>
            <a:endParaRPr lang="en-US"/>
          </a:p>
        </p:txBody>
      </p:sp>
      <p:sp>
        <p:nvSpPr>
          <p:cNvPr id="13" name="Đồng minh / người ủng hộ"/>
          <p:cNvSpPr/>
          <p:nvPr/>
        </p:nvSpPr>
        <p:spPr>
          <a:xfrm>
            <a:off x="3945582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Đồng minh / người ủng hộ</a:t>
            </a:r>
          </a:p>
          <a:p>
            <a:pPr algn="l"/>
            <a:endParaRPr lang="en-US"/>
          </a:p>
        </p:txBody>
      </p:sp>
      <p:sp>
        <p:nvSpPr>
          <p:cNvPr id="14" name="Đối thủ"/>
          <p:cNvSpPr/>
          <p:nvPr/>
        </p:nvSpPr>
        <p:spPr>
          <a:xfrm>
            <a:off x="6837164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Đối thủ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6–8: nghiên cứu, trình tự thời gian, nguyên nhân/kết quả, so sánh, bối cảnh lịch sử, góc nhìn, đánh giá nguồn tư liệu và trình bày trực quan.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Bản đồ xung đột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Bên / Nhóm A"/>
          <p:cNvSpPr/>
          <p:nvPr/>
        </p:nvSpPr>
        <p:spPr>
          <a:xfrm>
            <a:off x="420886" y="1133921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Bên / Nhóm A</a:t>
            </a:r>
          </a:p>
          <a:p>
            <a:pPr algn="l"/>
            <a:endParaRPr lang="en-US"/>
          </a:p>
        </p:txBody>
      </p:sp>
      <p:sp>
        <p:nvSpPr>
          <p:cNvPr id="8" name="Mục tiêu của bên A"/>
          <p:cNvSpPr/>
          <p:nvPr/>
        </p:nvSpPr>
        <p:spPr>
          <a:xfrm>
            <a:off x="420886" y="2344043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Mục tiêu của bên A</a:t>
            </a:r>
          </a:p>
          <a:p>
            <a:pPr algn="l"/>
            <a:endParaRPr lang="en-US"/>
          </a:p>
        </p:txBody>
      </p:sp>
      <p:sp>
        <p:nvSpPr>
          <p:cNvPr id="9" name="Hành động của bên A"/>
          <p:cNvSpPr/>
          <p:nvPr/>
        </p:nvSpPr>
        <p:spPr>
          <a:xfrm>
            <a:off x="420886" y="3554164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Hành động của bên A</a:t>
            </a:r>
          </a:p>
          <a:p>
            <a:pPr algn="l"/>
            <a:endParaRPr lang="en-US"/>
          </a:p>
        </p:txBody>
      </p:sp>
      <p:sp>
        <p:nvSpPr>
          <p:cNvPr id="10" name="Sự kiện xung đột"/>
          <p:cNvSpPr/>
          <p:nvPr/>
        </p:nvSpPr>
        <p:spPr>
          <a:xfrm>
            <a:off x="3797201" y="1133921"/>
            <a:ext cx="2463850" cy="3557290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 xung đột</a:t>
            </a:r>
          </a:p>
        </p:txBody>
      </p:sp>
      <p:sp>
        <p:nvSpPr>
          <p:cNvPr id="11" name="Bên / Nhóm B"/>
          <p:cNvSpPr/>
          <p:nvPr/>
        </p:nvSpPr>
        <p:spPr>
          <a:xfrm>
            <a:off x="6352431" y="1133921"/>
            <a:ext cx="3284934" cy="114969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Bên / Nhóm B</a:t>
            </a:r>
          </a:p>
          <a:p>
            <a:pPr algn="l"/>
            <a:endParaRPr lang="en-US"/>
          </a:p>
        </p:txBody>
      </p:sp>
      <p:sp>
        <p:nvSpPr>
          <p:cNvPr id="12" name="Mục tiêu của bên B"/>
          <p:cNvSpPr/>
          <p:nvPr/>
        </p:nvSpPr>
        <p:spPr>
          <a:xfrm>
            <a:off x="6352431" y="2356693"/>
            <a:ext cx="3284934" cy="11306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Mục tiêu của bên B</a:t>
            </a:r>
          </a:p>
          <a:p>
            <a:pPr algn="l"/>
            <a:endParaRPr lang="en-US"/>
          </a:p>
        </p:txBody>
      </p:sp>
      <p:sp>
        <p:nvSpPr>
          <p:cNvPr id="13" name="Hành động của bên B"/>
          <p:cNvSpPr/>
          <p:nvPr/>
        </p:nvSpPr>
        <p:spPr>
          <a:xfrm>
            <a:off x="6352431" y="3560415"/>
            <a:ext cx="3284934" cy="113079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Hành động của bên B</a:t>
            </a:r>
          </a:p>
          <a:p>
            <a:pPr algn="l"/>
            <a:endParaRPr lang="en-US"/>
          </a:p>
        </p:txBody>
      </p:sp>
      <p:sp>
        <p:nvSpPr>
          <p:cNvPr id="14" name="Giải quyết"/>
          <p:cNvSpPr/>
          <p:nvPr/>
        </p:nvSpPr>
        <p:spPr>
          <a:xfrm>
            <a:off x="420886" y="4782592"/>
            <a:ext cx="4562475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Giải quyết</a:t>
            </a:r>
          </a:p>
          <a:p>
            <a:pPr algn="l"/>
            <a:endParaRPr lang="en-US"/>
          </a:p>
        </p:txBody>
      </p:sp>
      <p:sp>
        <p:nvSpPr>
          <p:cNvPr id="15" name="Kết quả"/>
          <p:cNvSpPr/>
          <p:nvPr/>
        </p:nvSpPr>
        <p:spPr>
          <a:xfrm>
            <a:off x="5074741" y="4782592"/>
            <a:ext cx="4562624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Kết quả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6–8: nghiên cứu, trình tự thời gian, nguyên nhân/kết quả, so sánh, bối cảnh lịch sử, góc nhìn, đánh giá nguồn tư liệu và trình bày trực quan.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Chuỗi phản ứng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Hành động 1"/>
          <p:cNvSpPr/>
          <p:nvPr/>
        </p:nvSpPr>
        <p:spPr>
          <a:xfrm>
            <a:off x="420886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Hành động 1</a:t>
            </a:r>
          </a:p>
          <a:p>
            <a:pPr algn="l"/>
            <a:endParaRPr lang="en-US"/>
          </a:p>
        </p:txBody>
      </p:sp>
      <p:sp>
        <p:nvSpPr>
          <p:cNvPr id="8" name="Phản ứng 1"/>
          <p:cNvSpPr/>
          <p:nvPr/>
        </p:nvSpPr>
        <p:spPr>
          <a:xfrm>
            <a:off x="2017812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Phản ứng 1</a:t>
            </a:r>
          </a:p>
          <a:p>
            <a:pPr algn="l"/>
            <a:endParaRPr lang="en-US"/>
          </a:p>
        </p:txBody>
      </p:sp>
      <p:sp>
        <p:nvSpPr>
          <p:cNvPr id="9" name="Hành động 2"/>
          <p:cNvSpPr/>
          <p:nvPr/>
        </p:nvSpPr>
        <p:spPr>
          <a:xfrm>
            <a:off x="3614738" y="1133921"/>
            <a:ext cx="1231999" cy="32184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Hành động 2</a:t>
            </a:r>
          </a:p>
          <a:p>
            <a:pPr algn="l"/>
            <a:endParaRPr lang="en-US"/>
          </a:p>
        </p:txBody>
      </p:sp>
      <p:sp>
        <p:nvSpPr>
          <p:cNvPr id="10" name="Phản ứng 2"/>
          <p:cNvSpPr/>
          <p:nvPr/>
        </p:nvSpPr>
        <p:spPr>
          <a:xfrm>
            <a:off x="5230713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Phản ứng 2</a:t>
            </a:r>
          </a:p>
          <a:p>
            <a:pPr algn="l"/>
            <a:endParaRPr lang="en-US"/>
          </a:p>
        </p:txBody>
      </p:sp>
      <p:sp>
        <p:nvSpPr>
          <p:cNvPr id="11" name="Khủng hoảng / Bước ngoặt"/>
          <p:cNvSpPr/>
          <p:nvPr/>
        </p:nvSpPr>
        <p:spPr>
          <a:xfrm>
            <a:off x="6827639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Khủng hoảng / Bước ngoặt</a:t>
            </a:r>
          </a:p>
          <a:p>
            <a:pPr algn="l"/>
            <a:endParaRPr lang="en-US"/>
          </a:p>
        </p:txBody>
      </p:sp>
      <p:sp>
        <p:nvSpPr>
          <p:cNvPr id="12" name="Kết quả"/>
          <p:cNvSpPr/>
          <p:nvPr/>
        </p:nvSpPr>
        <p:spPr>
          <a:xfrm>
            <a:off x="8424565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Kết quả</a:t>
            </a:r>
          </a:p>
          <a:p>
            <a:pPr algn="l"/>
            <a:endParaRPr lang="en-US"/>
          </a:p>
        </p:txBody>
      </p:sp>
      <p:sp>
        <p:nvSpPr>
          <p:cNvPr id="13" name="Mắt xích quan trọng nhất"/>
          <p:cNvSpPr/>
          <p:nvPr/>
        </p:nvSpPr>
        <p:spPr>
          <a:xfrm>
            <a:off x="420886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Mắt xích quan trọng nhất</a:t>
            </a:r>
          </a:p>
          <a:p>
            <a:pPr algn="l"/>
            <a:endParaRPr lang="en-US"/>
          </a:p>
        </p:txBody>
      </p:sp>
      <p:sp>
        <p:nvSpPr>
          <p:cNvPr id="14" name="Bằng chứng"/>
          <p:cNvSpPr/>
          <p:nvPr/>
        </p:nvSpPr>
        <p:spPr>
          <a:xfrm>
            <a:off x="5074890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Bằng chứng</a:t>
            </a:r>
          </a:p>
          <a:p>
            <a:pPr algn="l"/>
            <a:endParaRPr lang="en-US"/>
          </a:p>
        </p:txBody>
      </p:sp>
      <p:sp>
        <p:nvSpPr>
          <p:cNvPr id="15" name="arrow"/>
          <p:cNvSpPr txBox="1"/>
          <p:nvPr/>
        </p:nvSpPr>
        <p:spPr>
          <a:xfrm>
            <a:off x="1574363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6" name="arrow"/>
          <p:cNvSpPr txBox="1"/>
          <p:nvPr/>
        </p:nvSpPr>
        <p:spPr>
          <a:xfrm>
            <a:off x="3171289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7" name="arrow"/>
          <p:cNvSpPr txBox="1"/>
          <p:nvPr/>
        </p:nvSpPr>
        <p:spPr>
          <a:xfrm>
            <a:off x="4787265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8" name="arrow"/>
          <p:cNvSpPr txBox="1"/>
          <p:nvPr/>
        </p:nvSpPr>
        <p:spPr>
          <a:xfrm>
            <a:off x="6384191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9" name="arrow"/>
          <p:cNvSpPr txBox="1"/>
          <p:nvPr/>
        </p:nvSpPr>
        <p:spPr>
          <a:xfrm>
            <a:off x="7981117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6–8: nghiên cứu, trình tự thời gian, nguyên nhân/kết quả, so sánh, bối cảnh lịch sử, góc nhìn, đánh giá nguồn tư liệu và trình bày trực quan.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Địa lý của sự kiện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Địa lý tự nhiên"/>
          <p:cNvSpPr/>
          <p:nvPr/>
        </p:nvSpPr>
        <p:spPr>
          <a:xfrm>
            <a:off x="420886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Địa lý tự nhiên</a:t>
            </a:r>
          </a:p>
          <a:p>
            <a:pPr algn="l"/>
            <a:endParaRPr lang="en-US"/>
          </a:p>
        </p:txBody>
      </p:sp>
      <p:sp>
        <p:nvSpPr>
          <p:cNvPr id="8" name="Sự kiện"/>
          <p:cNvSpPr/>
          <p:nvPr/>
        </p:nvSpPr>
        <p:spPr>
          <a:xfrm>
            <a:off x="3621584" y="1133921"/>
            <a:ext cx="2815084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</p:txBody>
      </p:sp>
      <p:sp>
        <p:nvSpPr>
          <p:cNvPr id="9" name="Địa lý con người"/>
          <p:cNvSpPr/>
          <p:nvPr/>
        </p:nvSpPr>
        <p:spPr>
          <a:xfrm>
            <a:off x="6509742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Địa lý con người</a:t>
            </a:r>
          </a:p>
          <a:p>
            <a:pPr algn="l"/>
            <a:endParaRPr lang="en-US"/>
          </a:p>
        </p:txBody>
      </p:sp>
      <p:sp>
        <p:nvSpPr>
          <p:cNvPr id="10" name="Tài nguyên"/>
          <p:cNvSpPr/>
          <p:nvPr/>
        </p:nvSpPr>
        <p:spPr>
          <a:xfrm>
            <a:off x="420886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Tài nguyên</a:t>
            </a:r>
          </a:p>
          <a:p>
            <a:pPr algn="l"/>
            <a:endParaRPr lang="en-US"/>
          </a:p>
        </p:txBody>
      </p:sp>
      <p:sp>
        <p:nvSpPr>
          <p:cNvPr id="11" name="Di chuyển / Tuyến đường"/>
          <p:cNvSpPr/>
          <p:nvPr/>
        </p:nvSpPr>
        <p:spPr>
          <a:xfrm>
            <a:off x="6509742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Di chuyển / Tuyến đường</a:t>
            </a:r>
          </a:p>
          <a:p>
            <a:pPr algn="l"/>
            <a:endParaRPr lang="en-US"/>
          </a:p>
        </p:txBody>
      </p:sp>
      <p:sp>
        <p:nvSpPr>
          <p:cNvPr id="12" name="Vì sao vị trí quan trọng?"/>
          <p:cNvSpPr/>
          <p:nvPr/>
        </p:nvSpPr>
        <p:spPr>
          <a:xfrm>
            <a:off x="420886" y="5411539"/>
            <a:ext cx="4562475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 vị trí quan trọng?</a:t>
            </a:r>
          </a:p>
          <a:p>
            <a:pPr algn="l"/>
            <a:endParaRPr lang="en-US"/>
          </a:p>
        </p:txBody>
      </p:sp>
      <p:sp>
        <p:nvSpPr>
          <p:cNvPr id="13" name="Tác động địa lý"/>
          <p:cNvSpPr/>
          <p:nvPr/>
        </p:nvSpPr>
        <p:spPr>
          <a:xfrm>
            <a:off x="5074741" y="5411539"/>
            <a:ext cx="4562624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địa lý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6–8: nghiên cứu, trình tự thời gian, nguyên nhân/kết quả, so sánh, bối cảnh lịch sử, góc nhìn, đánh giá nguồn tư liệu và trình bày trực quan.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Bản đồ bối cảnh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Bối cảnh lịch sử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Bối cảnh lịch sử</a:t>
            </a:r>
          </a:p>
          <a:p>
            <a:pPr algn="l"/>
            <a:endParaRPr lang="en-US"/>
          </a:p>
        </p:txBody>
      </p:sp>
      <p:sp>
        <p:nvSpPr>
          <p:cNvPr id="8" name="Nguyên nhân dài hạn"/>
          <p:cNvSpPr/>
          <p:nvPr/>
        </p:nvSpPr>
        <p:spPr>
          <a:xfrm>
            <a:off x="3373338" y="1133921"/>
            <a:ext cx="3311575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dài hạn</a:t>
            </a:r>
          </a:p>
          <a:p>
            <a:pPr algn="l"/>
            <a:endParaRPr lang="en-US"/>
          </a:p>
        </p:txBody>
      </p:sp>
      <p:sp>
        <p:nvSpPr>
          <p:cNvPr id="9" name="Nguyên nhân trực tiếp"/>
          <p:cNvSpPr/>
          <p:nvPr/>
        </p:nvSpPr>
        <p:spPr>
          <a:xfrm>
            <a:off x="6757988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trực tiếp</a:t>
            </a:r>
          </a:p>
          <a:p>
            <a:pPr algn="l"/>
            <a:endParaRPr lang="en-US"/>
          </a:p>
        </p:txBody>
      </p:sp>
      <p:sp>
        <p:nvSpPr>
          <p:cNvPr id="10" name="Nhân vật / nhóm chính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Nhân vật / nhóm chính</a:t>
            </a:r>
          </a:p>
          <a:p>
            <a:pPr algn="l"/>
            <a:endParaRPr lang="en-US"/>
          </a:p>
        </p:txBody>
      </p:sp>
      <p:sp>
        <p:nvSpPr>
          <p:cNvPr id="11" name="Điều gì đã xảy ra?"/>
          <p:cNvSpPr/>
          <p:nvPr/>
        </p:nvSpPr>
        <p:spPr>
          <a:xfrm>
            <a:off x="6757988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Điều gì đã xảy ra?</a:t>
            </a:r>
          </a:p>
          <a:p>
            <a:pPr algn="l"/>
            <a:endParaRPr lang="en-US"/>
          </a:p>
        </p:txBody>
      </p:sp>
      <p:sp>
        <p:nvSpPr>
          <p:cNvPr id="12" name="Sự kiện"/>
          <p:cNvSpPr/>
          <p:nvPr/>
        </p:nvSpPr>
        <p:spPr>
          <a:xfrm>
            <a:off x="3373338" y="3066157"/>
            <a:ext cx="3311575" cy="1859161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3" name="Kết quả trước mắt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Kết quả trước mắt</a:t>
            </a:r>
          </a:p>
          <a:p>
            <a:pPr algn="l"/>
            <a:endParaRPr lang="en-US"/>
          </a:p>
        </p:txBody>
      </p:sp>
      <p:sp>
        <p:nvSpPr>
          <p:cNvPr id="14" name="Kết quả lâu dài"/>
          <p:cNvSpPr/>
          <p:nvPr/>
        </p:nvSpPr>
        <p:spPr>
          <a:xfrm>
            <a:off x="3373338" y="4998393"/>
            <a:ext cx="3311575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Kết quả lâu dài</a:t>
            </a:r>
          </a:p>
          <a:p>
            <a:pPr algn="l"/>
            <a:endParaRPr lang="en-US"/>
          </a:p>
        </p:txBody>
      </p:sp>
      <p:sp>
        <p:nvSpPr>
          <p:cNvPr id="15" name="Ý nghĩa lịch sử"/>
          <p:cNvSpPr/>
          <p:nvPr/>
        </p:nvSpPr>
        <p:spPr>
          <a:xfrm>
            <a:off x="6757988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Ý nghĩa lịch sử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9–12: điều tra lịch sử, trình tự thời gian, quan hệ nhân quả, góc nhìn, đánh giá nguồn tư liệu, nhận định/bằng chứng, diễn giải địa lý và trình bày trực quan.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Xếp hạng nguyên nhân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Nguyên nhân 1"/>
          <p:cNvSpPr/>
          <p:nvPr/>
        </p:nvSpPr>
        <p:spPr>
          <a:xfrm>
            <a:off x="420886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1</a:t>
            </a:r>
          </a:p>
          <a:p>
            <a:pPr algn="l"/>
            <a:endParaRPr lang="en-US"/>
          </a:p>
        </p:txBody>
      </p:sp>
      <p:sp>
        <p:nvSpPr>
          <p:cNvPr id="8" name="Nguyên nhân 2"/>
          <p:cNvSpPr/>
          <p:nvPr/>
        </p:nvSpPr>
        <p:spPr>
          <a:xfrm>
            <a:off x="5070277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2</a:t>
            </a:r>
          </a:p>
          <a:p>
            <a:pPr algn="l"/>
            <a:endParaRPr lang="en-US"/>
          </a:p>
        </p:txBody>
      </p:sp>
      <p:sp>
        <p:nvSpPr>
          <p:cNvPr id="9" name="Nguyên nhân 3"/>
          <p:cNvSpPr/>
          <p:nvPr/>
        </p:nvSpPr>
        <p:spPr>
          <a:xfrm>
            <a:off x="420886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3</a:t>
            </a:r>
          </a:p>
          <a:p>
            <a:pPr algn="l"/>
            <a:endParaRPr lang="en-US"/>
          </a:p>
        </p:txBody>
      </p:sp>
      <p:sp>
        <p:nvSpPr>
          <p:cNvPr id="10" name="Nguyên nhân 4"/>
          <p:cNvSpPr/>
          <p:nvPr/>
        </p:nvSpPr>
        <p:spPr>
          <a:xfrm>
            <a:off x="5070277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4</a:t>
            </a:r>
          </a:p>
          <a:p>
            <a:pPr algn="l"/>
            <a:endParaRPr lang="en-US"/>
          </a:p>
        </p:txBody>
      </p:sp>
      <p:sp>
        <p:nvSpPr>
          <p:cNvPr id="11" name="Xếp hạng nguyên nhân 1-4"/>
          <p:cNvSpPr/>
          <p:nvPr/>
        </p:nvSpPr>
        <p:spPr>
          <a:xfrm>
            <a:off x="420886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Xếp hạng nguyên nhân 1-4</a:t>
            </a:r>
          </a:p>
          <a:p>
            <a:pPr algn="l"/>
            <a:endParaRPr lang="en-US"/>
          </a:p>
        </p:txBody>
      </p:sp>
      <p:sp>
        <p:nvSpPr>
          <p:cNvPr id="12" name="Nguyên nhân quan trọng nhất"/>
          <p:cNvSpPr/>
          <p:nvPr/>
        </p:nvSpPr>
        <p:spPr>
          <a:xfrm>
            <a:off x="5074890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Nguyên nhân quan trọng nhất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9–12: điều tra lịch sử, trình tự thời gian, quan hệ nhân quả, góc nhìn, đánh giá nguồn tư liệu, nhận định/bằng chứng, diễn giải địa lý và trình bày trực quan.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Phân tích bước ngoặt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Trước"/>
          <p:cNvSpPr/>
          <p:nvPr/>
        </p:nvSpPr>
        <p:spPr>
          <a:xfrm>
            <a:off x="420886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Trước</a:t>
            </a:r>
          </a:p>
          <a:p>
            <a:pPr algn="l"/>
            <a:endParaRPr lang="en-US"/>
          </a:p>
        </p:txBody>
      </p:sp>
      <p:sp>
        <p:nvSpPr>
          <p:cNvPr id="8" name="Sự kiện"/>
          <p:cNvSpPr/>
          <p:nvPr/>
        </p:nvSpPr>
        <p:spPr>
          <a:xfrm>
            <a:off x="3520380" y="1133921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  <a:p>
            <a:pPr algn="l"/>
            <a:endParaRPr lang="en-US"/>
          </a:p>
        </p:txBody>
      </p:sp>
      <p:sp>
        <p:nvSpPr>
          <p:cNvPr id="9" name="Thay đổi ngay"/>
          <p:cNvSpPr/>
          <p:nvPr/>
        </p:nvSpPr>
        <p:spPr>
          <a:xfrm>
            <a:off x="6620024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Thay đổi ngay</a:t>
            </a:r>
          </a:p>
          <a:p>
            <a:pPr algn="l"/>
            <a:endParaRPr lang="en-US"/>
          </a:p>
        </p:txBody>
      </p:sp>
      <p:sp>
        <p:nvSpPr>
          <p:cNvPr id="10" name="Thay đổi dài hạn"/>
          <p:cNvSpPr/>
          <p:nvPr/>
        </p:nvSpPr>
        <p:spPr>
          <a:xfrm>
            <a:off x="420886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Thay đổi dài hạn</a:t>
            </a:r>
          </a:p>
          <a:p>
            <a:pPr algn="l"/>
            <a:endParaRPr lang="en-US"/>
          </a:p>
        </p:txBody>
      </p:sp>
      <p:sp>
        <p:nvSpPr>
          <p:cNvPr id="11" name="Điều gì tiếp tục?"/>
          <p:cNvSpPr/>
          <p:nvPr/>
        </p:nvSpPr>
        <p:spPr>
          <a:xfrm>
            <a:off x="3520380" y="3275112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Điều gì tiếp tục?</a:t>
            </a:r>
          </a:p>
          <a:p>
            <a:pPr algn="l"/>
            <a:endParaRPr lang="en-US"/>
          </a:p>
        </p:txBody>
      </p:sp>
      <p:sp>
        <p:nvSpPr>
          <p:cNvPr id="12" name="Có thực sự là bước ngoặt?"/>
          <p:cNvSpPr/>
          <p:nvPr/>
        </p:nvSpPr>
        <p:spPr>
          <a:xfrm>
            <a:off x="6620024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Có thực sự là bước ngoặt?</a:t>
            </a:r>
          </a:p>
          <a:p>
            <a:pPr algn="l"/>
            <a:endParaRPr lang="en-US"/>
          </a:p>
        </p:txBody>
      </p:sp>
      <p:sp>
        <p:nvSpPr>
          <p:cNvPr id="13" name="Bằng chứng"/>
          <p:cNvSpPr/>
          <p:nvPr/>
        </p:nvSpPr>
        <p:spPr>
          <a:xfrm>
            <a:off x="420886" y="5416302"/>
            <a:ext cx="9216479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Bằng chứng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9–12: điều tra lịch sử, trình tự thời gian, quan hệ nhân quả, góc nhìn, đánh giá nguồn tư liệu, nhận định/bằng chứng, diễn giải địa lý và trình bày trực quan.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Góc nhìn và bằng chứng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Góc nhìn 1"/>
          <p:cNvSpPr/>
          <p:nvPr/>
        </p:nvSpPr>
        <p:spPr>
          <a:xfrm>
            <a:off x="420886" y="1133921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Góc nhìn 1</a:t>
            </a:r>
          </a:p>
          <a:p>
            <a:pPr algn="l"/>
            <a:endParaRPr lang="en-US"/>
          </a:p>
        </p:txBody>
      </p:sp>
      <p:sp>
        <p:nvSpPr>
          <p:cNvPr id="8" name="Sự kiện"/>
          <p:cNvSpPr/>
          <p:nvPr/>
        </p:nvSpPr>
        <p:spPr>
          <a:xfrm>
            <a:off x="3733354" y="1133921"/>
            <a:ext cx="2591544" cy="4129534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</p:txBody>
      </p:sp>
      <p:sp>
        <p:nvSpPr>
          <p:cNvPr id="9" name="Góc nhìn 2"/>
          <p:cNvSpPr/>
          <p:nvPr/>
        </p:nvSpPr>
        <p:spPr>
          <a:xfrm>
            <a:off x="6397972" y="1133921"/>
            <a:ext cx="3239542" cy="20282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Góc nhìn 2</a:t>
            </a:r>
          </a:p>
          <a:p>
            <a:pPr algn="l"/>
            <a:endParaRPr lang="en-US"/>
          </a:p>
        </p:txBody>
      </p:sp>
      <p:sp>
        <p:nvSpPr>
          <p:cNvPr id="10" name="Góc nhìn 3"/>
          <p:cNvSpPr/>
          <p:nvPr/>
        </p:nvSpPr>
        <p:spPr>
          <a:xfrm>
            <a:off x="420886" y="3235226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Góc nhìn 3</a:t>
            </a:r>
          </a:p>
          <a:p>
            <a:pPr algn="l"/>
            <a:endParaRPr lang="en-US"/>
          </a:p>
        </p:txBody>
      </p:sp>
      <p:sp>
        <p:nvSpPr>
          <p:cNvPr id="11" name="Góc nhìn 4"/>
          <p:cNvSpPr/>
          <p:nvPr/>
        </p:nvSpPr>
        <p:spPr>
          <a:xfrm>
            <a:off x="6397972" y="3235226"/>
            <a:ext cx="3239542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Góc nhìn 4</a:t>
            </a:r>
          </a:p>
          <a:p>
            <a:pPr algn="l"/>
            <a:endParaRPr lang="en-US"/>
          </a:p>
        </p:txBody>
      </p:sp>
      <p:sp>
        <p:nvSpPr>
          <p:cNvPr id="12" name="Bằng chứng"/>
          <p:cNvSpPr/>
          <p:nvPr/>
        </p:nvSpPr>
        <p:spPr>
          <a:xfrm>
            <a:off x="420886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Bằng chứng</a:t>
            </a:r>
          </a:p>
          <a:p>
            <a:pPr algn="l"/>
            <a:endParaRPr lang="en-US"/>
          </a:p>
        </p:txBody>
      </p:sp>
      <p:sp>
        <p:nvSpPr>
          <p:cNvPr id="13" name="Họ đồng ý ở điểm nào?"/>
          <p:cNvSpPr/>
          <p:nvPr/>
        </p:nvSpPr>
        <p:spPr>
          <a:xfrm>
            <a:off x="2745581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Họ đồng ý ở điểm nào?</a:t>
            </a:r>
          </a:p>
          <a:p>
            <a:pPr algn="l"/>
            <a:endParaRPr lang="en-US"/>
          </a:p>
        </p:txBody>
      </p:sp>
      <p:sp>
        <p:nvSpPr>
          <p:cNvPr id="14" name="Họ bất đồng ở điểm nào?"/>
          <p:cNvSpPr/>
          <p:nvPr/>
        </p:nvSpPr>
        <p:spPr>
          <a:xfrm>
            <a:off x="5070277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Họ bất đồng ở điểm nào?</a:t>
            </a:r>
          </a:p>
          <a:p>
            <a:pPr algn="l"/>
            <a:endParaRPr lang="en-US"/>
          </a:p>
        </p:txBody>
      </p:sp>
      <p:sp>
        <p:nvSpPr>
          <p:cNvPr id="15" name="Tiếng nói nào còn thiếu?"/>
          <p:cNvSpPr/>
          <p:nvPr/>
        </p:nvSpPr>
        <p:spPr>
          <a:xfrm>
            <a:off x="7394972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Tiếng nói nào còn thiếu?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9–12: điều tra lịch sử, trình tự thời gian, quan hệ nhân quả, góc nhìn, đánh giá nguồn tư liệu, nhận định/bằng chứng, diễn giải địa lý và trình bày trực quan.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Bốn góc tác động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Chính trị"/>
          <p:cNvSpPr/>
          <p:nvPr/>
        </p:nvSpPr>
        <p:spPr>
          <a:xfrm>
            <a:off x="420886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Chính trị</a:t>
            </a:r>
          </a:p>
          <a:p>
            <a:pPr algn="l"/>
            <a:endParaRPr lang="en-US"/>
          </a:p>
        </p:txBody>
      </p:sp>
      <p:sp>
        <p:nvSpPr>
          <p:cNvPr id="8" name="Sự kiện"/>
          <p:cNvSpPr/>
          <p:nvPr/>
        </p:nvSpPr>
        <p:spPr>
          <a:xfrm>
            <a:off x="3853309" y="1133921"/>
            <a:ext cx="2351633" cy="4174182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Sự kiện</a:t>
            </a:r>
          </a:p>
        </p:txBody>
      </p:sp>
      <p:sp>
        <p:nvSpPr>
          <p:cNvPr id="9" name="Kinh tế"/>
          <p:cNvSpPr/>
          <p:nvPr/>
        </p:nvSpPr>
        <p:spPr>
          <a:xfrm>
            <a:off x="6278017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Kinh tế</a:t>
            </a:r>
          </a:p>
          <a:p>
            <a:pPr algn="l"/>
            <a:endParaRPr lang="en-US"/>
          </a:p>
        </p:txBody>
      </p:sp>
      <p:sp>
        <p:nvSpPr>
          <p:cNvPr id="10" name="Xã hội / Văn hóa"/>
          <p:cNvSpPr/>
          <p:nvPr/>
        </p:nvSpPr>
        <p:spPr>
          <a:xfrm>
            <a:off x="420886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Xã hội / Văn hóa</a:t>
            </a:r>
          </a:p>
          <a:p>
            <a:pPr algn="l"/>
            <a:endParaRPr lang="en-US"/>
          </a:p>
        </p:txBody>
      </p:sp>
      <p:sp>
        <p:nvSpPr>
          <p:cNvPr id="11" name="Địa lý / Môi trường"/>
          <p:cNvSpPr/>
          <p:nvPr/>
        </p:nvSpPr>
        <p:spPr>
          <a:xfrm>
            <a:off x="6278017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Địa lý / Môi trường</a:t>
            </a:r>
          </a:p>
          <a:p>
            <a:pPr algn="l"/>
            <a:endParaRPr lang="en-US"/>
          </a:p>
        </p:txBody>
      </p:sp>
      <p:sp>
        <p:nvSpPr>
          <p:cNvPr id="12" name="Trước mắt"/>
          <p:cNvSpPr/>
          <p:nvPr/>
        </p:nvSpPr>
        <p:spPr>
          <a:xfrm>
            <a:off x="42088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Trước mắt</a:t>
            </a:r>
          </a:p>
          <a:p>
            <a:pPr algn="l"/>
            <a:endParaRPr lang="en-US"/>
          </a:p>
        </p:txBody>
      </p:sp>
      <p:sp>
        <p:nvSpPr>
          <p:cNvPr id="13" name="Lâu dài"/>
          <p:cNvSpPr/>
          <p:nvPr/>
        </p:nvSpPr>
        <p:spPr>
          <a:xfrm>
            <a:off x="352350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Lâu dài</a:t>
            </a:r>
          </a:p>
          <a:p>
            <a:pPr algn="l"/>
            <a:endParaRPr lang="en-US"/>
          </a:p>
        </p:txBody>
      </p:sp>
      <p:sp>
        <p:nvSpPr>
          <p:cNvPr id="14" name="Tác động nào quan trọng nhất?"/>
          <p:cNvSpPr/>
          <p:nvPr/>
        </p:nvSpPr>
        <p:spPr>
          <a:xfrm>
            <a:off x="662612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Tác động nào quan trọng nhất?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9–12: điều tra lịch sử, trình tự thời gian, quan hệ nhân quả, góc nhìn, đánh giá nguồn tư liệu, nhận định/bằng chứng, diễn giải địa lý và trình bày trực quan.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Liên tục và thay đổi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Trước"/>
          <p:cNvSpPr/>
          <p:nvPr/>
        </p:nvSpPr>
        <p:spPr>
          <a:xfrm>
            <a:off x="420886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Trước</a:t>
            </a:r>
          </a:p>
          <a:p>
            <a:pPr algn="l"/>
            <a:endParaRPr lang="en-US"/>
          </a:p>
        </p:txBody>
      </p:sp>
      <p:sp>
        <p:nvSpPr>
          <p:cNvPr id="8" name="Trong thời kỳ"/>
          <p:cNvSpPr/>
          <p:nvPr/>
        </p:nvSpPr>
        <p:spPr>
          <a:xfrm>
            <a:off x="3520380" y="1133921"/>
            <a:ext cx="3017490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Trong thời kỳ</a:t>
            </a:r>
          </a:p>
          <a:p>
            <a:pPr algn="l"/>
            <a:endParaRPr lang="en-US"/>
          </a:p>
        </p:txBody>
      </p:sp>
      <p:sp>
        <p:nvSpPr>
          <p:cNvPr id="9" name="Sau"/>
          <p:cNvSpPr/>
          <p:nvPr/>
        </p:nvSpPr>
        <p:spPr>
          <a:xfrm>
            <a:off x="6620024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Sau</a:t>
            </a:r>
          </a:p>
          <a:p>
            <a:pPr algn="l"/>
            <a:endParaRPr lang="en-US"/>
          </a:p>
        </p:txBody>
      </p:sp>
      <p:sp>
        <p:nvSpPr>
          <p:cNvPr id="10" name="Thay đổi lớn"/>
          <p:cNvSpPr/>
          <p:nvPr/>
        </p:nvSpPr>
        <p:spPr>
          <a:xfrm>
            <a:off x="420886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Thay đổi lớn</a:t>
            </a:r>
          </a:p>
          <a:p>
            <a:pPr algn="l"/>
            <a:endParaRPr lang="en-US"/>
          </a:p>
        </p:txBody>
      </p:sp>
      <p:sp>
        <p:nvSpPr>
          <p:cNvPr id="11" name="Thay đổi dần"/>
          <p:cNvSpPr/>
          <p:nvPr/>
        </p:nvSpPr>
        <p:spPr>
          <a:xfrm>
            <a:off x="3520380" y="3396258"/>
            <a:ext cx="3017490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Thay đổi dần</a:t>
            </a:r>
          </a:p>
          <a:p>
            <a:pPr algn="l"/>
            <a:endParaRPr lang="en-US"/>
          </a:p>
        </p:txBody>
      </p:sp>
      <p:sp>
        <p:nvSpPr>
          <p:cNvPr id="12" name="Điều gì vẫn như cũ?"/>
          <p:cNvSpPr/>
          <p:nvPr/>
        </p:nvSpPr>
        <p:spPr>
          <a:xfrm>
            <a:off x="6620024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Điều gì vẫn như cũ?</a:t>
            </a:r>
          </a:p>
          <a:p>
            <a:pPr algn="l"/>
            <a:endParaRPr lang="en-US"/>
          </a:p>
        </p:txBody>
      </p:sp>
      <p:sp>
        <p:nvSpPr>
          <p:cNvPr id="13" name="Vì sao?"/>
          <p:cNvSpPr/>
          <p:nvPr/>
        </p:nvSpPr>
        <p:spPr>
          <a:xfrm>
            <a:off x="420886" y="5440561"/>
            <a:ext cx="4562475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Vì sao?</a:t>
            </a:r>
          </a:p>
          <a:p>
            <a:pPr algn="l"/>
            <a:endParaRPr lang="en-US"/>
          </a:p>
        </p:txBody>
      </p:sp>
      <p:sp>
        <p:nvSpPr>
          <p:cNvPr id="14" name="Nhận định của bạn"/>
          <p:cNvSpPr/>
          <p:nvPr/>
        </p:nvSpPr>
        <p:spPr>
          <a:xfrm>
            <a:off x="5074741" y="5440561"/>
            <a:ext cx="4562624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Nhận định của bạn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9–12: điều tra lịch sử, trình tự thời gian, quan hệ nhân quả, góc nhìn, đánh giá nguồn tư liệu, nhận định/bằng chứng, diễn giải địa lý và trình bày trực quan.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Hồ sơ bằng chứng lịch sử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Câu hỏi lịch sử"/>
          <p:cNvSpPr/>
          <p:nvPr/>
        </p:nvSpPr>
        <p:spPr>
          <a:xfrm>
            <a:off x="420886" y="1133921"/>
            <a:ext cx="9216628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Câu hỏi lịch sử</a:t>
            </a:r>
          </a:p>
          <a:p>
            <a:pPr algn="l"/>
            <a:endParaRPr lang="en-US"/>
          </a:p>
        </p:txBody>
      </p:sp>
      <p:sp>
        <p:nvSpPr>
          <p:cNvPr id="8" name="Nguồn 1"/>
          <p:cNvSpPr/>
          <p:nvPr/>
        </p:nvSpPr>
        <p:spPr>
          <a:xfrm>
            <a:off x="420886" y="2343150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Nguồn 1</a:t>
            </a:r>
          </a:p>
          <a:p>
            <a:pPr algn="l"/>
            <a:endParaRPr lang="en-US"/>
          </a:p>
        </p:txBody>
      </p:sp>
      <p:sp>
        <p:nvSpPr>
          <p:cNvPr id="9" name="Bằng chứng từ Nguồn 1"/>
          <p:cNvSpPr/>
          <p:nvPr/>
        </p:nvSpPr>
        <p:spPr>
          <a:xfrm>
            <a:off x="420886" y="3331518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Bằng chứng từ Nguồn 1</a:t>
            </a:r>
          </a:p>
          <a:p>
            <a:pPr algn="l"/>
            <a:endParaRPr lang="en-US"/>
          </a:p>
        </p:txBody>
      </p:sp>
      <p:sp>
        <p:nvSpPr>
          <p:cNvPr id="10" name="Độ tin cậy / Hạn chế"/>
          <p:cNvSpPr/>
          <p:nvPr/>
        </p:nvSpPr>
        <p:spPr>
          <a:xfrm>
            <a:off x="420886" y="4319885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Độ tin cậy / Hạn chế</a:t>
            </a:r>
          </a:p>
          <a:p>
            <a:pPr algn="l"/>
            <a:endParaRPr lang="en-US"/>
          </a:p>
        </p:txBody>
      </p:sp>
      <p:sp>
        <p:nvSpPr>
          <p:cNvPr id="11" name="Nguồn 2"/>
          <p:cNvSpPr/>
          <p:nvPr/>
        </p:nvSpPr>
        <p:spPr>
          <a:xfrm>
            <a:off x="3517404" y="2343150"/>
            <a:ext cx="3023443" cy="92794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Nguồn 2</a:t>
            </a:r>
          </a:p>
          <a:p>
            <a:pPr algn="l"/>
            <a:endParaRPr lang="en-US"/>
          </a:p>
        </p:txBody>
      </p:sp>
      <p:sp>
        <p:nvSpPr>
          <p:cNvPr id="12" name="Bằng chứng từ Nguồn 2"/>
          <p:cNvSpPr/>
          <p:nvPr/>
        </p:nvSpPr>
        <p:spPr>
          <a:xfrm>
            <a:off x="3517404" y="3344168"/>
            <a:ext cx="3023443" cy="9088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Bằng chứng từ Nguồn 2</a:t>
            </a:r>
          </a:p>
          <a:p>
            <a:pPr algn="l"/>
            <a:endParaRPr lang="en-US"/>
          </a:p>
        </p:txBody>
      </p:sp>
      <p:sp>
        <p:nvSpPr>
          <p:cNvPr id="13" name="Độ tin cậy / Hạn chế"/>
          <p:cNvSpPr/>
          <p:nvPr/>
        </p:nvSpPr>
        <p:spPr>
          <a:xfrm>
            <a:off x="3517404" y="4326136"/>
            <a:ext cx="3023443" cy="909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Độ tin cậy / Hạn chế</a:t>
            </a:r>
          </a:p>
          <a:p>
            <a:pPr algn="l"/>
            <a:endParaRPr lang="en-US"/>
          </a:p>
        </p:txBody>
      </p:sp>
      <p:sp>
        <p:nvSpPr>
          <p:cNvPr id="14" name="Nguồn 3"/>
          <p:cNvSpPr/>
          <p:nvPr/>
        </p:nvSpPr>
        <p:spPr>
          <a:xfrm>
            <a:off x="6613922" y="2343150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Nguồn 3</a:t>
            </a:r>
          </a:p>
          <a:p>
            <a:pPr algn="l"/>
            <a:endParaRPr lang="en-US"/>
          </a:p>
        </p:txBody>
      </p:sp>
      <p:sp>
        <p:nvSpPr>
          <p:cNvPr id="15" name="Bằng chứng từ Nguồn 3"/>
          <p:cNvSpPr/>
          <p:nvPr/>
        </p:nvSpPr>
        <p:spPr>
          <a:xfrm>
            <a:off x="6613922" y="3331518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Bằng chứng từ Nguồn 3</a:t>
            </a:r>
          </a:p>
          <a:p>
            <a:pPr algn="l"/>
            <a:endParaRPr lang="en-US"/>
          </a:p>
        </p:txBody>
      </p:sp>
      <p:sp>
        <p:nvSpPr>
          <p:cNvPr id="16" name="Độ tin cậy / Hạn chế"/>
          <p:cNvSpPr/>
          <p:nvPr/>
        </p:nvSpPr>
        <p:spPr>
          <a:xfrm>
            <a:off x="6613922" y="4319885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Độ tin cậy / Hạn chế</a:t>
            </a:r>
          </a:p>
          <a:p>
            <a:pPr algn="l"/>
            <a:endParaRPr lang="en-US"/>
          </a:p>
        </p:txBody>
      </p:sp>
      <p:sp>
        <p:nvSpPr>
          <p:cNvPr id="17" name="Bằng chứng mâu thuẫn / còn thiếu"/>
          <p:cNvSpPr/>
          <p:nvPr/>
        </p:nvSpPr>
        <p:spPr>
          <a:xfrm>
            <a:off x="420886" y="5308253"/>
            <a:ext cx="3023443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Bằng chứng mâu thuẫn / còn thiếu</a:t>
            </a:r>
          </a:p>
          <a:p>
            <a:pPr algn="l"/>
            <a:endParaRPr lang="en-US"/>
          </a:p>
        </p:txBody>
      </p:sp>
      <p:sp>
        <p:nvSpPr>
          <p:cNvPr id="18" name="Kết luận tạm thời"/>
          <p:cNvSpPr/>
          <p:nvPr/>
        </p:nvSpPr>
        <p:spPr>
          <a:xfrm>
            <a:off x="3517404" y="5308253"/>
            <a:ext cx="6120110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Kết luận tạm thời</a:t>
            </a:r>
          </a:p>
          <a:p>
            <a:pPr algn="l"/>
            <a:endParaRPr lang="en-US"/>
          </a:p>
        </p:txBody>
      </p:sp>
      <p:cxnSp>
        <p:nvCxnSpPr>
          <p:cNvPr id="19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0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9–12: điều tra lịch sử, trình tự thời gian, quan hệ nhân quả, góc nhìn, đánh giá nguồn tư liệu, nhận định/bằng chứng, diễn giải địa lý và trình bày trực quan.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Họ tên: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Ngày: __________ Lớp/Tiết: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So sánh hai sự kiện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Khối lớp: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710803"/>
            <a:ext cx="2505039" cy="344037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Chủ đề / Sự kiện: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Sự kiện A"/>
          <p:cNvSpPr/>
          <p:nvPr/>
        </p:nvSpPr>
        <p:spPr>
          <a:xfrm>
            <a:off x="420886" y="1133921"/>
            <a:ext cx="3239393" cy="9550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Sự kiện A</a:t>
            </a:r>
          </a:p>
          <a:p>
            <a:pPr algn="l"/>
            <a:endParaRPr lang="en-US"/>
          </a:p>
        </p:txBody>
      </p:sp>
      <p:sp>
        <p:nvSpPr>
          <p:cNvPr id="8" name="Sự kiện B"/>
          <p:cNvSpPr/>
          <p:nvPr/>
        </p:nvSpPr>
        <p:spPr>
          <a:xfrm>
            <a:off x="6397972" y="1133921"/>
            <a:ext cx="3239542" cy="9550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Sự kiện B</a:t>
            </a:r>
          </a:p>
          <a:p>
            <a:pPr algn="l"/>
            <a:endParaRPr lang="en-US"/>
          </a:p>
        </p:txBody>
      </p:sp>
      <p:sp>
        <p:nvSpPr>
          <p:cNvPr id="9" name="Điều gì gây ra?"/>
          <p:cNvSpPr/>
          <p:nvPr/>
        </p:nvSpPr>
        <p:spPr>
          <a:xfrm>
            <a:off x="420886" y="2162026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Điều gì gây ra?</a:t>
            </a:r>
          </a:p>
          <a:p>
            <a:pPr algn="l"/>
            <a:endParaRPr lang="en-US"/>
          </a:p>
        </p:txBody>
      </p:sp>
      <p:sp>
        <p:nvSpPr>
          <p:cNvPr id="10" name="Nhân vật / nhóm chính"/>
          <p:cNvSpPr/>
          <p:nvPr/>
        </p:nvSpPr>
        <p:spPr>
          <a:xfrm>
            <a:off x="420886" y="3066752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Nhân vật / nhóm chính</a:t>
            </a:r>
          </a:p>
          <a:p>
            <a:pPr algn="l"/>
            <a:endParaRPr lang="en-US"/>
          </a:p>
        </p:txBody>
      </p:sp>
      <p:sp>
        <p:nvSpPr>
          <p:cNvPr id="11" name="Điểm giống"/>
          <p:cNvSpPr/>
          <p:nvPr/>
        </p:nvSpPr>
        <p:spPr>
          <a:xfrm>
            <a:off x="3733354" y="2162026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Điểm giống</a:t>
            </a:r>
          </a:p>
          <a:p>
            <a:pPr algn="l"/>
            <a:endParaRPr lang="en-US"/>
          </a:p>
        </p:txBody>
      </p:sp>
      <p:sp>
        <p:nvSpPr>
          <p:cNvPr id="12" name="Điểm khác"/>
          <p:cNvSpPr/>
          <p:nvPr/>
        </p:nvSpPr>
        <p:spPr>
          <a:xfrm>
            <a:off x="3733354" y="3066752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Điểm khác</a:t>
            </a:r>
          </a:p>
          <a:p>
            <a:pPr algn="l"/>
            <a:endParaRPr lang="en-US"/>
          </a:p>
        </p:txBody>
      </p:sp>
      <p:sp>
        <p:nvSpPr>
          <p:cNvPr id="13" name="Điều gì gây ra?"/>
          <p:cNvSpPr/>
          <p:nvPr/>
        </p:nvSpPr>
        <p:spPr>
          <a:xfrm>
            <a:off x="6397972" y="2162026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Điều gì gây ra?</a:t>
            </a:r>
          </a:p>
          <a:p>
            <a:pPr algn="l"/>
            <a:endParaRPr lang="en-US"/>
          </a:p>
        </p:txBody>
      </p:sp>
      <p:sp>
        <p:nvSpPr>
          <p:cNvPr id="14" name="Nhân vật / nhóm chính"/>
          <p:cNvSpPr/>
          <p:nvPr/>
        </p:nvSpPr>
        <p:spPr>
          <a:xfrm>
            <a:off x="6397972" y="3066752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Nhân vật / nhóm chính</a:t>
            </a:r>
          </a:p>
          <a:p>
            <a:pPr algn="l"/>
            <a:endParaRPr lang="en-US"/>
          </a:p>
        </p:txBody>
      </p:sp>
      <p:sp>
        <p:nvSpPr>
          <p:cNvPr id="15" name="Kết quả"/>
          <p:cNvSpPr/>
          <p:nvPr/>
        </p:nvSpPr>
        <p:spPr>
          <a:xfrm>
            <a:off x="420886" y="3971479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Kết quả</a:t>
            </a:r>
          </a:p>
          <a:p>
            <a:pPr algn="l"/>
            <a:endParaRPr lang="en-US"/>
          </a:p>
        </p:txBody>
      </p:sp>
      <p:sp>
        <p:nvSpPr>
          <p:cNvPr id="16" name="Ý nghĩa lịch sử"/>
          <p:cNvSpPr/>
          <p:nvPr/>
        </p:nvSpPr>
        <p:spPr>
          <a:xfrm>
            <a:off x="420886" y="4876205"/>
            <a:ext cx="3239393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Ý nghĩa lịch sử</a:t>
            </a:r>
          </a:p>
          <a:p>
            <a:pPr algn="l"/>
            <a:endParaRPr lang="en-US"/>
          </a:p>
        </p:txBody>
      </p:sp>
      <p:sp>
        <p:nvSpPr>
          <p:cNvPr id="17" name="So sánh nào quan trọng nhất?"/>
          <p:cNvSpPr/>
          <p:nvPr/>
        </p:nvSpPr>
        <p:spPr>
          <a:xfrm>
            <a:off x="3733354" y="3971479"/>
            <a:ext cx="2591544" cy="173652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So sánh nào quan trọng nhất?</a:t>
            </a:r>
          </a:p>
          <a:p>
            <a:pPr algn="l"/>
            <a:endParaRPr lang="en-US"/>
          </a:p>
        </p:txBody>
      </p:sp>
      <p:sp>
        <p:nvSpPr>
          <p:cNvPr id="18" name="Kết quả"/>
          <p:cNvSpPr/>
          <p:nvPr/>
        </p:nvSpPr>
        <p:spPr>
          <a:xfrm>
            <a:off x="6397972" y="3971479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Kết quả</a:t>
            </a:r>
          </a:p>
          <a:p>
            <a:pPr algn="l"/>
            <a:endParaRPr lang="en-US"/>
          </a:p>
        </p:txBody>
      </p:sp>
      <p:sp>
        <p:nvSpPr>
          <p:cNvPr id="19" name="Ý nghĩa lịch sử"/>
          <p:cNvSpPr/>
          <p:nvPr/>
        </p:nvSpPr>
        <p:spPr>
          <a:xfrm>
            <a:off x="6397972" y="4876205"/>
            <a:ext cx="3239542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Ý nghĩa lịch sử</a:t>
            </a:r>
          </a:p>
          <a:p>
            <a:pPr algn="l"/>
            <a:endParaRPr lang="en-US"/>
          </a:p>
        </p:txBody>
      </p:sp>
      <p:sp>
        <p:nvSpPr>
          <p:cNvPr id="20" name="Bằng chứng"/>
          <p:cNvSpPr/>
          <p:nvPr/>
        </p:nvSpPr>
        <p:spPr>
          <a:xfrm>
            <a:off x="420886" y="5781080"/>
            <a:ext cx="9216628" cy="6276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Bằng chứng</a:t>
            </a:r>
          </a:p>
          <a:p>
            <a:pPr algn="l"/>
            <a:endParaRPr lang="en-US"/>
          </a:p>
        </p:txBody>
      </p:sp>
      <p:cxnSp>
        <p:nvCxnSpPr>
          <p:cNvPr id="21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2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Nguồn đã dùng: 1.________________ 2.________________ 3.________________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Trọng tâm kỹ năng TEKS: Khối 9–12: điều tra lịch sử, trình tự thời gian, quan hệ nhân quả, góc nhìn, đánh giá nguồn tư liệu, nhận định/bằng chứng, diễn giải địa lý và trình bày trực quan.</a:t>
            </a:r>
          </a:p>
        </p:txBody>
      </p:sp>
      <p:sp>
        <p:nvSpPr>
          <p:cNvPr id="24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23266"/>
      </a:dk2>
      <a:lt2>
        <a:srgbClr val="F4F8FC"/>
      </a:lt2>
      <a:accent1>
        <a:srgbClr val="054C8C"/>
      </a:accent1>
      <a:accent2>
        <a:srgbClr val="FBD239"/>
      </a:accent2>
      <a:accent3>
        <a:srgbClr val="238A8D"/>
      </a:accent3>
      <a:accent4>
        <a:srgbClr val="6D5AA8"/>
      </a:accent4>
      <a:accent5>
        <a:srgbClr val="D97A28"/>
      </a:accent5>
      <a:accent6>
        <a:srgbClr val="5A8F52"/>
      </a:accent6>
      <a:hlink>
        <a:srgbClr val="054C8C"/>
      </a:hlink>
      <a:folHlink>
        <a:srgbClr val="6D5AA8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History Event Maps</Application>
  <Slides>24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Sơ Đồ Sự Kiện Lịch Sử</dc:title>
  <dc:creator>TCEA / Miguel Guhlin</dc:creator>
  <cp:lastModifiedBy>TCEA</cp:lastModifiedBy>
</cp:coreProperties>
</file>