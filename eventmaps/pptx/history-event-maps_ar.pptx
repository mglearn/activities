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لقطة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ما الذي سببه؟"/>
          <p:cNvSpPr/>
          <p:nvPr/>
        </p:nvSpPr>
        <p:spPr>
          <a:xfrm>
            <a:off x="6758136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سببه؟</a:t>
            </a:r>
          </a:p>
          <a:p>
            <a:pPr algn="l" rtl="1"/>
            <a:endParaRPr lang="en-US"/>
          </a:p>
        </p:txBody>
      </p:sp>
      <p:sp>
        <p:nvSpPr>
          <p:cNvPr id="8" name="لماذا كان مهمًا؟"/>
          <p:cNvSpPr/>
          <p:nvPr/>
        </p:nvSpPr>
        <p:spPr>
          <a:xfrm>
            <a:off x="3373487" y="1133921"/>
            <a:ext cx="3311575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مهمًا؟</a:t>
            </a:r>
          </a:p>
          <a:p>
            <a:pPr algn="l" rtl="1"/>
            <a:endParaRPr lang="en-US"/>
          </a:p>
        </p:txBody>
      </p:sp>
      <p:sp>
        <p:nvSpPr>
          <p:cNvPr id="9" name="ماذا حدث في النهاية؟"/>
          <p:cNvSpPr/>
          <p:nvPr/>
        </p:nvSpPr>
        <p:spPr>
          <a:xfrm>
            <a:off x="421035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ماذا حدث في النهاية؟</a:t>
            </a:r>
          </a:p>
          <a:p>
            <a:pPr algn="l" rtl="1"/>
            <a:endParaRPr lang="en-US"/>
          </a:p>
        </p:txBody>
      </p:sp>
      <p:sp>
        <p:nvSpPr>
          <p:cNvPr id="10" name="كيف حدث؟"/>
          <p:cNvSpPr/>
          <p:nvPr/>
        </p:nvSpPr>
        <p:spPr>
          <a:xfrm>
            <a:off x="6758136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كيف حدث؟</a:t>
            </a:r>
          </a:p>
          <a:p>
            <a:pPr algn="l" rtl="1"/>
            <a:endParaRPr lang="en-US"/>
          </a:p>
        </p:txBody>
      </p:sp>
      <p:sp>
        <p:nvSpPr>
          <p:cNvPr id="11" name="الحدث"/>
          <p:cNvSpPr/>
          <p:nvPr/>
        </p:nvSpPr>
        <p:spPr>
          <a:xfrm>
            <a:off x="3373487" y="3257550"/>
            <a:ext cx="3311575" cy="1476375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12" name="متى حدث؟"/>
          <p:cNvSpPr/>
          <p:nvPr/>
        </p:nvSpPr>
        <p:spPr>
          <a:xfrm>
            <a:off x="421035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متى حدث؟</a:t>
            </a:r>
          </a:p>
          <a:p>
            <a:pPr algn="l" rtl="1"/>
            <a:endParaRPr lang="en-US"/>
          </a:p>
        </p:txBody>
      </p:sp>
      <p:sp>
        <p:nvSpPr>
          <p:cNvPr id="13" name="من شارك؟"/>
          <p:cNvSpPr/>
          <p:nvPr/>
        </p:nvSpPr>
        <p:spPr>
          <a:xfrm>
            <a:off x="6758136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من شارك؟</a:t>
            </a:r>
          </a:p>
          <a:p>
            <a:pPr algn="l" rtl="1"/>
            <a:endParaRPr lang="en-US"/>
          </a:p>
        </p:txBody>
      </p:sp>
      <p:sp>
        <p:nvSpPr>
          <p:cNvPr id="14" name="أين حدث؟"/>
          <p:cNvSpPr/>
          <p:nvPr/>
        </p:nvSpPr>
        <p:spPr>
          <a:xfrm>
            <a:off x="3373487" y="4807000"/>
            <a:ext cx="3311575" cy="205070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حدث؟</a:t>
            </a:r>
          </a:p>
          <a:p>
            <a:pPr algn="l" rtl="1"/>
            <a:endParaRPr lang="en-US"/>
          </a:p>
        </p:txBody>
      </p:sp>
      <p:sp>
        <p:nvSpPr>
          <p:cNvPr id="15" name="ما الاستنتاج الذي يمكنك الوصول إليه؟"/>
          <p:cNvSpPr/>
          <p:nvPr/>
        </p:nvSpPr>
        <p:spPr>
          <a:xfrm>
            <a:off x="421035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الاستنتاج الذي يمكنك الوصول إليه؟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السبب ← الحدث ← الأثر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لماذا كان مهمًا؟"/>
          <p:cNvSpPr/>
          <p:nvPr/>
        </p:nvSpPr>
        <p:spPr>
          <a:xfrm>
            <a:off x="3380036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مهمًا؟</a:t>
            </a:r>
          </a:p>
          <a:p>
            <a:pPr algn="l" rtl="1"/>
            <a:endParaRPr lang="en-US"/>
          </a:p>
        </p:txBody>
      </p:sp>
      <p:sp>
        <p:nvSpPr>
          <p:cNvPr id="8" name="ما الذي سببه؟"/>
          <p:cNvSpPr/>
          <p:nvPr/>
        </p:nvSpPr>
        <p:spPr>
          <a:xfrm>
            <a:off x="6751588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سببه؟</a:t>
            </a:r>
          </a:p>
        </p:txBody>
      </p:sp>
      <p:sp>
        <p:nvSpPr>
          <p:cNvPr id="9" name="الحدث"/>
          <p:cNvSpPr/>
          <p:nvPr/>
        </p:nvSpPr>
        <p:spPr>
          <a:xfrm>
            <a:off x="3380036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الآثار الفورية"/>
          <p:cNvSpPr/>
          <p:nvPr/>
        </p:nvSpPr>
        <p:spPr>
          <a:xfrm>
            <a:off x="421035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الآثار الفورية</a:t>
            </a:r>
          </a:p>
        </p:txBody>
      </p:sp>
      <p:sp>
        <p:nvSpPr>
          <p:cNvPr id="11" name="من شارك؟"/>
          <p:cNvSpPr/>
          <p:nvPr/>
        </p:nvSpPr>
        <p:spPr>
          <a:xfrm>
            <a:off x="6751588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من شارك؟</a:t>
            </a:r>
          </a:p>
          <a:p>
            <a:pPr algn="l" rtl="1"/>
            <a:endParaRPr lang="en-US"/>
          </a:p>
        </p:txBody>
      </p:sp>
      <p:sp>
        <p:nvSpPr>
          <p:cNvPr id="12" name="الآثار اللاحقة / طويلة المدى"/>
          <p:cNvSpPr/>
          <p:nvPr/>
        </p:nvSpPr>
        <p:spPr>
          <a:xfrm>
            <a:off x="421035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الآثار اللاحقة / طويلة المدى</a:t>
            </a:r>
          </a:p>
          <a:p>
            <a:pPr algn="l" rtl="1"/>
            <a:endParaRPr lang="en-US"/>
          </a:p>
        </p:txBody>
      </p:sp>
      <p:sp>
        <p:nvSpPr>
          <p:cNvPr id="13" name="ما الاستنتاج الذي يمكنك الوصول إليه؟"/>
          <p:cNvSpPr/>
          <p:nvPr/>
        </p:nvSpPr>
        <p:spPr>
          <a:xfrm>
            <a:off x="3380036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الاستنتاج الذي يمكنك الوصول إليه؟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مسار تسلسل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تسلسل (ترتيب الأحداث)"/>
          <p:cNvSpPr/>
          <p:nvPr/>
        </p:nvSpPr>
        <p:spPr>
          <a:xfrm>
            <a:off x="420886" y="4407843"/>
            <a:ext cx="9216628" cy="244986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التسلسل (ترتيب الأحداث)</a:t>
            </a:r>
          </a:p>
          <a:p>
            <a:pPr algn="ctr" rtl="1"/>
            <a:endParaRPr lang="en-US"/>
          </a:p>
        </p:txBody>
      </p:sp>
      <p:sp>
        <p:nvSpPr>
          <p:cNvPr id="8" name="أين حدث؟"/>
          <p:cNvSpPr/>
          <p:nvPr/>
        </p:nvSpPr>
        <p:spPr>
          <a:xfrm>
            <a:off x="6751588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حدث؟</a:t>
            </a:r>
          </a:p>
          <a:p>
            <a:pPr algn="l" rtl="1"/>
            <a:endParaRPr lang="en-US"/>
          </a:p>
        </p:txBody>
      </p:sp>
      <p:sp>
        <p:nvSpPr>
          <p:cNvPr id="9" name="الحدث"/>
          <p:cNvSpPr/>
          <p:nvPr/>
        </p:nvSpPr>
        <p:spPr>
          <a:xfrm>
            <a:off x="3380036" y="1133921"/>
            <a:ext cx="3298478" cy="2036713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متى حدث؟"/>
          <p:cNvSpPr/>
          <p:nvPr/>
        </p:nvSpPr>
        <p:spPr>
          <a:xfrm>
            <a:off x="421035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متى حدث؟</a:t>
            </a:r>
          </a:p>
          <a:p>
            <a:pPr algn="l" rtl="1"/>
            <a:endParaRPr lang="en-US"/>
          </a:p>
        </p:txBody>
      </p:sp>
      <p:sp>
        <p:nvSpPr>
          <p:cNvPr id="11" name="البداية"/>
          <p:cNvSpPr/>
          <p:nvPr/>
        </p:nvSpPr>
        <p:spPr>
          <a:xfrm>
            <a:off x="6751588" y="2243286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البداية</a:t>
            </a:r>
          </a:p>
          <a:p>
            <a:pPr algn="l" rtl="1"/>
            <a:endParaRPr lang="en-US"/>
          </a:p>
        </p:txBody>
      </p:sp>
      <p:sp>
        <p:nvSpPr>
          <p:cNvPr id="12" name="من شارك؟"/>
          <p:cNvSpPr/>
          <p:nvPr/>
        </p:nvSpPr>
        <p:spPr>
          <a:xfrm>
            <a:off x="421035" y="2243286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من شارك؟</a:t>
            </a:r>
          </a:p>
          <a:p>
            <a:pPr algn="l" rtl="1"/>
            <a:endParaRPr lang="en-US"/>
          </a:p>
        </p:txBody>
      </p:sp>
      <p:sp>
        <p:nvSpPr>
          <p:cNvPr id="13" name="النهاية"/>
          <p:cNvSpPr/>
          <p:nvPr/>
        </p:nvSpPr>
        <p:spPr>
          <a:xfrm>
            <a:off x="6751588" y="3243709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النهاية</a:t>
            </a:r>
          </a:p>
          <a:p>
            <a:pPr algn="l" rtl="1"/>
            <a:endParaRPr lang="en-US"/>
          </a:p>
        </p:txBody>
      </p:sp>
      <p:sp>
        <p:nvSpPr>
          <p:cNvPr id="14" name="لماذا كان مهمًا؟"/>
          <p:cNvSpPr/>
          <p:nvPr/>
        </p:nvSpPr>
        <p:spPr>
          <a:xfrm>
            <a:off x="3380036" y="3243709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مهمًا؟</a:t>
            </a:r>
          </a:p>
          <a:p>
            <a:pPr algn="l" rtl="1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9402961" y="4785122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9402961" y="495895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9402961" y="5132636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9402961" y="5306318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9402961" y="5480149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الأشخاص والمجموعات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ائد مهم"/>
          <p:cNvSpPr/>
          <p:nvPr/>
        </p:nvSpPr>
        <p:spPr>
          <a:xfrm>
            <a:off x="6222504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قائد مهم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لماذا كان هذا الشخص مهمًا؟"/>
          <p:cNvSpPr/>
          <p:nvPr/>
        </p:nvSpPr>
        <p:spPr>
          <a:xfrm>
            <a:off x="6222504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هذا الشخص مهمًا؟</a:t>
            </a:r>
          </a:p>
          <a:p>
            <a:pPr algn="l" rtl="1"/>
            <a:endParaRPr lang="en-US"/>
          </a:p>
        </p:txBody>
      </p:sp>
      <p:sp>
        <p:nvSpPr>
          <p:cNvPr id="9" name="المجموعة 1"/>
          <p:cNvSpPr/>
          <p:nvPr/>
        </p:nvSpPr>
        <p:spPr>
          <a:xfrm>
            <a:off x="4264223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المجموعة 1</a:t>
            </a:r>
          </a:p>
          <a:p>
            <a:pPr algn="ctr" rtl="1"/>
            <a:endParaRPr lang="en-US"/>
          </a:p>
        </p:txBody>
      </p:sp>
      <p:sp>
        <p:nvSpPr>
          <p:cNvPr id="10" name="ماذا أرادت المجموعة 1؟"/>
          <p:cNvSpPr/>
          <p:nvPr/>
        </p:nvSpPr>
        <p:spPr>
          <a:xfrm>
            <a:off x="4264223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ماذا أرادت المجموعة 1؟</a:t>
            </a:r>
          </a:p>
          <a:p>
            <a:pPr algn="l" rtl="1"/>
            <a:endParaRPr lang="en-US"/>
          </a:p>
        </p:txBody>
      </p:sp>
      <p:sp>
        <p:nvSpPr>
          <p:cNvPr id="11" name="ما الاستنتاج الذي يمكنك الوصول إليه؟"/>
          <p:cNvSpPr/>
          <p:nvPr/>
        </p:nvSpPr>
        <p:spPr>
          <a:xfrm>
            <a:off x="4264223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الاستنتاج الذي يمكنك الوصول إليه؟</a:t>
            </a:r>
          </a:p>
          <a:p>
            <a:pPr algn="l" rtl="1"/>
            <a:endParaRPr lang="en-US"/>
          </a:p>
        </p:txBody>
      </p:sp>
      <p:sp>
        <p:nvSpPr>
          <p:cNvPr id="12" name="المجموعة 2"/>
          <p:cNvSpPr/>
          <p:nvPr/>
        </p:nvSpPr>
        <p:spPr>
          <a:xfrm>
            <a:off x="2342555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المجموعة 2</a:t>
            </a:r>
          </a:p>
          <a:p>
            <a:pPr algn="ctr" rtl="1"/>
            <a:endParaRPr lang="en-US"/>
          </a:p>
        </p:txBody>
      </p:sp>
      <p:sp>
        <p:nvSpPr>
          <p:cNvPr id="13" name="ماذا أرادت المجموعة 2؟"/>
          <p:cNvSpPr/>
          <p:nvPr/>
        </p:nvSpPr>
        <p:spPr>
          <a:xfrm>
            <a:off x="2342555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ماذا أرادت المجموعة 2؟</a:t>
            </a:r>
          </a:p>
          <a:p>
            <a:pPr algn="l" rtl="1"/>
            <a:endParaRPr lang="en-US"/>
          </a:p>
        </p:txBody>
      </p:sp>
      <p:sp>
        <p:nvSpPr>
          <p:cNvPr id="14" name="النتيجة"/>
          <p:cNvSpPr/>
          <p:nvPr/>
        </p:nvSpPr>
        <p:spPr>
          <a:xfrm>
            <a:off x="2342555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النتيجة</a:t>
            </a:r>
          </a:p>
          <a:p>
            <a:pPr algn="l" rtl="1"/>
            <a:endParaRPr lang="en-US"/>
          </a:p>
        </p:txBody>
      </p:sp>
      <p:sp>
        <p:nvSpPr>
          <p:cNvPr id="15" name="المجموعة 3"/>
          <p:cNvSpPr/>
          <p:nvPr/>
        </p:nvSpPr>
        <p:spPr>
          <a:xfrm>
            <a:off x="420886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المجموعة 3</a:t>
            </a:r>
          </a:p>
          <a:p>
            <a:pPr algn="ctr" rtl="1"/>
            <a:endParaRPr lang="en-US"/>
          </a:p>
        </p:txBody>
      </p:sp>
      <p:sp>
        <p:nvSpPr>
          <p:cNvPr id="16" name="ماذا أرادت المجموعة 3؟"/>
          <p:cNvSpPr/>
          <p:nvPr/>
        </p:nvSpPr>
        <p:spPr>
          <a:xfrm>
            <a:off x="420886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ماذا أرادت المجموعة 3؟</a:t>
            </a:r>
          </a:p>
          <a:p>
            <a:pPr algn="l" rtl="1"/>
            <a:endParaRPr lang="en-US"/>
          </a:p>
        </p:txBody>
      </p:sp>
      <p:sp>
        <p:nvSpPr>
          <p:cNvPr id="17" name="النتيجة"/>
          <p:cNvSpPr/>
          <p:nvPr/>
        </p:nvSpPr>
        <p:spPr>
          <a:xfrm>
            <a:off x="420886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النتيجة</a:t>
            </a:r>
          </a:p>
          <a:p>
            <a:pPr algn="l" rtl="1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أهمية المكان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خصائص الطبيعية"/>
          <p:cNvSpPr/>
          <p:nvPr/>
        </p:nvSpPr>
        <p:spPr>
          <a:xfrm>
            <a:off x="6467773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الخصائص الطبيعية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682157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9" name="الخصائص البشرية"/>
          <p:cNvSpPr/>
          <p:nvPr/>
        </p:nvSpPr>
        <p:spPr>
          <a:xfrm>
            <a:off x="420886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الخصائص البشرية</a:t>
            </a:r>
          </a:p>
          <a:p>
            <a:pPr algn="l" rtl="1"/>
            <a:endParaRPr lang="en-US"/>
          </a:p>
        </p:txBody>
      </p:sp>
      <p:sp>
        <p:nvSpPr>
          <p:cNvPr id="10" name="لماذا حدث هنا؟"/>
          <p:cNvSpPr/>
          <p:nvPr/>
        </p:nvSpPr>
        <p:spPr>
          <a:xfrm>
            <a:off x="6467773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حدث هنا؟</a:t>
            </a:r>
          </a:p>
          <a:p>
            <a:pPr algn="l" rtl="1"/>
            <a:endParaRPr lang="en-US"/>
          </a:p>
        </p:txBody>
      </p:sp>
      <p:sp>
        <p:nvSpPr>
          <p:cNvPr id="11" name="الحركة / الطرق"/>
          <p:cNvSpPr/>
          <p:nvPr/>
        </p:nvSpPr>
        <p:spPr>
          <a:xfrm>
            <a:off x="3682157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الحركة / الطرق</a:t>
            </a:r>
          </a:p>
          <a:p>
            <a:pPr algn="l" rtl="1"/>
            <a:endParaRPr lang="en-US"/>
          </a:p>
        </p:txBody>
      </p:sp>
      <p:sp>
        <p:nvSpPr>
          <p:cNvPr id="12" name="كيف أثّر المكان في الحدث؟"/>
          <p:cNvSpPr/>
          <p:nvPr/>
        </p:nvSpPr>
        <p:spPr>
          <a:xfrm>
            <a:off x="420886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كيف أثّر المكان في الحدث؟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قبل وبعد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بل"/>
          <p:cNvSpPr/>
          <p:nvPr/>
        </p:nvSpPr>
        <p:spPr>
          <a:xfrm>
            <a:off x="6827639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قبل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63378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l" rtl="1"/>
            <a:endParaRPr lang="en-US"/>
          </a:p>
        </p:txBody>
      </p:sp>
      <p:sp>
        <p:nvSpPr>
          <p:cNvPr id="9" name="بعد"/>
          <p:cNvSpPr/>
          <p:nvPr/>
        </p:nvSpPr>
        <p:spPr>
          <a:xfrm>
            <a:off x="420886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</a:t>
            </a:r>
          </a:p>
          <a:p>
            <a:pPr algn="l" rtl="1"/>
            <a:endParaRPr lang="en-US"/>
          </a:p>
        </p:txBody>
      </p:sp>
      <p:sp>
        <p:nvSpPr>
          <p:cNvPr id="10" name="ما الذي تغيّر؟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تغيّر؟</a:t>
            </a:r>
          </a:p>
          <a:p>
            <a:pPr algn="l" rtl="1"/>
            <a:endParaRPr lang="en-US"/>
          </a:p>
        </p:txBody>
      </p:sp>
      <p:sp>
        <p:nvSpPr>
          <p:cNvPr id="11" name="ما الذي بقي كما هو؟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بقي كما هو؟</a:t>
            </a:r>
          </a:p>
          <a:p>
            <a:pPr algn="l" rtl="1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638419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319033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خريطة أدلة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مصدر 1"/>
          <p:cNvSpPr/>
          <p:nvPr/>
        </p:nvSpPr>
        <p:spPr>
          <a:xfrm>
            <a:off x="6626275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المصدر 1</a:t>
            </a:r>
          </a:p>
          <a:p>
            <a:pPr algn="l" rtl="1"/>
            <a:endParaRPr lang="en-US"/>
          </a:p>
        </p:txBody>
      </p:sp>
      <p:sp>
        <p:nvSpPr>
          <p:cNvPr id="8" name="حقيقة أو دليل مفيد"/>
          <p:cNvSpPr/>
          <p:nvPr/>
        </p:nvSpPr>
        <p:spPr>
          <a:xfrm>
            <a:off x="6626275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حقيقة أو دليل مفيد</a:t>
            </a:r>
          </a:p>
          <a:p>
            <a:pPr algn="l" rtl="1"/>
            <a:endParaRPr lang="en-US"/>
          </a:p>
        </p:txBody>
      </p:sp>
      <p:sp>
        <p:nvSpPr>
          <p:cNvPr id="9" name="المصدر 2"/>
          <p:cNvSpPr/>
          <p:nvPr/>
        </p:nvSpPr>
        <p:spPr>
          <a:xfrm>
            <a:off x="3523655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المصدر 2</a:t>
            </a:r>
          </a:p>
          <a:p>
            <a:pPr algn="l" rtl="1"/>
            <a:endParaRPr lang="en-US"/>
          </a:p>
        </p:txBody>
      </p:sp>
      <p:sp>
        <p:nvSpPr>
          <p:cNvPr id="10" name="حقيقة أو دليل مفيد"/>
          <p:cNvSpPr/>
          <p:nvPr/>
        </p:nvSpPr>
        <p:spPr>
          <a:xfrm>
            <a:off x="3523655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حقيقة أو دليل مفيد</a:t>
            </a:r>
          </a:p>
          <a:p>
            <a:pPr algn="l" rtl="1"/>
            <a:endParaRPr lang="en-US"/>
          </a:p>
        </p:txBody>
      </p:sp>
      <p:sp>
        <p:nvSpPr>
          <p:cNvPr id="11" name="المصدر 3"/>
          <p:cNvSpPr/>
          <p:nvPr/>
        </p:nvSpPr>
        <p:spPr>
          <a:xfrm>
            <a:off x="42088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المصدر 3</a:t>
            </a:r>
          </a:p>
          <a:p>
            <a:pPr algn="l" rtl="1"/>
            <a:endParaRPr lang="en-US"/>
          </a:p>
        </p:txBody>
      </p:sp>
      <p:sp>
        <p:nvSpPr>
          <p:cNvPr id="12" name="حقيقة أو دليل مفيد"/>
          <p:cNvSpPr/>
          <p:nvPr/>
        </p:nvSpPr>
        <p:spPr>
          <a:xfrm>
            <a:off x="42088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حقيقة أو دليل مفيد</a:t>
            </a:r>
          </a:p>
          <a:p>
            <a:pPr algn="l" rtl="1"/>
            <a:endParaRPr lang="en-US"/>
          </a:p>
        </p:txBody>
      </p:sp>
      <p:sp>
        <p:nvSpPr>
          <p:cNvPr id="13" name="ما الاستنتاج الذي يمكنك الوصول إليه؟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الاستنتاج الذي يمكنك الوصول إليه؟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لماذا كان مهمًا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حدث"/>
          <p:cNvSpPr/>
          <p:nvPr/>
        </p:nvSpPr>
        <p:spPr>
          <a:xfrm>
            <a:off x="7056537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8" name="الأثر على الناس"/>
          <p:cNvSpPr/>
          <p:nvPr/>
        </p:nvSpPr>
        <p:spPr>
          <a:xfrm>
            <a:off x="3738711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 على الناس</a:t>
            </a:r>
          </a:p>
          <a:p>
            <a:pPr algn="l" rtl="1"/>
            <a:endParaRPr lang="en-US"/>
          </a:p>
        </p:txBody>
      </p:sp>
      <p:sp>
        <p:nvSpPr>
          <p:cNvPr id="9" name="الأثر على الحكومة"/>
          <p:cNvSpPr/>
          <p:nvPr/>
        </p:nvSpPr>
        <p:spPr>
          <a:xfrm>
            <a:off x="420886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 على الحكومة</a:t>
            </a:r>
          </a:p>
          <a:p>
            <a:pPr algn="l" rtl="1"/>
            <a:endParaRPr lang="en-US"/>
          </a:p>
        </p:txBody>
      </p:sp>
      <p:sp>
        <p:nvSpPr>
          <p:cNvPr id="10" name="الأثر على الاقتصاد"/>
          <p:cNvSpPr/>
          <p:nvPr/>
        </p:nvSpPr>
        <p:spPr>
          <a:xfrm>
            <a:off x="3738711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 على الاقتصاد</a:t>
            </a:r>
          </a:p>
          <a:p>
            <a:pPr algn="l" rtl="1"/>
            <a:endParaRPr lang="en-US"/>
          </a:p>
        </p:txBody>
      </p:sp>
      <p:sp>
        <p:nvSpPr>
          <p:cNvPr id="11" name="الأثر على المجتمع / الثقافة"/>
          <p:cNvSpPr/>
          <p:nvPr/>
        </p:nvSpPr>
        <p:spPr>
          <a:xfrm>
            <a:off x="420886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 على المجتمع / الثقافة</a:t>
            </a:r>
          </a:p>
          <a:p>
            <a:pPr algn="l" rtl="1"/>
            <a:endParaRPr lang="en-US"/>
          </a:p>
        </p:txBody>
      </p:sp>
      <p:sp>
        <p:nvSpPr>
          <p:cNvPr id="12" name="أي تغيير كان الأهم؟"/>
          <p:cNvSpPr/>
          <p:nvPr/>
        </p:nvSpPr>
        <p:spPr>
          <a:xfrm>
            <a:off x="7056537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 تغيير كان الأهم؟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محقق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ما الذي سببه؟"/>
          <p:cNvSpPr/>
          <p:nvPr/>
        </p:nvSpPr>
        <p:spPr>
          <a:xfrm>
            <a:off x="675813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سببه؟</a:t>
            </a:r>
          </a:p>
          <a:p>
            <a:pPr algn="l" rtl="1"/>
            <a:endParaRPr lang="en-US"/>
          </a:p>
        </p:txBody>
      </p:sp>
      <p:sp>
        <p:nvSpPr>
          <p:cNvPr id="8" name="لماذا كان مهمًا؟"/>
          <p:cNvSpPr/>
          <p:nvPr/>
        </p:nvSpPr>
        <p:spPr>
          <a:xfrm>
            <a:off x="3373636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مهمًا؟</a:t>
            </a:r>
          </a:p>
          <a:p>
            <a:pPr algn="l" rtl="1"/>
            <a:endParaRPr lang="en-US"/>
          </a:p>
        </p:txBody>
      </p:sp>
      <p:sp>
        <p:nvSpPr>
          <p:cNvPr id="9" name="النتيجة"/>
          <p:cNvSpPr/>
          <p:nvPr/>
        </p:nvSpPr>
        <p:spPr>
          <a:xfrm>
            <a:off x="421035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النتيجة</a:t>
            </a:r>
          </a:p>
          <a:p>
            <a:pPr algn="l" rtl="1"/>
            <a:endParaRPr lang="en-US"/>
          </a:p>
        </p:txBody>
      </p:sp>
      <p:sp>
        <p:nvSpPr>
          <p:cNvPr id="10" name="كيف حدث؟"/>
          <p:cNvSpPr/>
          <p:nvPr/>
        </p:nvSpPr>
        <p:spPr>
          <a:xfrm>
            <a:off x="675813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كيف حدث؟</a:t>
            </a:r>
          </a:p>
          <a:p>
            <a:pPr algn="l" rtl="1"/>
            <a:endParaRPr lang="en-US"/>
          </a:p>
        </p:txBody>
      </p:sp>
      <p:sp>
        <p:nvSpPr>
          <p:cNvPr id="11" name="الحدث"/>
          <p:cNvSpPr/>
          <p:nvPr/>
        </p:nvSpPr>
        <p:spPr>
          <a:xfrm>
            <a:off x="3373636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12" name="متى حدث؟"/>
          <p:cNvSpPr/>
          <p:nvPr/>
        </p:nvSpPr>
        <p:spPr>
          <a:xfrm>
            <a:off x="421035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متى حدث؟</a:t>
            </a:r>
          </a:p>
          <a:p>
            <a:pPr algn="l" rtl="1"/>
            <a:endParaRPr lang="en-US"/>
          </a:p>
        </p:txBody>
      </p:sp>
      <p:sp>
        <p:nvSpPr>
          <p:cNvPr id="13" name="المجموعات المشاركة"/>
          <p:cNvSpPr/>
          <p:nvPr/>
        </p:nvSpPr>
        <p:spPr>
          <a:xfrm>
            <a:off x="675813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المجموعات المشاركة</a:t>
            </a:r>
          </a:p>
          <a:p>
            <a:pPr algn="l" rtl="1"/>
            <a:endParaRPr lang="en-US"/>
          </a:p>
        </p:txBody>
      </p:sp>
      <p:sp>
        <p:nvSpPr>
          <p:cNvPr id="14" name="أين حدث؟"/>
          <p:cNvSpPr/>
          <p:nvPr/>
        </p:nvSpPr>
        <p:spPr>
          <a:xfrm>
            <a:off x="3373636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حدث؟</a:t>
            </a:r>
          </a:p>
          <a:p>
            <a:pPr algn="l" rtl="1"/>
            <a:endParaRPr lang="en-US"/>
          </a:p>
        </p:txBody>
      </p:sp>
      <p:sp>
        <p:nvSpPr>
          <p:cNvPr id="15" name="قائد مهم"/>
          <p:cNvSpPr/>
          <p:nvPr/>
        </p:nvSpPr>
        <p:spPr>
          <a:xfrm>
            <a:off x="421035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قائد مهم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أسباب تحت الضغط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أسباب طويلة المدى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أسباب طويلة المدى</a:t>
            </a:r>
          </a:p>
          <a:p>
            <a:pPr algn="l" rtl="1"/>
            <a:endParaRPr lang="en-US"/>
          </a:p>
        </p:txBody>
      </p:sp>
      <p:sp>
        <p:nvSpPr>
          <p:cNvPr id="8" name="أسباب قصيرة المدى"/>
          <p:cNvSpPr/>
          <p:nvPr/>
        </p:nvSpPr>
        <p:spPr>
          <a:xfrm>
            <a:off x="5230713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أسباب قصيرة المدى</a:t>
            </a:r>
          </a:p>
          <a:p>
            <a:pPr algn="l" rtl="1"/>
            <a:endParaRPr lang="en-US"/>
          </a:p>
        </p:txBody>
      </p:sp>
      <p:sp>
        <p:nvSpPr>
          <p:cNvPr id="9" name="الشرارة / السبب المباشر"/>
          <p:cNvSpPr/>
          <p:nvPr/>
        </p:nvSpPr>
        <p:spPr>
          <a:xfrm>
            <a:off x="2816275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الشرارة / السبب المباشر</a:t>
            </a:r>
          </a:p>
          <a:p>
            <a:pPr algn="l" rtl="1"/>
            <a:endParaRPr lang="en-US"/>
          </a:p>
        </p:txBody>
      </p:sp>
      <p:sp>
        <p:nvSpPr>
          <p:cNvPr id="10" name="الحدث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l" rtl="1"/>
            <a:endParaRPr lang="en-US"/>
          </a:p>
        </p:txBody>
      </p:sp>
      <p:sp>
        <p:nvSpPr>
          <p:cNvPr id="11" name="الآثار الفورية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الآثار الفورية</a:t>
            </a:r>
          </a:p>
          <a:p>
            <a:pPr algn="l" rtl="1"/>
            <a:endParaRPr lang="en-US"/>
          </a:p>
        </p:txBody>
      </p:sp>
      <p:sp>
        <p:nvSpPr>
          <p:cNvPr id="12" name="الآثار اللاحقة / طويلة المدى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الآثار اللاحقة / طويلة المدى</a:t>
            </a:r>
          </a:p>
          <a:p>
            <a:pPr algn="l" rtl="1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8726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خريطة نقطة التحول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بل"/>
          <p:cNvSpPr/>
          <p:nvPr/>
        </p:nvSpPr>
        <p:spPr>
          <a:xfrm>
            <a:off x="7225605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قبل</a:t>
            </a:r>
          </a:p>
          <a:p>
            <a:pPr algn="l" rtl="1"/>
            <a:endParaRPr lang="en-US"/>
          </a:p>
        </p:txBody>
      </p:sp>
      <p:sp>
        <p:nvSpPr>
          <p:cNvPr id="8" name="نقطة تحوّل"/>
          <p:cNvSpPr/>
          <p:nvPr/>
        </p:nvSpPr>
        <p:spPr>
          <a:xfrm>
            <a:off x="3823246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نقطة تحوّل</a:t>
            </a:r>
          </a:p>
          <a:p>
            <a:pPr algn="l" rtl="1"/>
            <a:endParaRPr lang="en-US"/>
          </a:p>
        </p:txBody>
      </p:sp>
      <p:sp>
        <p:nvSpPr>
          <p:cNvPr id="9" name="بعد"/>
          <p:cNvSpPr/>
          <p:nvPr/>
        </p:nvSpPr>
        <p:spPr>
          <a:xfrm>
            <a:off x="420886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</a:t>
            </a:r>
          </a:p>
          <a:p>
            <a:pPr algn="l" rtl="1"/>
            <a:endParaRPr lang="en-US"/>
          </a:p>
        </p:txBody>
      </p:sp>
      <p:sp>
        <p:nvSpPr>
          <p:cNvPr id="10" name="ضغوط متراكمة"/>
          <p:cNvSpPr/>
          <p:nvPr/>
        </p:nvSpPr>
        <p:spPr>
          <a:xfrm>
            <a:off x="6308378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ضغوط متراكمة</a:t>
            </a:r>
          </a:p>
          <a:p>
            <a:pPr algn="l" rtl="1"/>
            <a:endParaRPr lang="en-US"/>
          </a:p>
        </p:txBody>
      </p:sp>
      <p:sp>
        <p:nvSpPr>
          <p:cNvPr id="11" name="تغيير طويل المدى"/>
          <p:cNvSpPr/>
          <p:nvPr/>
        </p:nvSpPr>
        <p:spPr>
          <a:xfrm>
            <a:off x="3373785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تغيير طويل المدى</a:t>
            </a:r>
          </a:p>
          <a:p>
            <a:pPr algn="l" rtl="1"/>
            <a:endParaRPr lang="en-US"/>
          </a:p>
        </p:txBody>
      </p:sp>
      <p:sp>
        <p:nvSpPr>
          <p:cNvPr id="12" name="لماذا كان نقطة تحوّل؟"/>
          <p:cNvSpPr/>
          <p:nvPr/>
        </p:nvSpPr>
        <p:spPr>
          <a:xfrm>
            <a:off x="42088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نقطة تحوّل؟</a:t>
            </a:r>
          </a:p>
          <a:p>
            <a:pPr algn="l" rtl="1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6308378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2906018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وجهات نظر متعددة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مجموعة 1"/>
          <p:cNvSpPr/>
          <p:nvPr/>
        </p:nvSpPr>
        <p:spPr>
          <a:xfrm>
            <a:off x="6339185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المجموعة 1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792438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9" name="المجموعة 2"/>
          <p:cNvSpPr/>
          <p:nvPr/>
        </p:nvSpPr>
        <p:spPr>
          <a:xfrm>
            <a:off x="42088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المجموعة 2</a:t>
            </a:r>
          </a:p>
          <a:p>
            <a:pPr algn="l" rtl="1"/>
            <a:endParaRPr lang="en-US"/>
          </a:p>
        </p:txBody>
      </p:sp>
      <p:sp>
        <p:nvSpPr>
          <p:cNvPr id="10" name="المجموعة 3"/>
          <p:cNvSpPr/>
          <p:nvPr/>
        </p:nvSpPr>
        <p:spPr>
          <a:xfrm>
            <a:off x="6339185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المجموعة 3</a:t>
            </a:r>
          </a:p>
          <a:p>
            <a:pPr algn="l" rtl="1"/>
            <a:endParaRPr lang="en-US"/>
          </a:p>
        </p:txBody>
      </p:sp>
      <p:sp>
        <p:nvSpPr>
          <p:cNvPr id="11" name="المجموعة 4"/>
          <p:cNvSpPr/>
          <p:nvPr/>
        </p:nvSpPr>
        <p:spPr>
          <a:xfrm>
            <a:off x="42088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المجموعة 4</a:t>
            </a:r>
          </a:p>
          <a:p>
            <a:pPr algn="l" rtl="1"/>
            <a:endParaRPr lang="en-US"/>
          </a:p>
        </p:txBody>
      </p:sp>
      <p:sp>
        <p:nvSpPr>
          <p:cNvPr id="12" name="أين اتفقوا؟"/>
          <p:cNvSpPr/>
          <p:nvPr/>
        </p:nvSpPr>
        <p:spPr>
          <a:xfrm>
            <a:off x="6626275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اتفقوا؟</a:t>
            </a:r>
          </a:p>
          <a:p>
            <a:pPr algn="l" rtl="1"/>
            <a:endParaRPr lang="en-US"/>
          </a:p>
        </p:txBody>
      </p:sp>
      <p:sp>
        <p:nvSpPr>
          <p:cNvPr id="13" name="أين اختلفوا؟"/>
          <p:cNvSpPr/>
          <p:nvPr/>
        </p:nvSpPr>
        <p:spPr>
          <a:xfrm>
            <a:off x="3523655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اختلفوا؟</a:t>
            </a:r>
          </a:p>
          <a:p>
            <a:pPr algn="l" rtl="1"/>
            <a:endParaRPr lang="en-US"/>
          </a:p>
        </p:txBody>
      </p:sp>
      <p:sp>
        <p:nvSpPr>
          <p:cNvPr id="14" name="صوت من غائب؟"/>
          <p:cNvSpPr/>
          <p:nvPr/>
        </p:nvSpPr>
        <p:spPr>
          <a:xfrm>
            <a:off x="42088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صوت من غائب؟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القائد والحدث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ائد مهم"/>
          <p:cNvSpPr/>
          <p:nvPr/>
        </p:nvSpPr>
        <p:spPr>
          <a:xfrm>
            <a:off x="6222504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قائد مهم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الأثر"/>
          <p:cNvSpPr/>
          <p:nvPr/>
        </p:nvSpPr>
        <p:spPr>
          <a:xfrm>
            <a:off x="6222504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</a:t>
            </a:r>
          </a:p>
          <a:p>
            <a:pPr algn="l" rtl="1"/>
            <a:endParaRPr lang="en-US"/>
          </a:p>
        </p:txBody>
      </p:sp>
      <p:sp>
        <p:nvSpPr>
          <p:cNvPr id="9" name="الدليل"/>
          <p:cNvSpPr/>
          <p:nvPr/>
        </p:nvSpPr>
        <p:spPr>
          <a:xfrm>
            <a:off x="6222504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الدليل</a:t>
            </a:r>
          </a:p>
          <a:p>
            <a:pPr algn="l" rtl="1"/>
            <a:endParaRPr lang="en-US"/>
          </a:p>
        </p:txBody>
      </p:sp>
      <p:sp>
        <p:nvSpPr>
          <p:cNvPr id="10" name="الحدث"/>
          <p:cNvSpPr/>
          <p:nvPr/>
        </p:nvSpPr>
        <p:spPr>
          <a:xfrm>
            <a:off x="421035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أهداف القائد"/>
          <p:cNvSpPr/>
          <p:nvPr/>
        </p:nvSpPr>
        <p:spPr>
          <a:xfrm>
            <a:off x="3312616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أهداف القائد</a:t>
            </a:r>
          </a:p>
          <a:p>
            <a:pPr algn="l" rtl="1"/>
            <a:endParaRPr lang="en-US"/>
          </a:p>
        </p:txBody>
      </p:sp>
      <p:sp>
        <p:nvSpPr>
          <p:cNvPr id="12" name="قرارات رئيسية"/>
          <p:cNvSpPr/>
          <p:nvPr/>
        </p:nvSpPr>
        <p:spPr>
          <a:xfrm>
            <a:off x="421035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قرارات رئيسية</a:t>
            </a:r>
          </a:p>
          <a:p>
            <a:pPr algn="l" rtl="1"/>
            <a:endParaRPr lang="en-US"/>
          </a:p>
        </p:txBody>
      </p:sp>
      <p:sp>
        <p:nvSpPr>
          <p:cNvPr id="13" name="حلفاء / مؤيدون"/>
          <p:cNvSpPr/>
          <p:nvPr/>
        </p:nvSpPr>
        <p:spPr>
          <a:xfrm>
            <a:off x="3312616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حلفاء / مؤيدون</a:t>
            </a:r>
          </a:p>
          <a:p>
            <a:pPr algn="l" rtl="1"/>
            <a:endParaRPr lang="en-US"/>
          </a:p>
        </p:txBody>
      </p:sp>
      <p:sp>
        <p:nvSpPr>
          <p:cNvPr id="14" name="معارضون"/>
          <p:cNvSpPr/>
          <p:nvPr/>
        </p:nvSpPr>
        <p:spPr>
          <a:xfrm>
            <a:off x="421035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معارضون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خريطة الصراع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طرف / المجموعة أ"/>
          <p:cNvSpPr/>
          <p:nvPr/>
        </p:nvSpPr>
        <p:spPr>
          <a:xfrm>
            <a:off x="6352580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الطرف / المجموعة أ</a:t>
            </a:r>
          </a:p>
          <a:p>
            <a:pPr algn="l" rtl="1"/>
            <a:endParaRPr lang="en-US"/>
          </a:p>
        </p:txBody>
      </p:sp>
      <p:sp>
        <p:nvSpPr>
          <p:cNvPr id="8" name="هدف الطرف أ"/>
          <p:cNvSpPr/>
          <p:nvPr/>
        </p:nvSpPr>
        <p:spPr>
          <a:xfrm>
            <a:off x="6352580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هدف الطرف أ</a:t>
            </a:r>
          </a:p>
          <a:p>
            <a:pPr algn="l" rtl="1"/>
            <a:endParaRPr lang="en-US"/>
          </a:p>
        </p:txBody>
      </p:sp>
      <p:sp>
        <p:nvSpPr>
          <p:cNvPr id="9" name="إجراء الطرف أ"/>
          <p:cNvSpPr/>
          <p:nvPr/>
        </p:nvSpPr>
        <p:spPr>
          <a:xfrm>
            <a:off x="6352580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إجراء الطرف أ</a:t>
            </a:r>
          </a:p>
          <a:p>
            <a:pPr algn="l" rtl="1"/>
            <a:endParaRPr lang="en-US"/>
          </a:p>
        </p:txBody>
      </p:sp>
      <p:sp>
        <p:nvSpPr>
          <p:cNvPr id="10" name="حدث الصراع"/>
          <p:cNvSpPr/>
          <p:nvPr/>
        </p:nvSpPr>
        <p:spPr>
          <a:xfrm>
            <a:off x="3797350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حدث الصراع</a:t>
            </a:r>
          </a:p>
        </p:txBody>
      </p:sp>
      <p:sp>
        <p:nvSpPr>
          <p:cNvPr id="11" name="الطرف / المجموعة ب"/>
          <p:cNvSpPr/>
          <p:nvPr/>
        </p:nvSpPr>
        <p:spPr>
          <a:xfrm>
            <a:off x="421035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الطرف / المجموعة ب</a:t>
            </a:r>
          </a:p>
          <a:p>
            <a:pPr algn="l" rtl="1"/>
            <a:endParaRPr lang="en-US"/>
          </a:p>
        </p:txBody>
      </p:sp>
      <p:sp>
        <p:nvSpPr>
          <p:cNvPr id="12" name="هدف الطرف ب"/>
          <p:cNvSpPr/>
          <p:nvPr/>
        </p:nvSpPr>
        <p:spPr>
          <a:xfrm>
            <a:off x="421035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هدف الطرف ب</a:t>
            </a:r>
          </a:p>
          <a:p>
            <a:pPr algn="l" rtl="1"/>
            <a:endParaRPr lang="en-US"/>
          </a:p>
        </p:txBody>
      </p:sp>
      <p:sp>
        <p:nvSpPr>
          <p:cNvPr id="13" name="إجراء الطرف ب"/>
          <p:cNvSpPr/>
          <p:nvPr/>
        </p:nvSpPr>
        <p:spPr>
          <a:xfrm>
            <a:off x="421035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إجراء الطرف ب</a:t>
            </a:r>
          </a:p>
          <a:p>
            <a:pPr algn="l" rtl="1"/>
            <a:endParaRPr lang="en-US"/>
          </a:p>
        </p:txBody>
      </p:sp>
      <p:sp>
        <p:nvSpPr>
          <p:cNvPr id="14" name="التسوية / الحل"/>
          <p:cNvSpPr/>
          <p:nvPr/>
        </p:nvSpPr>
        <p:spPr>
          <a:xfrm>
            <a:off x="5075039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التسوية / الحل</a:t>
            </a:r>
          </a:p>
          <a:p>
            <a:pPr algn="l" rtl="1"/>
            <a:endParaRPr lang="en-US"/>
          </a:p>
        </p:txBody>
      </p:sp>
      <p:sp>
        <p:nvSpPr>
          <p:cNvPr id="15" name="النتيجة"/>
          <p:cNvSpPr/>
          <p:nvPr/>
        </p:nvSpPr>
        <p:spPr>
          <a:xfrm>
            <a:off x="421035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النتيجة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سلسلة ردود الفعل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إجراء 1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الإجراء 1</a:t>
            </a:r>
          </a:p>
          <a:p>
            <a:pPr algn="l" rtl="1"/>
            <a:endParaRPr lang="en-US"/>
          </a:p>
        </p:txBody>
      </p:sp>
      <p:sp>
        <p:nvSpPr>
          <p:cNvPr id="8" name="رد الفعل 1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رد الفعل 1</a:t>
            </a:r>
          </a:p>
          <a:p>
            <a:pPr algn="l" rtl="1"/>
            <a:endParaRPr lang="en-US"/>
          </a:p>
        </p:txBody>
      </p:sp>
      <p:sp>
        <p:nvSpPr>
          <p:cNvPr id="9" name="الإجراء 2"/>
          <p:cNvSpPr/>
          <p:nvPr/>
        </p:nvSpPr>
        <p:spPr>
          <a:xfrm>
            <a:off x="5211663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الإجراء 2</a:t>
            </a:r>
          </a:p>
          <a:p>
            <a:pPr algn="l" rtl="1"/>
            <a:endParaRPr lang="en-US"/>
          </a:p>
        </p:txBody>
      </p:sp>
      <p:sp>
        <p:nvSpPr>
          <p:cNvPr id="10" name="رد الفعل 2"/>
          <p:cNvSpPr/>
          <p:nvPr/>
        </p:nvSpPr>
        <p:spPr>
          <a:xfrm>
            <a:off x="3614738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رد الفعل 2</a:t>
            </a:r>
          </a:p>
          <a:p>
            <a:pPr algn="l" rtl="1"/>
            <a:endParaRPr lang="en-US"/>
          </a:p>
        </p:txBody>
      </p:sp>
      <p:sp>
        <p:nvSpPr>
          <p:cNvPr id="11" name="أزمة / نقطة تحوّل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أزمة / نقطة تحوّل</a:t>
            </a:r>
          </a:p>
          <a:p>
            <a:pPr algn="l" rtl="1"/>
            <a:endParaRPr lang="en-US"/>
          </a:p>
        </p:txBody>
      </p:sp>
      <p:sp>
        <p:nvSpPr>
          <p:cNvPr id="12" name="النتيجة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النتيجة</a:t>
            </a:r>
          </a:p>
          <a:p>
            <a:pPr algn="l" rtl="1"/>
            <a:endParaRPr lang="en-US"/>
          </a:p>
        </p:txBody>
      </p:sp>
      <p:sp>
        <p:nvSpPr>
          <p:cNvPr id="13" name="الحلقة الأكثر أهمية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الحلقة الأكثر أهمية</a:t>
            </a:r>
          </a:p>
          <a:p>
            <a:pPr algn="l" rtl="1"/>
            <a:endParaRPr lang="en-US"/>
          </a:p>
        </p:txBody>
      </p:sp>
      <p:sp>
        <p:nvSpPr>
          <p:cNvPr id="14" name="الدليل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الدليل</a:t>
            </a:r>
          </a:p>
          <a:p>
            <a:pPr algn="l" rtl="1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6821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جغرافية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جغرافيا الطبيعية"/>
          <p:cNvSpPr/>
          <p:nvPr/>
        </p:nvSpPr>
        <p:spPr>
          <a:xfrm>
            <a:off x="6509891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الجغرافيا الطبيعية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621732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9" name="الجغرافيا البشرية"/>
          <p:cNvSpPr/>
          <p:nvPr/>
        </p:nvSpPr>
        <p:spPr>
          <a:xfrm>
            <a:off x="421035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الجغرافيا البشرية</a:t>
            </a:r>
          </a:p>
          <a:p>
            <a:pPr algn="l" rtl="1"/>
            <a:endParaRPr lang="en-US"/>
          </a:p>
        </p:txBody>
      </p:sp>
      <p:sp>
        <p:nvSpPr>
          <p:cNvPr id="10" name="الموارد"/>
          <p:cNvSpPr/>
          <p:nvPr/>
        </p:nvSpPr>
        <p:spPr>
          <a:xfrm>
            <a:off x="6509891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الموارد</a:t>
            </a:r>
          </a:p>
          <a:p>
            <a:pPr algn="l" rtl="1"/>
            <a:endParaRPr lang="en-US"/>
          </a:p>
        </p:txBody>
      </p:sp>
      <p:sp>
        <p:nvSpPr>
          <p:cNvPr id="11" name="الحركة / الطرق"/>
          <p:cNvSpPr/>
          <p:nvPr/>
        </p:nvSpPr>
        <p:spPr>
          <a:xfrm>
            <a:off x="421035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الحركة / الطرق</a:t>
            </a:r>
          </a:p>
          <a:p>
            <a:pPr algn="l" rtl="1"/>
            <a:endParaRPr lang="en-US"/>
          </a:p>
        </p:txBody>
      </p:sp>
      <p:sp>
        <p:nvSpPr>
          <p:cNvPr id="12" name="لماذا كان الموقع مهمًا؟"/>
          <p:cNvSpPr/>
          <p:nvPr/>
        </p:nvSpPr>
        <p:spPr>
          <a:xfrm>
            <a:off x="5075039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الموقع مهمًا؟</a:t>
            </a:r>
          </a:p>
          <a:p>
            <a:pPr algn="l" rtl="1"/>
            <a:endParaRPr lang="en-US"/>
          </a:p>
        </p:txBody>
      </p:sp>
      <p:sp>
        <p:nvSpPr>
          <p:cNvPr id="13" name="الأثر الجغرافي"/>
          <p:cNvSpPr/>
          <p:nvPr/>
        </p:nvSpPr>
        <p:spPr>
          <a:xfrm>
            <a:off x="421035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 الجغرافي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خريطة سياق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سياق التاريخي"/>
          <p:cNvSpPr/>
          <p:nvPr/>
        </p:nvSpPr>
        <p:spPr>
          <a:xfrm>
            <a:off x="675813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السياق التاريخي</a:t>
            </a:r>
          </a:p>
          <a:p>
            <a:pPr algn="l" rtl="1"/>
            <a:endParaRPr lang="en-US"/>
          </a:p>
        </p:txBody>
      </p:sp>
      <p:sp>
        <p:nvSpPr>
          <p:cNvPr id="8" name="أسباب طويلة المدى"/>
          <p:cNvSpPr/>
          <p:nvPr/>
        </p:nvSpPr>
        <p:spPr>
          <a:xfrm>
            <a:off x="3373487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أسباب طويلة المدى</a:t>
            </a:r>
          </a:p>
          <a:p>
            <a:pPr algn="l" rtl="1"/>
            <a:endParaRPr lang="en-US"/>
          </a:p>
        </p:txBody>
      </p:sp>
      <p:sp>
        <p:nvSpPr>
          <p:cNvPr id="9" name="السبب المباشر"/>
          <p:cNvSpPr/>
          <p:nvPr/>
        </p:nvSpPr>
        <p:spPr>
          <a:xfrm>
            <a:off x="421035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المباشر</a:t>
            </a:r>
          </a:p>
          <a:p>
            <a:pPr algn="l" rtl="1"/>
            <a:endParaRPr lang="en-US"/>
          </a:p>
        </p:txBody>
      </p:sp>
      <p:sp>
        <p:nvSpPr>
          <p:cNvPr id="10" name="أشخاص / مجموعات رئيسية"/>
          <p:cNvSpPr/>
          <p:nvPr/>
        </p:nvSpPr>
        <p:spPr>
          <a:xfrm>
            <a:off x="675813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أشخاص / مجموعات رئيسية</a:t>
            </a:r>
          </a:p>
          <a:p>
            <a:pPr algn="l" rtl="1"/>
            <a:endParaRPr lang="en-US"/>
          </a:p>
        </p:txBody>
      </p:sp>
      <p:sp>
        <p:nvSpPr>
          <p:cNvPr id="11" name="ماذا حدث؟"/>
          <p:cNvSpPr/>
          <p:nvPr/>
        </p:nvSpPr>
        <p:spPr>
          <a:xfrm>
            <a:off x="421035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ماذا حدث؟</a:t>
            </a:r>
          </a:p>
          <a:p>
            <a:pPr algn="l" rtl="1"/>
            <a:endParaRPr lang="en-US"/>
          </a:p>
        </p:txBody>
      </p:sp>
      <p:sp>
        <p:nvSpPr>
          <p:cNvPr id="12" name="الحدث"/>
          <p:cNvSpPr/>
          <p:nvPr/>
        </p:nvSpPr>
        <p:spPr>
          <a:xfrm>
            <a:off x="3373487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نتيجة فورية"/>
          <p:cNvSpPr/>
          <p:nvPr/>
        </p:nvSpPr>
        <p:spPr>
          <a:xfrm>
            <a:off x="675813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نتيجة فورية</a:t>
            </a:r>
          </a:p>
          <a:p>
            <a:pPr algn="l" rtl="1"/>
            <a:endParaRPr lang="en-US"/>
          </a:p>
        </p:txBody>
      </p:sp>
      <p:sp>
        <p:nvSpPr>
          <p:cNvPr id="14" name="نتيجة طويلة المدى"/>
          <p:cNvSpPr/>
          <p:nvPr/>
        </p:nvSpPr>
        <p:spPr>
          <a:xfrm>
            <a:off x="3373487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نتيجة طويلة المدى</a:t>
            </a:r>
          </a:p>
          <a:p>
            <a:pPr algn="l" rtl="1"/>
            <a:endParaRPr lang="en-US"/>
          </a:p>
        </p:txBody>
      </p:sp>
      <p:sp>
        <p:nvSpPr>
          <p:cNvPr id="15" name="الأهمية التاريخية"/>
          <p:cNvSpPr/>
          <p:nvPr/>
        </p:nvSpPr>
        <p:spPr>
          <a:xfrm>
            <a:off x="421035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الأهمية التاريخية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ترتيب الأسباب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سبب 1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1</a:t>
            </a:r>
          </a:p>
          <a:p>
            <a:pPr algn="l" rtl="1"/>
            <a:endParaRPr lang="en-US"/>
          </a:p>
        </p:txBody>
      </p:sp>
      <p:sp>
        <p:nvSpPr>
          <p:cNvPr id="8" name="السبب 2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2</a:t>
            </a:r>
          </a:p>
          <a:p>
            <a:pPr algn="l" rtl="1"/>
            <a:endParaRPr lang="en-US"/>
          </a:p>
        </p:txBody>
      </p:sp>
      <p:sp>
        <p:nvSpPr>
          <p:cNvPr id="9" name="السبب 3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3</a:t>
            </a:r>
          </a:p>
          <a:p>
            <a:pPr algn="l" rtl="1"/>
            <a:endParaRPr lang="en-US"/>
          </a:p>
        </p:txBody>
      </p:sp>
      <p:sp>
        <p:nvSpPr>
          <p:cNvPr id="10" name="السبب 4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4</a:t>
            </a:r>
          </a:p>
          <a:p>
            <a:pPr algn="l" rtl="1"/>
            <a:endParaRPr lang="en-US"/>
          </a:p>
        </p:txBody>
      </p:sp>
      <p:sp>
        <p:nvSpPr>
          <p:cNvPr id="11" name="رتّب الأسباب 1-4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رتّب الأسباب 1-4</a:t>
            </a:r>
          </a:p>
          <a:p>
            <a:pPr algn="l" rtl="1"/>
            <a:endParaRPr lang="en-US"/>
          </a:p>
        </p:txBody>
      </p:sp>
      <p:sp>
        <p:nvSpPr>
          <p:cNvPr id="12" name="السبب الأهم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الأهم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تحليل نقطة التحول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بل"/>
          <p:cNvSpPr/>
          <p:nvPr/>
        </p:nvSpPr>
        <p:spPr>
          <a:xfrm>
            <a:off x="6620173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قبل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520529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l" rtl="1"/>
            <a:endParaRPr lang="en-US"/>
          </a:p>
        </p:txBody>
      </p:sp>
      <p:sp>
        <p:nvSpPr>
          <p:cNvPr id="9" name="تغيير فوري"/>
          <p:cNvSpPr/>
          <p:nvPr/>
        </p:nvSpPr>
        <p:spPr>
          <a:xfrm>
            <a:off x="421035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تغيير فوري</a:t>
            </a:r>
          </a:p>
          <a:p>
            <a:pPr algn="l" rtl="1"/>
            <a:endParaRPr lang="en-US"/>
          </a:p>
        </p:txBody>
      </p:sp>
      <p:sp>
        <p:nvSpPr>
          <p:cNvPr id="10" name="تغيير طويل المدى"/>
          <p:cNvSpPr/>
          <p:nvPr/>
        </p:nvSpPr>
        <p:spPr>
          <a:xfrm>
            <a:off x="6620173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تغيير طويل المدى</a:t>
            </a:r>
          </a:p>
          <a:p>
            <a:pPr algn="l" rtl="1"/>
            <a:endParaRPr lang="en-US"/>
          </a:p>
        </p:txBody>
      </p:sp>
      <p:sp>
        <p:nvSpPr>
          <p:cNvPr id="11" name="ما الذي استمر؟"/>
          <p:cNvSpPr/>
          <p:nvPr/>
        </p:nvSpPr>
        <p:spPr>
          <a:xfrm>
            <a:off x="3520529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استمر؟</a:t>
            </a:r>
          </a:p>
          <a:p>
            <a:pPr algn="l" rtl="1"/>
            <a:endParaRPr lang="en-US"/>
          </a:p>
        </p:txBody>
      </p:sp>
      <p:sp>
        <p:nvSpPr>
          <p:cNvPr id="12" name="هل كان فعلًا نقطة تحوّل؟"/>
          <p:cNvSpPr/>
          <p:nvPr/>
        </p:nvSpPr>
        <p:spPr>
          <a:xfrm>
            <a:off x="421035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هل كان فعلًا نقطة تحوّل؟</a:t>
            </a:r>
          </a:p>
          <a:p>
            <a:pPr algn="l" rtl="1"/>
            <a:endParaRPr lang="en-US"/>
          </a:p>
        </p:txBody>
      </p:sp>
      <p:sp>
        <p:nvSpPr>
          <p:cNvPr id="13" name="الدليل"/>
          <p:cNvSpPr/>
          <p:nvPr/>
        </p:nvSpPr>
        <p:spPr>
          <a:xfrm>
            <a:off x="421035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الدليل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وجهات النظر والأدلة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منظور 1"/>
          <p:cNvSpPr/>
          <p:nvPr/>
        </p:nvSpPr>
        <p:spPr>
          <a:xfrm>
            <a:off x="6398121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المنظور 1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733502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9" name="المنظور 2"/>
          <p:cNvSpPr/>
          <p:nvPr/>
        </p:nvSpPr>
        <p:spPr>
          <a:xfrm>
            <a:off x="420886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المنظور 2</a:t>
            </a:r>
          </a:p>
          <a:p>
            <a:pPr algn="l" rtl="1"/>
            <a:endParaRPr lang="en-US"/>
          </a:p>
        </p:txBody>
      </p:sp>
      <p:sp>
        <p:nvSpPr>
          <p:cNvPr id="10" name="المنظور 3"/>
          <p:cNvSpPr/>
          <p:nvPr/>
        </p:nvSpPr>
        <p:spPr>
          <a:xfrm>
            <a:off x="6398121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المنظور 3</a:t>
            </a:r>
          </a:p>
          <a:p>
            <a:pPr algn="l" rtl="1"/>
            <a:endParaRPr lang="en-US"/>
          </a:p>
        </p:txBody>
      </p:sp>
      <p:sp>
        <p:nvSpPr>
          <p:cNvPr id="11" name="المنظور 4"/>
          <p:cNvSpPr/>
          <p:nvPr/>
        </p:nvSpPr>
        <p:spPr>
          <a:xfrm>
            <a:off x="420886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المنظور 4</a:t>
            </a:r>
          </a:p>
          <a:p>
            <a:pPr algn="l" rtl="1"/>
            <a:endParaRPr lang="en-US"/>
          </a:p>
        </p:txBody>
      </p:sp>
      <p:sp>
        <p:nvSpPr>
          <p:cNvPr id="12" name="الدليل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الدليل</a:t>
            </a:r>
          </a:p>
          <a:p>
            <a:pPr algn="l" rtl="1"/>
            <a:endParaRPr lang="en-US"/>
          </a:p>
        </p:txBody>
      </p:sp>
      <p:sp>
        <p:nvSpPr>
          <p:cNvPr id="13" name="أين اتفقوا؟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اتفقوا؟</a:t>
            </a:r>
          </a:p>
          <a:p>
            <a:pPr algn="l" rtl="1"/>
            <a:endParaRPr lang="en-US"/>
          </a:p>
        </p:txBody>
      </p:sp>
      <p:sp>
        <p:nvSpPr>
          <p:cNvPr id="14" name="أين اختلفوا؟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اختلفوا؟</a:t>
            </a:r>
          </a:p>
          <a:p>
            <a:pPr algn="l" rtl="1"/>
            <a:endParaRPr lang="en-US"/>
          </a:p>
        </p:txBody>
      </p:sp>
      <p:sp>
        <p:nvSpPr>
          <p:cNvPr id="15" name="صوت من غائب؟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صوت من غائب؟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أرباع تأثير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سياسي"/>
          <p:cNvSpPr/>
          <p:nvPr/>
        </p:nvSpPr>
        <p:spPr>
          <a:xfrm>
            <a:off x="627816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سياسي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853458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9" name="اقتصادي"/>
          <p:cNvSpPr/>
          <p:nvPr/>
        </p:nvSpPr>
        <p:spPr>
          <a:xfrm>
            <a:off x="421035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اقتصادي</a:t>
            </a:r>
          </a:p>
          <a:p>
            <a:pPr algn="l" rtl="1"/>
            <a:endParaRPr lang="en-US"/>
          </a:p>
        </p:txBody>
      </p:sp>
      <p:sp>
        <p:nvSpPr>
          <p:cNvPr id="10" name="اجتماعي / ثقافي"/>
          <p:cNvSpPr/>
          <p:nvPr/>
        </p:nvSpPr>
        <p:spPr>
          <a:xfrm>
            <a:off x="627816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اجتماعي / ثقافي</a:t>
            </a:r>
          </a:p>
          <a:p>
            <a:pPr algn="l" rtl="1"/>
            <a:endParaRPr lang="en-US"/>
          </a:p>
        </p:txBody>
      </p:sp>
      <p:sp>
        <p:nvSpPr>
          <p:cNvPr id="11" name="جغرافي / بيئي"/>
          <p:cNvSpPr/>
          <p:nvPr/>
        </p:nvSpPr>
        <p:spPr>
          <a:xfrm>
            <a:off x="421035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جغرافي / بيئي</a:t>
            </a:r>
          </a:p>
          <a:p>
            <a:pPr algn="l" rtl="1"/>
            <a:endParaRPr lang="en-US"/>
          </a:p>
        </p:txBody>
      </p:sp>
      <p:sp>
        <p:nvSpPr>
          <p:cNvPr id="12" name="فوري"/>
          <p:cNvSpPr/>
          <p:nvPr/>
        </p:nvSpPr>
        <p:spPr>
          <a:xfrm>
            <a:off x="662627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فوري</a:t>
            </a:r>
          </a:p>
          <a:p>
            <a:pPr algn="l" rtl="1"/>
            <a:endParaRPr lang="en-US"/>
          </a:p>
        </p:txBody>
      </p:sp>
      <p:sp>
        <p:nvSpPr>
          <p:cNvPr id="13" name="طويل المدى"/>
          <p:cNvSpPr/>
          <p:nvPr/>
        </p:nvSpPr>
        <p:spPr>
          <a:xfrm>
            <a:off x="352365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طويل المدى</a:t>
            </a:r>
          </a:p>
          <a:p>
            <a:pPr algn="l" rtl="1"/>
            <a:endParaRPr lang="en-US"/>
          </a:p>
        </p:txBody>
      </p:sp>
      <p:sp>
        <p:nvSpPr>
          <p:cNvPr id="14" name="أي أثر كان الأكثر أهمية؟"/>
          <p:cNvSpPr/>
          <p:nvPr/>
        </p:nvSpPr>
        <p:spPr>
          <a:xfrm>
            <a:off x="42103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 أثر كان الأكثر أهمية؟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الاستمرارية والتغيير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بل"/>
          <p:cNvSpPr/>
          <p:nvPr/>
        </p:nvSpPr>
        <p:spPr>
          <a:xfrm>
            <a:off x="6620173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قبل</a:t>
            </a:r>
          </a:p>
          <a:p>
            <a:pPr algn="l" rtl="1"/>
            <a:endParaRPr lang="en-US"/>
          </a:p>
        </p:txBody>
      </p:sp>
      <p:sp>
        <p:nvSpPr>
          <p:cNvPr id="8" name="أثناء"/>
          <p:cNvSpPr/>
          <p:nvPr/>
        </p:nvSpPr>
        <p:spPr>
          <a:xfrm>
            <a:off x="3520529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أثناء</a:t>
            </a:r>
          </a:p>
          <a:p>
            <a:pPr algn="l" rtl="1"/>
            <a:endParaRPr lang="en-US"/>
          </a:p>
        </p:txBody>
      </p:sp>
      <p:sp>
        <p:nvSpPr>
          <p:cNvPr id="9" name="بعد"/>
          <p:cNvSpPr/>
          <p:nvPr/>
        </p:nvSpPr>
        <p:spPr>
          <a:xfrm>
            <a:off x="421035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</a:t>
            </a:r>
          </a:p>
          <a:p>
            <a:pPr algn="l" rtl="1"/>
            <a:endParaRPr lang="en-US"/>
          </a:p>
        </p:txBody>
      </p:sp>
      <p:sp>
        <p:nvSpPr>
          <p:cNvPr id="10" name="تغيّر كثيرًا"/>
          <p:cNvSpPr/>
          <p:nvPr/>
        </p:nvSpPr>
        <p:spPr>
          <a:xfrm>
            <a:off x="6620173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تغيّر كثيرًا</a:t>
            </a:r>
          </a:p>
          <a:p>
            <a:pPr algn="l" rtl="1"/>
            <a:endParaRPr lang="en-US"/>
          </a:p>
        </p:txBody>
      </p:sp>
      <p:sp>
        <p:nvSpPr>
          <p:cNvPr id="11" name="تغيّر تدريجيًا"/>
          <p:cNvSpPr/>
          <p:nvPr/>
        </p:nvSpPr>
        <p:spPr>
          <a:xfrm>
            <a:off x="3520529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تغيّر تدريجيًا</a:t>
            </a:r>
          </a:p>
          <a:p>
            <a:pPr algn="l" rtl="1"/>
            <a:endParaRPr lang="en-US"/>
          </a:p>
        </p:txBody>
      </p:sp>
      <p:sp>
        <p:nvSpPr>
          <p:cNvPr id="12" name="ما الذي بقي كما هو؟"/>
          <p:cNvSpPr/>
          <p:nvPr/>
        </p:nvSpPr>
        <p:spPr>
          <a:xfrm>
            <a:off x="421035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بقي كما هو؟</a:t>
            </a:r>
          </a:p>
          <a:p>
            <a:pPr algn="l" rtl="1"/>
            <a:endParaRPr lang="en-US"/>
          </a:p>
        </p:txBody>
      </p:sp>
      <p:sp>
        <p:nvSpPr>
          <p:cNvPr id="13" name="لماذا؟"/>
          <p:cNvSpPr/>
          <p:nvPr/>
        </p:nvSpPr>
        <p:spPr>
          <a:xfrm>
            <a:off x="5075039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لماذا؟</a:t>
            </a:r>
          </a:p>
          <a:p>
            <a:pPr algn="l" rtl="1"/>
            <a:endParaRPr lang="en-US"/>
          </a:p>
        </p:txBody>
      </p:sp>
      <p:sp>
        <p:nvSpPr>
          <p:cNvPr id="14" name="حكمك"/>
          <p:cNvSpPr/>
          <p:nvPr/>
        </p:nvSpPr>
        <p:spPr>
          <a:xfrm>
            <a:off x="421035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حكمك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ملف الأدلة التاريخية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سؤال التاريخي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السؤال التاريخي</a:t>
            </a:r>
          </a:p>
          <a:p>
            <a:pPr algn="l" rtl="1"/>
            <a:endParaRPr lang="en-US"/>
          </a:p>
        </p:txBody>
      </p:sp>
      <p:sp>
        <p:nvSpPr>
          <p:cNvPr id="8" name="المصدر 1"/>
          <p:cNvSpPr/>
          <p:nvPr/>
        </p:nvSpPr>
        <p:spPr>
          <a:xfrm>
            <a:off x="6614071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المصدر 1</a:t>
            </a:r>
          </a:p>
          <a:p>
            <a:pPr algn="l" rtl="1"/>
            <a:endParaRPr lang="en-US"/>
          </a:p>
        </p:txBody>
      </p:sp>
      <p:sp>
        <p:nvSpPr>
          <p:cNvPr id="9" name="دليل من المصدر 1"/>
          <p:cNvSpPr/>
          <p:nvPr/>
        </p:nvSpPr>
        <p:spPr>
          <a:xfrm>
            <a:off x="6614071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دليل من المصدر 1</a:t>
            </a:r>
          </a:p>
          <a:p>
            <a:pPr algn="l" rtl="1"/>
            <a:endParaRPr lang="en-US"/>
          </a:p>
        </p:txBody>
      </p:sp>
      <p:sp>
        <p:nvSpPr>
          <p:cNvPr id="10" name="الموثوقية / القيود"/>
          <p:cNvSpPr/>
          <p:nvPr/>
        </p:nvSpPr>
        <p:spPr>
          <a:xfrm>
            <a:off x="6614071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الموثوقية / القيود</a:t>
            </a:r>
          </a:p>
          <a:p>
            <a:pPr algn="l" rtl="1"/>
            <a:endParaRPr lang="en-US"/>
          </a:p>
        </p:txBody>
      </p:sp>
      <p:sp>
        <p:nvSpPr>
          <p:cNvPr id="11" name="المصدر 2"/>
          <p:cNvSpPr/>
          <p:nvPr/>
        </p:nvSpPr>
        <p:spPr>
          <a:xfrm>
            <a:off x="3517553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المصدر 2</a:t>
            </a:r>
          </a:p>
          <a:p>
            <a:pPr algn="l" rtl="1"/>
            <a:endParaRPr lang="en-US"/>
          </a:p>
        </p:txBody>
      </p:sp>
      <p:sp>
        <p:nvSpPr>
          <p:cNvPr id="12" name="دليل من المصدر 2"/>
          <p:cNvSpPr/>
          <p:nvPr/>
        </p:nvSpPr>
        <p:spPr>
          <a:xfrm>
            <a:off x="3517553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دليل من المصدر 2</a:t>
            </a:r>
          </a:p>
          <a:p>
            <a:pPr algn="l" rtl="1"/>
            <a:endParaRPr lang="en-US"/>
          </a:p>
        </p:txBody>
      </p:sp>
      <p:sp>
        <p:nvSpPr>
          <p:cNvPr id="13" name="الموثوقية / القيود"/>
          <p:cNvSpPr/>
          <p:nvPr/>
        </p:nvSpPr>
        <p:spPr>
          <a:xfrm>
            <a:off x="3517553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الموثوقية / القيود</a:t>
            </a:r>
          </a:p>
          <a:p>
            <a:pPr algn="l" rtl="1"/>
            <a:endParaRPr lang="en-US"/>
          </a:p>
        </p:txBody>
      </p:sp>
      <p:sp>
        <p:nvSpPr>
          <p:cNvPr id="14" name="المصدر 3"/>
          <p:cNvSpPr/>
          <p:nvPr/>
        </p:nvSpPr>
        <p:spPr>
          <a:xfrm>
            <a:off x="420886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المصدر 3</a:t>
            </a:r>
          </a:p>
          <a:p>
            <a:pPr algn="l" rtl="1"/>
            <a:endParaRPr lang="en-US"/>
          </a:p>
        </p:txBody>
      </p:sp>
      <p:sp>
        <p:nvSpPr>
          <p:cNvPr id="15" name="دليل من المصدر 3"/>
          <p:cNvSpPr/>
          <p:nvPr/>
        </p:nvSpPr>
        <p:spPr>
          <a:xfrm>
            <a:off x="420886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دليل من المصدر 3</a:t>
            </a:r>
          </a:p>
          <a:p>
            <a:pPr algn="l" rtl="1"/>
            <a:endParaRPr lang="en-US"/>
          </a:p>
        </p:txBody>
      </p:sp>
      <p:sp>
        <p:nvSpPr>
          <p:cNvPr id="16" name="الموثوقية / القيود"/>
          <p:cNvSpPr/>
          <p:nvPr/>
        </p:nvSpPr>
        <p:spPr>
          <a:xfrm>
            <a:off x="420886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الموثوقية / القيود</a:t>
            </a:r>
          </a:p>
          <a:p>
            <a:pPr algn="l" rtl="1"/>
            <a:endParaRPr lang="en-US"/>
          </a:p>
        </p:txBody>
      </p:sp>
      <p:sp>
        <p:nvSpPr>
          <p:cNvPr id="17" name="أدلة متعارضة / مفقودة"/>
          <p:cNvSpPr/>
          <p:nvPr/>
        </p:nvSpPr>
        <p:spPr>
          <a:xfrm>
            <a:off x="6614071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أدلة متعارضة / مفقودة</a:t>
            </a:r>
          </a:p>
          <a:p>
            <a:pPr algn="l" rtl="1"/>
            <a:endParaRPr lang="en-US"/>
          </a:p>
        </p:txBody>
      </p:sp>
      <p:sp>
        <p:nvSpPr>
          <p:cNvPr id="18" name="استنتاج أولي"/>
          <p:cNvSpPr/>
          <p:nvPr/>
        </p:nvSpPr>
        <p:spPr>
          <a:xfrm>
            <a:off x="420886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استنتاج أولي</a:t>
            </a:r>
          </a:p>
          <a:p>
            <a:pPr algn="l" rtl="1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مقارنة حدثين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حدث أ"/>
          <p:cNvSpPr/>
          <p:nvPr/>
        </p:nvSpPr>
        <p:spPr>
          <a:xfrm>
            <a:off x="6398121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الحدث أ</a:t>
            </a:r>
          </a:p>
          <a:p>
            <a:pPr algn="l" rtl="1"/>
            <a:endParaRPr lang="en-US"/>
          </a:p>
        </p:txBody>
      </p:sp>
      <p:sp>
        <p:nvSpPr>
          <p:cNvPr id="8" name="الحدث ب"/>
          <p:cNvSpPr/>
          <p:nvPr/>
        </p:nvSpPr>
        <p:spPr>
          <a:xfrm>
            <a:off x="420886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الحدث ب</a:t>
            </a:r>
          </a:p>
          <a:p>
            <a:pPr algn="l" rtl="1"/>
            <a:endParaRPr lang="en-US"/>
          </a:p>
        </p:txBody>
      </p:sp>
      <p:sp>
        <p:nvSpPr>
          <p:cNvPr id="9" name="ما الذي سببه؟"/>
          <p:cNvSpPr/>
          <p:nvPr/>
        </p:nvSpPr>
        <p:spPr>
          <a:xfrm>
            <a:off x="6398121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ما الذي سببه؟</a:t>
            </a:r>
          </a:p>
          <a:p>
            <a:pPr algn="l" rtl="1"/>
            <a:endParaRPr lang="en-US"/>
          </a:p>
        </p:txBody>
      </p:sp>
      <p:sp>
        <p:nvSpPr>
          <p:cNvPr id="10" name="أشخاص / مجموعات رئيسية"/>
          <p:cNvSpPr/>
          <p:nvPr/>
        </p:nvSpPr>
        <p:spPr>
          <a:xfrm>
            <a:off x="6398121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أشخاص / مجموعات رئيسية</a:t>
            </a:r>
          </a:p>
          <a:p>
            <a:pPr algn="l" rtl="1"/>
            <a:endParaRPr lang="en-US"/>
          </a:p>
        </p:txBody>
      </p:sp>
      <p:sp>
        <p:nvSpPr>
          <p:cNvPr id="11" name="أوجه التشابه"/>
          <p:cNvSpPr/>
          <p:nvPr/>
        </p:nvSpPr>
        <p:spPr>
          <a:xfrm>
            <a:off x="3733502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أوجه التشابه</a:t>
            </a:r>
          </a:p>
          <a:p>
            <a:pPr algn="l" rtl="1"/>
            <a:endParaRPr lang="en-US"/>
          </a:p>
        </p:txBody>
      </p:sp>
      <p:sp>
        <p:nvSpPr>
          <p:cNvPr id="12" name="أوجه الاختلاف"/>
          <p:cNvSpPr/>
          <p:nvPr/>
        </p:nvSpPr>
        <p:spPr>
          <a:xfrm>
            <a:off x="3733502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أوجه الاختلاف</a:t>
            </a:r>
          </a:p>
          <a:p>
            <a:pPr algn="l" rtl="1"/>
            <a:endParaRPr lang="en-US"/>
          </a:p>
        </p:txBody>
      </p:sp>
      <p:sp>
        <p:nvSpPr>
          <p:cNvPr id="13" name="ما الذي سببه؟"/>
          <p:cNvSpPr/>
          <p:nvPr/>
        </p:nvSpPr>
        <p:spPr>
          <a:xfrm>
            <a:off x="420886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ما الذي سببه؟</a:t>
            </a:r>
          </a:p>
          <a:p>
            <a:pPr algn="l" rtl="1"/>
            <a:endParaRPr lang="en-US"/>
          </a:p>
        </p:txBody>
      </p:sp>
      <p:sp>
        <p:nvSpPr>
          <p:cNvPr id="14" name="أشخاص / مجموعات رئيسية"/>
          <p:cNvSpPr/>
          <p:nvPr/>
        </p:nvSpPr>
        <p:spPr>
          <a:xfrm>
            <a:off x="420886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أشخاص / مجموعات رئيسية</a:t>
            </a:r>
          </a:p>
          <a:p>
            <a:pPr algn="l" rtl="1"/>
            <a:endParaRPr lang="en-US"/>
          </a:p>
        </p:txBody>
      </p:sp>
      <p:sp>
        <p:nvSpPr>
          <p:cNvPr id="15" name="النتائج"/>
          <p:cNvSpPr/>
          <p:nvPr/>
        </p:nvSpPr>
        <p:spPr>
          <a:xfrm>
            <a:off x="6398121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النتائج</a:t>
            </a:r>
          </a:p>
          <a:p>
            <a:pPr algn="l" rtl="1"/>
            <a:endParaRPr lang="en-US"/>
          </a:p>
        </p:txBody>
      </p:sp>
      <p:sp>
        <p:nvSpPr>
          <p:cNvPr id="16" name="الأهمية التاريخية"/>
          <p:cNvSpPr/>
          <p:nvPr/>
        </p:nvSpPr>
        <p:spPr>
          <a:xfrm>
            <a:off x="6398121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الأهمية التاريخية</a:t>
            </a:r>
          </a:p>
          <a:p>
            <a:pPr algn="l" rtl="1"/>
            <a:endParaRPr lang="en-US"/>
          </a:p>
        </p:txBody>
      </p:sp>
      <p:sp>
        <p:nvSpPr>
          <p:cNvPr id="17" name="أي مقارنة هي الأهم؟"/>
          <p:cNvSpPr/>
          <p:nvPr/>
        </p:nvSpPr>
        <p:spPr>
          <a:xfrm>
            <a:off x="3733502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أي مقارنة هي الأهم؟</a:t>
            </a:r>
          </a:p>
          <a:p>
            <a:pPr algn="l" rtl="1"/>
            <a:endParaRPr lang="en-US"/>
          </a:p>
        </p:txBody>
      </p:sp>
      <p:sp>
        <p:nvSpPr>
          <p:cNvPr id="18" name="النتائج"/>
          <p:cNvSpPr/>
          <p:nvPr/>
        </p:nvSpPr>
        <p:spPr>
          <a:xfrm>
            <a:off x="420886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النتائج</a:t>
            </a:r>
          </a:p>
          <a:p>
            <a:pPr algn="l" rtl="1"/>
            <a:endParaRPr lang="en-US"/>
          </a:p>
        </p:txBody>
      </p:sp>
      <p:sp>
        <p:nvSpPr>
          <p:cNvPr id="19" name="الأهمية التاريخية"/>
          <p:cNvSpPr/>
          <p:nvPr/>
        </p:nvSpPr>
        <p:spPr>
          <a:xfrm>
            <a:off x="420886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الأهمية التاريخية</a:t>
            </a:r>
          </a:p>
          <a:p>
            <a:pPr algn="l" rtl="1"/>
            <a:endParaRPr lang="en-US"/>
          </a:p>
        </p:txBody>
      </p:sp>
      <p:sp>
        <p:nvSpPr>
          <p:cNvPr id="20" name="الدليل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الدليل</a:t>
            </a:r>
          </a:p>
          <a:p>
            <a:pPr algn="l" rtl="1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24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خرائط الأحداث التاريخية</dc:title>
  <dc:creator>TCEA / Miguel Guhlin</dc:creator>
  <cp:lastModifiedBy>TCEA</cp:lastModifiedBy>
</cp:coreProperties>
</file>